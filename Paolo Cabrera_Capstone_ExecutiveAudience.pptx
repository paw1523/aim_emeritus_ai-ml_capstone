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45" d="100"/>
          <a:sy n="145" d="100"/>
        </p:scale>
        <p:origin x="872"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2064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5669280" cy="5143500"/>
          </a:xfrm>
          <a:prstGeom prst="rect">
            <a:avLst/>
          </a:prstGeom>
          <a:solidFill>
            <a:srgbClr val="1C7293"/>
          </a:solidFill>
          <a:ln w="12700">
            <a:solidFill>
              <a:srgbClr val="1C7293"/>
            </a:solidFill>
            <a:prstDash val="solid"/>
          </a:ln>
        </p:spPr>
        <p:txBody>
          <a:bodyPr/>
          <a:lstStyle/>
          <a:p>
            <a:endParaRPr lang="en-US"/>
          </a:p>
        </p:txBody>
      </p:sp>
      <p:sp>
        <p:nvSpPr>
          <p:cNvPr id="3" name="Shape 1"/>
          <p:cNvSpPr/>
          <p:nvPr/>
        </p:nvSpPr>
        <p:spPr>
          <a:xfrm>
            <a:off x="5394960" y="0"/>
            <a:ext cx="164592" cy="514350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411480" y="914400"/>
            <a:ext cx="48006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Credit Card</a:t>
            </a:r>
            <a:endParaRPr lang="en-US" sz="4400" dirty="0"/>
          </a:p>
        </p:txBody>
      </p:sp>
      <p:sp>
        <p:nvSpPr>
          <p:cNvPr id="5" name="Text 3"/>
          <p:cNvSpPr/>
          <p:nvPr/>
        </p:nvSpPr>
        <p:spPr>
          <a:xfrm>
            <a:off x="411480" y="1691640"/>
            <a:ext cx="48006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Fraud Detection</a:t>
            </a:r>
            <a:endParaRPr lang="en-US" sz="4400" dirty="0"/>
          </a:p>
        </p:txBody>
      </p:sp>
      <p:sp>
        <p:nvSpPr>
          <p:cNvPr id="6" name="Shape 4"/>
          <p:cNvSpPr/>
          <p:nvPr/>
        </p:nvSpPr>
        <p:spPr>
          <a:xfrm>
            <a:off x="411480" y="2606040"/>
            <a:ext cx="4389120" cy="0"/>
          </a:xfrm>
          <a:prstGeom prst="line">
            <a:avLst/>
          </a:prstGeom>
          <a:noFill/>
          <a:ln w="19050">
            <a:solidFill>
              <a:srgbClr val="FFFFFF">
                <a:alpha val="60000"/>
              </a:srgbClr>
            </a:solidFill>
            <a:prstDash val="solid"/>
          </a:ln>
        </p:spPr>
        <p:txBody>
          <a:bodyPr/>
          <a:lstStyle/>
          <a:p>
            <a:endParaRPr lang="en-US"/>
          </a:p>
        </p:txBody>
      </p:sp>
      <p:sp>
        <p:nvSpPr>
          <p:cNvPr id="7" name="Text 5"/>
          <p:cNvSpPr/>
          <p:nvPr/>
        </p:nvSpPr>
        <p:spPr>
          <a:xfrm>
            <a:off x="411480" y="2715768"/>
            <a:ext cx="4800600" cy="320040"/>
          </a:xfrm>
          <a:prstGeom prst="rect">
            <a:avLst/>
          </a:prstGeom>
          <a:noFill/>
          <a:ln/>
        </p:spPr>
        <p:txBody>
          <a:bodyPr wrap="square" lIns="0" tIns="0" rIns="0" bIns="0" rtlCol="0" anchor="ctr"/>
          <a:lstStyle/>
          <a:p>
            <a:pPr marL="0" indent="0" algn="l">
              <a:buNone/>
            </a:pPr>
            <a:r>
              <a:rPr lang="en-US" sz="1300" i="1" dirty="0">
                <a:solidFill>
                  <a:srgbClr val="FFFFFF">
                    <a:alpha val="80000"/>
                  </a:srgbClr>
                </a:solidFill>
              </a:rPr>
              <a:t>Executive Briefing  ·  Strategic &amp; Financial Overview</a:t>
            </a:r>
            <a:endParaRPr lang="en-US" sz="1300" dirty="0"/>
          </a:p>
        </p:txBody>
      </p:sp>
      <p:sp>
        <p:nvSpPr>
          <p:cNvPr id="8" name="Shape 6"/>
          <p:cNvSpPr/>
          <p:nvPr/>
        </p:nvSpPr>
        <p:spPr>
          <a:xfrm>
            <a:off x="411480" y="3218688"/>
            <a:ext cx="1115568" cy="256032"/>
          </a:xfrm>
          <a:prstGeom prst="rect">
            <a:avLst/>
          </a:prstGeom>
          <a:solidFill>
            <a:srgbClr val="FFFFFF">
              <a:alpha val="22000"/>
            </a:srgbClr>
          </a:solidFill>
          <a:ln w="9525">
            <a:solidFill>
              <a:srgbClr val="FFFFFF">
                <a:alpha val="50000"/>
              </a:srgbClr>
            </a:solidFill>
            <a:prstDash val="solid"/>
          </a:ln>
        </p:spPr>
        <p:txBody>
          <a:bodyPr/>
          <a:lstStyle/>
          <a:p>
            <a:endParaRPr lang="en-US"/>
          </a:p>
        </p:txBody>
      </p:sp>
      <p:sp>
        <p:nvSpPr>
          <p:cNvPr id="9" name="Text 7"/>
          <p:cNvSpPr/>
          <p:nvPr/>
        </p:nvSpPr>
        <p:spPr>
          <a:xfrm>
            <a:off x="411480" y="3218688"/>
            <a:ext cx="1115568" cy="256032"/>
          </a:xfrm>
          <a:prstGeom prst="rect">
            <a:avLst/>
          </a:prstGeom>
          <a:noFill/>
          <a:ln/>
        </p:spPr>
        <p:txBody>
          <a:bodyPr wrap="square" lIns="0" tIns="0" rIns="0" bIns="0" rtlCol="0" anchor="ctr"/>
          <a:lstStyle/>
          <a:p>
            <a:pPr marL="0" indent="0" algn="ctr">
              <a:buNone/>
            </a:pPr>
            <a:r>
              <a:rPr lang="en-US" sz="750" dirty="0">
                <a:solidFill>
                  <a:srgbClr val="FFFFFF"/>
                </a:solidFill>
              </a:rPr>
              <a:t>Stop Fraud</a:t>
            </a:r>
            <a:endParaRPr lang="en-US" sz="750" dirty="0"/>
          </a:p>
        </p:txBody>
      </p:sp>
      <p:sp>
        <p:nvSpPr>
          <p:cNvPr id="10" name="Shape 8"/>
          <p:cNvSpPr/>
          <p:nvPr/>
        </p:nvSpPr>
        <p:spPr>
          <a:xfrm>
            <a:off x="1618488" y="3218688"/>
            <a:ext cx="1115568" cy="256032"/>
          </a:xfrm>
          <a:prstGeom prst="rect">
            <a:avLst/>
          </a:prstGeom>
          <a:solidFill>
            <a:srgbClr val="FFFFFF">
              <a:alpha val="22000"/>
            </a:srgbClr>
          </a:solidFill>
          <a:ln w="9525">
            <a:solidFill>
              <a:srgbClr val="FFFFFF">
                <a:alpha val="50000"/>
              </a:srgbClr>
            </a:solidFill>
            <a:prstDash val="solid"/>
          </a:ln>
        </p:spPr>
        <p:txBody>
          <a:bodyPr/>
          <a:lstStyle/>
          <a:p>
            <a:endParaRPr lang="en-US"/>
          </a:p>
        </p:txBody>
      </p:sp>
      <p:sp>
        <p:nvSpPr>
          <p:cNvPr id="11" name="Text 9"/>
          <p:cNvSpPr/>
          <p:nvPr/>
        </p:nvSpPr>
        <p:spPr>
          <a:xfrm>
            <a:off x="1618488" y="3218688"/>
            <a:ext cx="1115568" cy="256032"/>
          </a:xfrm>
          <a:prstGeom prst="rect">
            <a:avLst/>
          </a:prstGeom>
          <a:noFill/>
          <a:ln/>
        </p:spPr>
        <p:txBody>
          <a:bodyPr wrap="square" lIns="0" tIns="0" rIns="0" bIns="0" rtlCol="0" anchor="ctr"/>
          <a:lstStyle/>
          <a:p>
            <a:pPr marL="0" indent="0" algn="ctr">
              <a:buNone/>
            </a:pPr>
            <a:r>
              <a:rPr lang="en-US" sz="750" dirty="0">
                <a:solidFill>
                  <a:srgbClr val="FFFFFF"/>
                </a:solidFill>
              </a:rPr>
              <a:t>Protect Revenue</a:t>
            </a:r>
            <a:endParaRPr lang="en-US" sz="750" dirty="0"/>
          </a:p>
        </p:txBody>
      </p:sp>
      <p:sp>
        <p:nvSpPr>
          <p:cNvPr id="12" name="Shape 10"/>
          <p:cNvSpPr/>
          <p:nvPr/>
        </p:nvSpPr>
        <p:spPr>
          <a:xfrm>
            <a:off x="2825496" y="3218688"/>
            <a:ext cx="1115568" cy="256032"/>
          </a:xfrm>
          <a:prstGeom prst="rect">
            <a:avLst/>
          </a:prstGeom>
          <a:solidFill>
            <a:srgbClr val="FFFFFF">
              <a:alpha val="22000"/>
            </a:srgbClr>
          </a:solidFill>
          <a:ln w="9525">
            <a:solidFill>
              <a:srgbClr val="FFFFFF">
                <a:alpha val="50000"/>
              </a:srgbClr>
            </a:solidFill>
            <a:prstDash val="solid"/>
          </a:ln>
        </p:spPr>
        <p:txBody>
          <a:bodyPr/>
          <a:lstStyle/>
          <a:p>
            <a:endParaRPr lang="en-US"/>
          </a:p>
        </p:txBody>
      </p:sp>
      <p:sp>
        <p:nvSpPr>
          <p:cNvPr id="13" name="Text 11"/>
          <p:cNvSpPr/>
          <p:nvPr/>
        </p:nvSpPr>
        <p:spPr>
          <a:xfrm>
            <a:off x="2825496" y="3218688"/>
            <a:ext cx="1115568" cy="256032"/>
          </a:xfrm>
          <a:prstGeom prst="rect">
            <a:avLst/>
          </a:prstGeom>
          <a:noFill/>
          <a:ln/>
        </p:spPr>
        <p:txBody>
          <a:bodyPr wrap="square" lIns="0" tIns="0" rIns="0" bIns="0" rtlCol="0" anchor="ctr"/>
          <a:lstStyle/>
          <a:p>
            <a:pPr marL="0" indent="0" algn="ctr">
              <a:buNone/>
            </a:pPr>
            <a:r>
              <a:rPr lang="en-US" sz="750" dirty="0">
                <a:solidFill>
                  <a:srgbClr val="FFFFFF"/>
                </a:solidFill>
              </a:rPr>
              <a:t>ML-Powered</a:t>
            </a:r>
            <a:endParaRPr lang="en-US" sz="750" dirty="0"/>
          </a:p>
        </p:txBody>
      </p:sp>
      <p:sp>
        <p:nvSpPr>
          <p:cNvPr id="14" name="Shape 12"/>
          <p:cNvSpPr/>
          <p:nvPr/>
        </p:nvSpPr>
        <p:spPr>
          <a:xfrm>
            <a:off x="4032504" y="3218688"/>
            <a:ext cx="1115568" cy="256032"/>
          </a:xfrm>
          <a:prstGeom prst="rect">
            <a:avLst/>
          </a:prstGeom>
          <a:solidFill>
            <a:srgbClr val="FFFFFF">
              <a:alpha val="22000"/>
            </a:srgbClr>
          </a:solidFill>
          <a:ln w="9525">
            <a:solidFill>
              <a:srgbClr val="FFFFFF">
                <a:alpha val="50000"/>
              </a:srgbClr>
            </a:solidFill>
            <a:prstDash val="solid"/>
          </a:ln>
        </p:spPr>
        <p:txBody>
          <a:bodyPr/>
          <a:lstStyle/>
          <a:p>
            <a:endParaRPr lang="en-US"/>
          </a:p>
        </p:txBody>
      </p:sp>
      <p:sp>
        <p:nvSpPr>
          <p:cNvPr id="15" name="Text 13"/>
          <p:cNvSpPr/>
          <p:nvPr/>
        </p:nvSpPr>
        <p:spPr>
          <a:xfrm>
            <a:off x="4032504" y="3218688"/>
            <a:ext cx="1115568" cy="256032"/>
          </a:xfrm>
          <a:prstGeom prst="rect">
            <a:avLst/>
          </a:prstGeom>
          <a:noFill/>
          <a:ln/>
        </p:spPr>
        <p:txBody>
          <a:bodyPr wrap="square" lIns="0" tIns="0" rIns="0" bIns="0" rtlCol="0" anchor="ctr"/>
          <a:lstStyle/>
          <a:p>
            <a:pPr marL="0" indent="0" algn="ctr">
              <a:buNone/>
            </a:pPr>
            <a:r>
              <a:rPr lang="en-US" sz="750" dirty="0">
                <a:solidFill>
                  <a:srgbClr val="FFFFFF"/>
                </a:solidFill>
              </a:rPr>
              <a:t>Actionable</a:t>
            </a:r>
            <a:endParaRPr lang="en-US" sz="750" dirty="0"/>
          </a:p>
        </p:txBody>
      </p:sp>
      <p:sp>
        <p:nvSpPr>
          <p:cNvPr id="17" name="Shape 15"/>
          <p:cNvSpPr/>
          <p:nvPr/>
        </p:nvSpPr>
        <p:spPr>
          <a:xfrm>
            <a:off x="5833872" y="365760"/>
            <a:ext cx="3108960" cy="2011680"/>
          </a:xfrm>
          <a:prstGeom prst="rect">
            <a:avLst/>
          </a:prstGeom>
          <a:solidFill>
            <a:srgbClr val="112233"/>
          </a:solidFill>
          <a:ln w="12700">
            <a:solidFill>
              <a:srgbClr val="112233"/>
            </a:solidFill>
            <a:prstDash val="solid"/>
          </a:ln>
        </p:spPr>
        <p:txBody>
          <a:bodyPr/>
          <a:lstStyle/>
          <a:p>
            <a:endParaRPr lang="en-US"/>
          </a:p>
        </p:txBody>
      </p:sp>
      <p:sp>
        <p:nvSpPr>
          <p:cNvPr id="18" name="Shape 16"/>
          <p:cNvSpPr/>
          <p:nvPr/>
        </p:nvSpPr>
        <p:spPr>
          <a:xfrm>
            <a:off x="5833872" y="2560320"/>
            <a:ext cx="3108960" cy="2194560"/>
          </a:xfrm>
          <a:prstGeom prst="rect">
            <a:avLst/>
          </a:prstGeom>
          <a:solidFill>
            <a:srgbClr val="0A1625"/>
          </a:solidFill>
          <a:ln w="12700">
            <a:solidFill>
              <a:srgbClr val="0A1625"/>
            </a:solidFill>
            <a:prstDash val="solid"/>
          </a:ln>
        </p:spPr>
        <p:txBody>
          <a:bodyPr/>
          <a:lstStyle/>
          <a:p>
            <a:endParaRPr lang="en-US"/>
          </a:p>
        </p:txBody>
      </p:sp>
      <p:sp>
        <p:nvSpPr>
          <p:cNvPr id="19" name="Text 17"/>
          <p:cNvSpPr/>
          <p:nvPr/>
        </p:nvSpPr>
        <p:spPr>
          <a:xfrm>
            <a:off x="5989320" y="502920"/>
            <a:ext cx="2834640" cy="256032"/>
          </a:xfrm>
          <a:prstGeom prst="rect">
            <a:avLst/>
          </a:prstGeom>
          <a:noFill/>
          <a:ln/>
        </p:spPr>
        <p:txBody>
          <a:bodyPr wrap="square" lIns="0" tIns="0" rIns="0" bIns="0" rtlCol="0" anchor="ctr"/>
          <a:lstStyle/>
          <a:p>
            <a:pPr marL="0" indent="0">
              <a:buNone/>
            </a:pPr>
            <a:r>
              <a:rPr lang="en-US" sz="850" b="1" kern="0" spc="300" dirty="0">
                <a:solidFill>
                  <a:srgbClr val="2A9FC4"/>
                </a:solidFill>
              </a:rPr>
              <a:t>AGENDA</a:t>
            </a:r>
            <a:endParaRPr lang="en-US" sz="850" dirty="0"/>
          </a:p>
        </p:txBody>
      </p:sp>
      <p:sp>
        <p:nvSpPr>
          <p:cNvPr id="20" name="Shape 18"/>
          <p:cNvSpPr/>
          <p:nvPr/>
        </p:nvSpPr>
        <p:spPr>
          <a:xfrm>
            <a:off x="5989320" y="877824"/>
            <a:ext cx="292608" cy="292608"/>
          </a:xfrm>
          <a:prstGeom prst="ellipse">
            <a:avLst/>
          </a:prstGeom>
          <a:solidFill>
            <a:srgbClr val="1C7293"/>
          </a:solidFill>
          <a:ln w="12700">
            <a:solidFill>
              <a:srgbClr val="1C7293"/>
            </a:solidFill>
            <a:prstDash val="solid"/>
          </a:ln>
        </p:spPr>
        <p:txBody>
          <a:bodyPr/>
          <a:lstStyle/>
          <a:p>
            <a:endParaRPr lang="en-US"/>
          </a:p>
        </p:txBody>
      </p:sp>
      <p:sp>
        <p:nvSpPr>
          <p:cNvPr id="21" name="Text 19"/>
          <p:cNvSpPr/>
          <p:nvPr/>
        </p:nvSpPr>
        <p:spPr>
          <a:xfrm>
            <a:off x="5989320" y="877824"/>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rPr>
              <a:t>01</a:t>
            </a:r>
            <a:endParaRPr lang="en-US" sz="800" dirty="0"/>
          </a:p>
        </p:txBody>
      </p:sp>
      <p:sp>
        <p:nvSpPr>
          <p:cNvPr id="22" name="Text 20"/>
          <p:cNvSpPr/>
          <p:nvPr/>
        </p:nvSpPr>
        <p:spPr>
          <a:xfrm>
            <a:off x="6373368" y="886968"/>
            <a:ext cx="2487168" cy="274320"/>
          </a:xfrm>
          <a:prstGeom prst="rect">
            <a:avLst/>
          </a:prstGeom>
          <a:noFill/>
          <a:ln/>
        </p:spPr>
        <p:txBody>
          <a:bodyPr wrap="square" lIns="0" tIns="0" rIns="0" bIns="0" rtlCol="0" anchor="ctr"/>
          <a:lstStyle/>
          <a:p>
            <a:pPr marL="0" indent="0">
              <a:buNone/>
            </a:pPr>
            <a:r>
              <a:rPr lang="en-US" sz="950" dirty="0">
                <a:solidFill>
                  <a:srgbClr val="E8EEF4"/>
                </a:solidFill>
              </a:rPr>
              <a:t>The Business Problem</a:t>
            </a:r>
            <a:endParaRPr lang="en-US" sz="950" dirty="0"/>
          </a:p>
        </p:txBody>
      </p:sp>
      <p:sp>
        <p:nvSpPr>
          <p:cNvPr id="23" name="Shape 21"/>
          <p:cNvSpPr/>
          <p:nvPr/>
        </p:nvSpPr>
        <p:spPr>
          <a:xfrm>
            <a:off x="5989320" y="1225296"/>
            <a:ext cx="2834640" cy="0"/>
          </a:xfrm>
          <a:prstGeom prst="line">
            <a:avLst/>
          </a:prstGeom>
          <a:noFill/>
          <a:ln w="9525">
            <a:solidFill>
              <a:srgbClr val="112233"/>
            </a:solidFill>
            <a:prstDash val="solid"/>
          </a:ln>
        </p:spPr>
        <p:txBody>
          <a:bodyPr/>
          <a:lstStyle/>
          <a:p>
            <a:endParaRPr lang="en-US"/>
          </a:p>
        </p:txBody>
      </p:sp>
      <p:sp>
        <p:nvSpPr>
          <p:cNvPr id="24" name="Shape 22"/>
          <p:cNvSpPr/>
          <p:nvPr/>
        </p:nvSpPr>
        <p:spPr>
          <a:xfrm>
            <a:off x="5989320" y="1426464"/>
            <a:ext cx="292608" cy="292608"/>
          </a:xfrm>
          <a:prstGeom prst="ellipse">
            <a:avLst/>
          </a:prstGeom>
          <a:solidFill>
            <a:srgbClr val="1C7293"/>
          </a:solidFill>
          <a:ln w="12700">
            <a:solidFill>
              <a:srgbClr val="1C7293"/>
            </a:solidFill>
            <a:prstDash val="solid"/>
          </a:ln>
        </p:spPr>
        <p:txBody>
          <a:bodyPr/>
          <a:lstStyle/>
          <a:p>
            <a:endParaRPr lang="en-US"/>
          </a:p>
        </p:txBody>
      </p:sp>
      <p:sp>
        <p:nvSpPr>
          <p:cNvPr id="25" name="Text 23"/>
          <p:cNvSpPr/>
          <p:nvPr/>
        </p:nvSpPr>
        <p:spPr>
          <a:xfrm>
            <a:off x="5989320" y="1426464"/>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rPr>
              <a:t>02</a:t>
            </a:r>
            <a:endParaRPr lang="en-US" sz="800" dirty="0"/>
          </a:p>
        </p:txBody>
      </p:sp>
      <p:sp>
        <p:nvSpPr>
          <p:cNvPr id="26" name="Text 24"/>
          <p:cNvSpPr/>
          <p:nvPr/>
        </p:nvSpPr>
        <p:spPr>
          <a:xfrm>
            <a:off x="6373368" y="1435608"/>
            <a:ext cx="2487168" cy="274320"/>
          </a:xfrm>
          <a:prstGeom prst="rect">
            <a:avLst/>
          </a:prstGeom>
          <a:noFill/>
          <a:ln/>
        </p:spPr>
        <p:txBody>
          <a:bodyPr wrap="square" lIns="0" tIns="0" rIns="0" bIns="0" rtlCol="0" anchor="ctr"/>
          <a:lstStyle/>
          <a:p>
            <a:pPr marL="0" indent="0">
              <a:buNone/>
            </a:pPr>
            <a:r>
              <a:rPr lang="en-US" sz="950" dirty="0">
                <a:solidFill>
                  <a:srgbClr val="E8EEF4"/>
                </a:solidFill>
              </a:rPr>
              <a:t>Our Approach</a:t>
            </a:r>
            <a:endParaRPr lang="en-US" sz="950" dirty="0"/>
          </a:p>
        </p:txBody>
      </p:sp>
      <p:sp>
        <p:nvSpPr>
          <p:cNvPr id="27" name="Shape 25"/>
          <p:cNvSpPr/>
          <p:nvPr/>
        </p:nvSpPr>
        <p:spPr>
          <a:xfrm>
            <a:off x="5989320" y="1773936"/>
            <a:ext cx="2834640" cy="0"/>
          </a:xfrm>
          <a:prstGeom prst="line">
            <a:avLst/>
          </a:prstGeom>
          <a:noFill/>
          <a:ln w="9525">
            <a:solidFill>
              <a:srgbClr val="112233"/>
            </a:solidFill>
            <a:prstDash val="solid"/>
          </a:ln>
        </p:spPr>
        <p:txBody>
          <a:bodyPr/>
          <a:lstStyle/>
          <a:p>
            <a:endParaRPr lang="en-US"/>
          </a:p>
        </p:txBody>
      </p:sp>
      <p:sp>
        <p:nvSpPr>
          <p:cNvPr id="28" name="Shape 26"/>
          <p:cNvSpPr/>
          <p:nvPr/>
        </p:nvSpPr>
        <p:spPr>
          <a:xfrm>
            <a:off x="5989320" y="1975104"/>
            <a:ext cx="292608" cy="292608"/>
          </a:xfrm>
          <a:prstGeom prst="ellipse">
            <a:avLst/>
          </a:prstGeom>
          <a:solidFill>
            <a:srgbClr val="1C7293"/>
          </a:solidFill>
          <a:ln w="12700">
            <a:solidFill>
              <a:srgbClr val="1C7293"/>
            </a:solidFill>
            <a:prstDash val="solid"/>
          </a:ln>
        </p:spPr>
        <p:txBody>
          <a:bodyPr/>
          <a:lstStyle/>
          <a:p>
            <a:endParaRPr lang="en-US"/>
          </a:p>
        </p:txBody>
      </p:sp>
      <p:sp>
        <p:nvSpPr>
          <p:cNvPr id="29" name="Text 27"/>
          <p:cNvSpPr/>
          <p:nvPr/>
        </p:nvSpPr>
        <p:spPr>
          <a:xfrm>
            <a:off x="5989320" y="1975104"/>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rPr>
              <a:t>03</a:t>
            </a:r>
            <a:endParaRPr lang="en-US" sz="800" dirty="0"/>
          </a:p>
        </p:txBody>
      </p:sp>
      <p:sp>
        <p:nvSpPr>
          <p:cNvPr id="30" name="Text 28"/>
          <p:cNvSpPr/>
          <p:nvPr/>
        </p:nvSpPr>
        <p:spPr>
          <a:xfrm>
            <a:off x="6373368" y="1984248"/>
            <a:ext cx="2487168" cy="274320"/>
          </a:xfrm>
          <a:prstGeom prst="rect">
            <a:avLst/>
          </a:prstGeom>
          <a:noFill/>
          <a:ln/>
        </p:spPr>
        <p:txBody>
          <a:bodyPr wrap="square" lIns="0" tIns="0" rIns="0" bIns="0" rtlCol="0" anchor="ctr"/>
          <a:lstStyle/>
          <a:p>
            <a:pPr marL="0" indent="0">
              <a:buNone/>
            </a:pPr>
            <a:r>
              <a:rPr lang="en-US" sz="950" dirty="0">
                <a:solidFill>
                  <a:srgbClr val="E8EEF4"/>
                </a:solidFill>
              </a:rPr>
              <a:t>Key Findings</a:t>
            </a:r>
            <a:endParaRPr lang="en-US" sz="950" dirty="0"/>
          </a:p>
        </p:txBody>
      </p:sp>
      <p:sp>
        <p:nvSpPr>
          <p:cNvPr id="31" name="Shape 29"/>
          <p:cNvSpPr/>
          <p:nvPr/>
        </p:nvSpPr>
        <p:spPr>
          <a:xfrm>
            <a:off x="5989320" y="2322576"/>
            <a:ext cx="2834640" cy="0"/>
          </a:xfrm>
          <a:prstGeom prst="line">
            <a:avLst/>
          </a:prstGeom>
          <a:noFill/>
          <a:ln w="9525">
            <a:solidFill>
              <a:srgbClr val="112233"/>
            </a:solidFill>
            <a:prstDash val="solid"/>
          </a:ln>
        </p:spPr>
        <p:txBody>
          <a:bodyPr/>
          <a:lstStyle/>
          <a:p>
            <a:endParaRPr lang="en-US"/>
          </a:p>
        </p:txBody>
      </p:sp>
      <p:sp>
        <p:nvSpPr>
          <p:cNvPr id="32" name="Shape 30"/>
          <p:cNvSpPr/>
          <p:nvPr/>
        </p:nvSpPr>
        <p:spPr>
          <a:xfrm>
            <a:off x="5989320" y="2523744"/>
            <a:ext cx="292608" cy="292608"/>
          </a:xfrm>
          <a:prstGeom prst="ellipse">
            <a:avLst/>
          </a:prstGeom>
          <a:solidFill>
            <a:srgbClr val="1C7293"/>
          </a:solidFill>
          <a:ln w="12700">
            <a:solidFill>
              <a:srgbClr val="1C7293"/>
            </a:solidFill>
            <a:prstDash val="solid"/>
          </a:ln>
        </p:spPr>
        <p:txBody>
          <a:bodyPr/>
          <a:lstStyle/>
          <a:p>
            <a:endParaRPr lang="en-US"/>
          </a:p>
        </p:txBody>
      </p:sp>
      <p:sp>
        <p:nvSpPr>
          <p:cNvPr id="33" name="Text 31"/>
          <p:cNvSpPr/>
          <p:nvPr/>
        </p:nvSpPr>
        <p:spPr>
          <a:xfrm>
            <a:off x="5989320" y="2523744"/>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rPr>
              <a:t>04</a:t>
            </a:r>
            <a:endParaRPr lang="en-US" sz="800" dirty="0"/>
          </a:p>
        </p:txBody>
      </p:sp>
      <p:sp>
        <p:nvSpPr>
          <p:cNvPr id="34" name="Text 32"/>
          <p:cNvSpPr/>
          <p:nvPr/>
        </p:nvSpPr>
        <p:spPr>
          <a:xfrm>
            <a:off x="6373368" y="2532888"/>
            <a:ext cx="2487168" cy="274320"/>
          </a:xfrm>
          <a:prstGeom prst="rect">
            <a:avLst/>
          </a:prstGeom>
          <a:noFill/>
          <a:ln/>
        </p:spPr>
        <p:txBody>
          <a:bodyPr wrap="square" lIns="0" tIns="0" rIns="0" bIns="0" rtlCol="0" anchor="ctr"/>
          <a:lstStyle/>
          <a:p>
            <a:pPr marL="0" indent="0">
              <a:buNone/>
            </a:pPr>
            <a:r>
              <a:rPr lang="en-US" sz="950" dirty="0">
                <a:solidFill>
                  <a:srgbClr val="E8EEF4"/>
                </a:solidFill>
              </a:rPr>
              <a:t>Results</a:t>
            </a:r>
            <a:endParaRPr lang="en-US" sz="950" dirty="0"/>
          </a:p>
        </p:txBody>
      </p:sp>
      <p:sp>
        <p:nvSpPr>
          <p:cNvPr id="35" name="Shape 33"/>
          <p:cNvSpPr/>
          <p:nvPr/>
        </p:nvSpPr>
        <p:spPr>
          <a:xfrm>
            <a:off x="5989320" y="2871216"/>
            <a:ext cx="2834640" cy="0"/>
          </a:xfrm>
          <a:prstGeom prst="line">
            <a:avLst/>
          </a:prstGeom>
          <a:noFill/>
          <a:ln w="9525">
            <a:solidFill>
              <a:srgbClr val="112233"/>
            </a:solidFill>
            <a:prstDash val="solid"/>
          </a:ln>
        </p:spPr>
        <p:txBody>
          <a:bodyPr/>
          <a:lstStyle/>
          <a:p>
            <a:endParaRPr lang="en-US"/>
          </a:p>
        </p:txBody>
      </p:sp>
      <p:sp>
        <p:nvSpPr>
          <p:cNvPr id="36" name="Shape 34"/>
          <p:cNvSpPr/>
          <p:nvPr/>
        </p:nvSpPr>
        <p:spPr>
          <a:xfrm>
            <a:off x="5989320" y="3072384"/>
            <a:ext cx="292608" cy="292608"/>
          </a:xfrm>
          <a:prstGeom prst="ellipse">
            <a:avLst/>
          </a:prstGeom>
          <a:solidFill>
            <a:srgbClr val="1C7293"/>
          </a:solidFill>
          <a:ln w="12700">
            <a:solidFill>
              <a:srgbClr val="1C7293"/>
            </a:solidFill>
            <a:prstDash val="solid"/>
          </a:ln>
        </p:spPr>
        <p:txBody>
          <a:bodyPr/>
          <a:lstStyle/>
          <a:p>
            <a:endParaRPr lang="en-US"/>
          </a:p>
        </p:txBody>
      </p:sp>
      <p:sp>
        <p:nvSpPr>
          <p:cNvPr id="37" name="Text 35"/>
          <p:cNvSpPr/>
          <p:nvPr/>
        </p:nvSpPr>
        <p:spPr>
          <a:xfrm>
            <a:off x="5989320" y="3072384"/>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rPr>
              <a:t>05</a:t>
            </a:r>
            <a:endParaRPr lang="en-US" sz="800" dirty="0"/>
          </a:p>
        </p:txBody>
      </p:sp>
      <p:sp>
        <p:nvSpPr>
          <p:cNvPr id="38" name="Text 36"/>
          <p:cNvSpPr/>
          <p:nvPr/>
        </p:nvSpPr>
        <p:spPr>
          <a:xfrm>
            <a:off x="6373368" y="3081528"/>
            <a:ext cx="2487168" cy="274320"/>
          </a:xfrm>
          <a:prstGeom prst="rect">
            <a:avLst/>
          </a:prstGeom>
          <a:noFill/>
          <a:ln/>
        </p:spPr>
        <p:txBody>
          <a:bodyPr wrap="square" lIns="0" tIns="0" rIns="0" bIns="0" rtlCol="0" anchor="ctr"/>
          <a:lstStyle/>
          <a:p>
            <a:pPr marL="0" indent="0">
              <a:buNone/>
            </a:pPr>
            <a:r>
              <a:rPr lang="en-US" sz="950" dirty="0">
                <a:solidFill>
                  <a:srgbClr val="E8EEF4"/>
                </a:solidFill>
              </a:rPr>
              <a:t>Recommendations</a:t>
            </a:r>
            <a:endParaRPr lang="en-US" sz="950" dirty="0"/>
          </a:p>
        </p:txBody>
      </p:sp>
      <p:sp>
        <p:nvSpPr>
          <p:cNvPr id="39" name="Shape 37"/>
          <p:cNvSpPr/>
          <p:nvPr/>
        </p:nvSpPr>
        <p:spPr>
          <a:xfrm>
            <a:off x="5989320" y="3419856"/>
            <a:ext cx="2834640" cy="0"/>
          </a:xfrm>
          <a:prstGeom prst="line">
            <a:avLst/>
          </a:prstGeom>
          <a:noFill/>
          <a:ln w="9525">
            <a:solidFill>
              <a:srgbClr val="112233"/>
            </a:solidFill>
            <a:prstDash val="solid"/>
          </a:ln>
        </p:spPr>
        <p:txBody>
          <a:bodyPr/>
          <a:lstStyle/>
          <a:p>
            <a:endParaRPr lang="en-US"/>
          </a:p>
        </p:txBody>
      </p:sp>
      <p:sp>
        <p:nvSpPr>
          <p:cNvPr id="40" name="Shape 38"/>
          <p:cNvSpPr/>
          <p:nvPr/>
        </p:nvSpPr>
        <p:spPr>
          <a:xfrm>
            <a:off x="5989320" y="3621024"/>
            <a:ext cx="292608" cy="292608"/>
          </a:xfrm>
          <a:prstGeom prst="ellipse">
            <a:avLst/>
          </a:prstGeom>
          <a:solidFill>
            <a:srgbClr val="1C7293"/>
          </a:solidFill>
          <a:ln w="12700">
            <a:solidFill>
              <a:srgbClr val="1C7293"/>
            </a:solidFill>
            <a:prstDash val="solid"/>
          </a:ln>
        </p:spPr>
        <p:txBody>
          <a:bodyPr/>
          <a:lstStyle/>
          <a:p>
            <a:endParaRPr lang="en-US"/>
          </a:p>
        </p:txBody>
      </p:sp>
      <p:sp>
        <p:nvSpPr>
          <p:cNvPr id="41" name="Text 39"/>
          <p:cNvSpPr/>
          <p:nvPr/>
        </p:nvSpPr>
        <p:spPr>
          <a:xfrm>
            <a:off x="5989320" y="3621024"/>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rPr>
              <a:t>06</a:t>
            </a:r>
            <a:endParaRPr lang="en-US" sz="800" dirty="0"/>
          </a:p>
        </p:txBody>
      </p:sp>
      <p:sp>
        <p:nvSpPr>
          <p:cNvPr id="42" name="Text 40"/>
          <p:cNvSpPr/>
          <p:nvPr/>
        </p:nvSpPr>
        <p:spPr>
          <a:xfrm>
            <a:off x="6373368" y="3630168"/>
            <a:ext cx="2487168" cy="274320"/>
          </a:xfrm>
          <a:prstGeom prst="rect">
            <a:avLst/>
          </a:prstGeom>
          <a:noFill/>
          <a:ln/>
        </p:spPr>
        <p:txBody>
          <a:bodyPr wrap="square" lIns="0" tIns="0" rIns="0" bIns="0" rtlCol="0" anchor="ctr"/>
          <a:lstStyle/>
          <a:p>
            <a:pPr marL="0" indent="0">
              <a:buNone/>
            </a:pPr>
            <a:r>
              <a:rPr lang="en-US" sz="950" dirty="0">
                <a:solidFill>
                  <a:srgbClr val="E8EEF4"/>
                </a:solidFill>
              </a:rPr>
              <a:t>Risks &amp; Considerations</a:t>
            </a:r>
            <a:endParaRPr lang="en-US" sz="950" dirty="0"/>
          </a:p>
        </p:txBody>
      </p:sp>
      <p:sp>
        <p:nvSpPr>
          <p:cNvPr id="43" name="Shape 41"/>
          <p:cNvSpPr/>
          <p:nvPr/>
        </p:nvSpPr>
        <p:spPr>
          <a:xfrm>
            <a:off x="5989320" y="3968496"/>
            <a:ext cx="2834640" cy="0"/>
          </a:xfrm>
          <a:prstGeom prst="line">
            <a:avLst/>
          </a:prstGeom>
          <a:noFill/>
          <a:ln w="9525">
            <a:solidFill>
              <a:srgbClr val="112233"/>
            </a:solidFill>
            <a:prstDash val="solid"/>
          </a:ln>
        </p:spPr>
        <p:txBody>
          <a:bodyPr/>
          <a:lstStyle/>
          <a:p>
            <a:endParaRPr lang="en-US"/>
          </a:p>
        </p:txBody>
      </p:sp>
      <p:sp>
        <p:nvSpPr>
          <p:cNvPr id="44" name="Shape 42"/>
          <p:cNvSpPr/>
          <p:nvPr/>
        </p:nvSpPr>
        <p:spPr>
          <a:xfrm>
            <a:off x="5989320" y="4169664"/>
            <a:ext cx="292608" cy="292608"/>
          </a:xfrm>
          <a:prstGeom prst="ellipse">
            <a:avLst/>
          </a:prstGeom>
          <a:solidFill>
            <a:srgbClr val="1C7293"/>
          </a:solidFill>
          <a:ln w="12700">
            <a:solidFill>
              <a:srgbClr val="1C7293"/>
            </a:solidFill>
            <a:prstDash val="solid"/>
          </a:ln>
        </p:spPr>
        <p:txBody>
          <a:bodyPr/>
          <a:lstStyle/>
          <a:p>
            <a:endParaRPr lang="en-US"/>
          </a:p>
        </p:txBody>
      </p:sp>
      <p:sp>
        <p:nvSpPr>
          <p:cNvPr id="45" name="Text 43"/>
          <p:cNvSpPr/>
          <p:nvPr/>
        </p:nvSpPr>
        <p:spPr>
          <a:xfrm>
            <a:off x="5989320" y="4169664"/>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rPr>
              <a:t>07</a:t>
            </a:r>
            <a:endParaRPr lang="en-US" sz="800" dirty="0"/>
          </a:p>
        </p:txBody>
      </p:sp>
      <p:sp>
        <p:nvSpPr>
          <p:cNvPr id="46" name="Text 44"/>
          <p:cNvSpPr/>
          <p:nvPr/>
        </p:nvSpPr>
        <p:spPr>
          <a:xfrm>
            <a:off x="6373368" y="4178808"/>
            <a:ext cx="2487168" cy="274320"/>
          </a:xfrm>
          <a:prstGeom prst="rect">
            <a:avLst/>
          </a:prstGeom>
          <a:noFill/>
          <a:ln/>
        </p:spPr>
        <p:txBody>
          <a:bodyPr wrap="square" lIns="0" tIns="0" rIns="0" bIns="0" rtlCol="0" anchor="ctr"/>
          <a:lstStyle/>
          <a:p>
            <a:pPr marL="0" indent="0">
              <a:buNone/>
            </a:pPr>
            <a:r>
              <a:rPr lang="en-US" sz="950" dirty="0">
                <a:solidFill>
                  <a:srgbClr val="E8EEF4"/>
                </a:solidFill>
              </a:rPr>
              <a:t>Next Steps &amp; ROI</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C0392B"/>
          </a:solidFill>
          <a:ln w="12700">
            <a:solidFill>
              <a:srgbClr val="C0392B"/>
            </a:solidFill>
            <a:prstDash val="solid"/>
          </a:ln>
        </p:spPr>
        <p:txBody>
          <a:bodyPr/>
          <a:lstStyle/>
          <a:p>
            <a:endParaRPr lang="en-US"/>
          </a:p>
        </p:txBody>
      </p:sp>
      <p:sp>
        <p:nvSpPr>
          <p:cNvPr id="3" name="Text 1"/>
          <p:cNvSpPr/>
          <p:nvPr/>
        </p:nvSpPr>
        <p:spPr>
          <a:xfrm>
            <a:off x="0" y="0"/>
            <a:ext cx="8778240" cy="640080"/>
          </a:xfrm>
          <a:prstGeom prst="rect">
            <a:avLst/>
          </a:prstGeom>
          <a:noFill/>
          <a:ln/>
        </p:spPr>
        <p:txBody>
          <a:bodyPr wrap="square" lIns="0" tIns="0" rIns="0" bIns="0" rtlCol="0" anchor="ctr"/>
          <a:lstStyle/>
          <a:p>
            <a:pPr marL="0" indent="0" algn="r">
              <a:buNone/>
            </a:pPr>
            <a:r>
              <a:rPr lang="en-US" sz="800" kern="0" spc="200" dirty="0">
                <a:solidFill>
                  <a:srgbClr val="FFFFFF"/>
                </a:solidFill>
              </a:rPr>
              <a:t>01  ·  THE BUSINESS PROBLEM</a:t>
            </a:r>
            <a:endParaRPr lang="en-US" sz="800" dirty="0"/>
          </a:p>
        </p:txBody>
      </p:sp>
      <p:sp>
        <p:nvSpPr>
          <p:cNvPr id="4" name="Text 2"/>
          <p:cNvSpPr/>
          <p:nvPr/>
        </p:nvSpPr>
        <p:spPr>
          <a:xfrm>
            <a:off x="365760" y="0"/>
            <a:ext cx="6400800" cy="64008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The Business Problem</a:t>
            </a:r>
            <a:endParaRPr lang="en-US" sz="1800" dirty="0"/>
          </a:p>
        </p:txBody>
      </p:sp>
      <p:sp>
        <p:nvSpPr>
          <p:cNvPr id="5" name="Text 3"/>
          <p:cNvSpPr/>
          <p:nvPr/>
        </p:nvSpPr>
        <p:spPr>
          <a:xfrm>
            <a:off x="320040" y="713232"/>
            <a:ext cx="8503920" cy="228600"/>
          </a:xfrm>
          <a:prstGeom prst="rect">
            <a:avLst/>
          </a:prstGeom>
          <a:noFill/>
          <a:ln/>
        </p:spPr>
        <p:txBody>
          <a:bodyPr wrap="square" lIns="0" tIns="0" rIns="0" bIns="0" rtlCol="0" anchor="ctr"/>
          <a:lstStyle/>
          <a:p>
            <a:pPr marL="0" indent="0">
              <a:buNone/>
            </a:pPr>
            <a:r>
              <a:rPr lang="en-US" sz="900" i="1" dirty="0">
                <a:solidFill>
                  <a:srgbClr val="8BA3B8"/>
                </a:solidFill>
              </a:rPr>
              <a:t>Fraud is rare, hard to detect, and expensive when missed</a:t>
            </a:r>
            <a:endParaRPr lang="en-US" sz="900" dirty="0"/>
          </a:p>
        </p:txBody>
      </p:sp>
      <p:sp>
        <p:nvSpPr>
          <p:cNvPr id="6" name="Shape 4"/>
          <p:cNvSpPr/>
          <p:nvPr/>
        </p:nvSpPr>
        <p:spPr>
          <a:xfrm>
            <a:off x="320040" y="987552"/>
            <a:ext cx="3474720" cy="1188720"/>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7" name="Shape 5"/>
          <p:cNvSpPr/>
          <p:nvPr/>
        </p:nvSpPr>
        <p:spPr>
          <a:xfrm>
            <a:off x="320040" y="987552"/>
            <a:ext cx="64008" cy="1188720"/>
          </a:xfrm>
          <a:prstGeom prst="rect">
            <a:avLst/>
          </a:prstGeom>
          <a:solidFill>
            <a:srgbClr val="C0392B"/>
          </a:solidFill>
          <a:ln w="12700">
            <a:solidFill>
              <a:srgbClr val="C0392B"/>
            </a:solidFill>
            <a:prstDash val="solid"/>
          </a:ln>
        </p:spPr>
        <p:txBody>
          <a:bodyPr/>
          <a:lstStyle/>
          <a:p>
            <a:endParaRPr lang="en-US"/>
          </a:p>
        </p:txBody>
      </p:sp>
      <p:sp>
        <p:nvSpPr>
          <p:cNvPr id="8" name="Text 6"/>
          <p:cNvSpPr/>
          <p:nvPr/>
        </p:nvSpPr>
        <p:spPr>
          <a:xfrm>
            <a:off x="475488" y="1078992"/>
            <a:ext cx="3200400" cy="548640"/>
          </a:xfrm>
          <a:prstGeom prst="rect">
            <a:avLst/>
          </a:prstGeom>
          <a:noFill/>
          <a:ln/>
        </p:spPr>
        <p:txBody>
          <a:bodyPr wrap="square" lIns="0" tIns="0" rIns="0" bIns="0" rtlCol="0" anchor="ctr"/>
          <a:lstStyle/>
          <a:p>
            <a:pPr marL="0" indent="0">
              <a:buNone/>
            </a:pPr>
            <a:r>
              <a:rPr lang="en-US" sz="3800" b="1" dirty="0">
                <a:solidFill>
                  <a:srgbClr val="C0392B"/>
                </a:solidFill>
                <a:latin typeface="Cambria" pitchFamily="34" charset="0"/>
                <a:ea typeface="Cambria" pitchFamily="34" charset="-122"/>
                <a:cs typeface="Cambria" pitchFamily="34" charset="-120"/>
              </a:rPr>
              <a:t>$199K</a:t>
            </a:r>
            <a:endParaRPr lang="en-US" sz="3800" dirty="0"/>
          </a:p>
        </p:txBody>
      </p:sp>
      <p:sp>
        <p:nvSpPr>
          <p:cNvPr id="9" name="Text 7"/>
          <p:cNvSpPr/>
          <p:nvPr/>
        </p:nvSpPr>
        <p:spPr>
          <a:xfrm>
            <a:off x="475488" y="1609344"/>
            <a:ext cx="3200400" cy="237744"/>
          </a:xfrm>
          <a:prstGeom prst="rect">
            <a:avLst/>
          </a:prstGeom>
          <a:noFill/>
          <a:ln/>
        </p:spPr>
        <p:txBody>
          <a:bodyPr wrap="square" lIns="0" tIns="0" rIns="0" bIns="0" rtlCol="0" anchor="ctr"/>
          <a:lstStyle/>
          <a:p>
            <a:pPr marL="0" indent="0">
              <a:buNone/>
            </a:pPr>
            <a:r>
              <a:rPr lang="en-US" sz="950" b="1" dirty="0">
                <a:solidFill>
                  <a:srgbClr val="FFFFFF"/>
                </a:solidFill>
              </a:rPr>
              <a:t>estimated fraud value at risk per year</a:t>
            </a:r>
            <a:endParaRPr lang="en-US" sz="950" dirty="0"/>
          </a:p>
        </p:txBody>
      </p:sp>
      <p:sp>
        <p:nvSpPr>
          <p:cNvPr id="10" name="Text 8"/>
          <p:cNvSpPr/>
          <p:nvPr/>
        </p:nvSpPr>
        <p:spPr>
          <a:xfrm>
            <a:off x="475488" y="1847088"/>
            <a:ext cx="3200400" cy="201168"/>
          </a:xfrm>
          <a:prstGeom prst="rect">
            <a:avLst/>
          </a:prstGeom>
          <a:noFill/>
          <a:ln/>
        </p:spPr>
        <p:txBody>
          <a:bodyPr wrap="square" lIns="0" tIns="0" rIns="0" bIns="0" rtlCol="0" anchor="ctr"/>
          <a:lstStyle/>
          <a:p>
            <a:pPr marL="0" indent="0">
              <a:buNone/>
            </a:pPr>
            <a:r>
              <a:rPr lang="en-US" sz="750" i="1" dirty="0">
                <a:solidFill>
                  <a:srgbClr val="8BA3B8"/>
                </a:solidFill>
              </a:rPr>
              <a:t>based on 492 cases × $500 avg transaction</a:t>
            </a:r>
            <a:endParaRPr lang="en-US" sz="750" dirty="0"/>
          </a:p>
        </p:txBody>
      </p:sp>
      <p:sp>
        <p:nvSpPr>
          <p:cNvPr id="11" name="Shape 9"/>
          <p:cNvSpPr/>
          <p:nvPr/>
        </p:nvSpPr>
        <p:spPr>
          <a:xfrm>
            <a:off x="320040" y="2313432"/>
            <a:ext cx="3474720" cy="1188720"/>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12" name="Shape 10"/>
          <p:cNvSpPr/>
          <p:nvPr/>
        </p:nvSpPr>
        <p:spPr>
          <a:xfrm>
            <a:off x="320040" y="2313432"/>
            <a:ext cx="64008" cy="1188720"/>
          </a:xfrm>
          <a:prstGeom prst="rect">
            <a:avLst/>
          </a:prstGeom>
          <a:solidFill>
            <a:srgbClr val="E67E22"/>
          </a:solidFill>
          <a:ln w="12700">
            <a:solidFill>
              <a:srgbClr val="E67E22"/>
            </a:solidFill>
            <a:prstDash val="solid"/>
          </a:ln>
        </p:spPr>
        <p:txBody>
          <a:bodyPr/>
          <a:lstStyle/>
          <a:p>
            <a:endParaRPr lang="en-US"/>
          </a:p>
        </p:txBody>
      </p:sp>
      <p:sp>
        <p:nvSpPr>
          <p:cNvPr id="13" name="Text 11"/>
          <p:cNvSpPr/>
          <p:nvPr/>
        </p:nvSpPr>
        <p:spPr>
          <a:xfrm>
            <a:off x="475488" y="2404872"/>
            <a:ext cx="3200400" cy="548640"/>
          </a:xfrm>
          <a:prstGeom prst="rect">
            <a:avLst/>
          </a:prstGeom>
          <a:noFill/>
          <a:ln/>
        </p:spPr>
        <p:txBody>
          <a:bodyPr wrap="square" lIns="0" tIns="0" rIns="0" bIns="0" rtlCol="0" anchor="ctr"/>
          <a:lstStyle/>
          <a:p>
            <a:pPr marL="0" indent="0">
              <a:buNone/>
            </a:pPr>
            <a:r>
              <a:rPr lang="en-US" sz="3800" b="1" dirty="0">
                <a:solidFill>
                  <a:srgbClr val="E67E22"/>
                </a:solidFill>
                <a:latin typeface="Cambria" pitchFamily="34" charset="0"/>
                <a:ea typeface="Cambria" pitchFamily="34" charset="-122"/>
                <a:cs typeface="Cambria" pitchFamily="34" charset="-120"/>
              </a:rPr>
              <a:t>~60%</a:t>
            </a:r>
            <a:endParaRPr lang="en-US" sz="3800" dirty="0"/>
          </a:p>
        </p:txBody>
      </p:sp>
      <p:sp>
        <p:nvSpPr>
          <p:cNvPr id="14" name="Text 12"/>
          <p:cNvSpPr/>
          <p:nvPr/>
        </p:nvSpPr>
        <p:spPr>
          <a:xfrm>
            <a:off x="475488" y="2935224"/>
            <a:ext cx="3200400" cy="237744"/>
          </a:xfrm>
          <a:prstGeom prst="rect">
            <a:avLst/>
          </a:prstGeom>
          <a:noFill/>
          <a:ln/>
        </p:spPr>
        <p:txBody>
          <a:bodyPr wrap="square" lIns="0" tIns="0" rIns="0" bIns="0" rtlCol="0" anchor="ctr"/>
          <a:lstStyle/>
          <a:p>
            <a:pPr marL="0" indent="0">
              <a:buNone/>
            </a:pPr>
            <a:r>
              <a:rPr lang="en-US" sz="950" b="1" dirty="0">
                <a:solidFill>
                  <a:srgbClr val="FFFFFF"/>
                </a:solidFill>
              </a:rPr>
              <a:t>of fraud goes undetected with rules-only systems</a:t>
            </a:r>
            <a:endParaRPr lang="en-US" sz="950" dirty="0"/>
          </a:p>
        </p:txBody>
      </p:sp>
      <p:sp>
        <p:nvSpPr>
          <p:cNvPr id="15" name="Text 13"/>
          <p:cNvSpPr/>
          <p:nvPr/>
        </p:nvSpPr>
        <p:spPr>
          <a:xfrm>
            <a:off x="475488" y="3172968"/>
            <a:ext cx="3200400" cy="201168"/>
          </a:xfrm>
          <a:prstGeom prst="rect">
            <a:avLst/>
          </a:prstGeom>
          <a:noFill/>
          <a:ln/>
        </p:spPr>
        <p:txBody>
          <a:bodyPr wrap="square" lIns="0" tIns="0" rIns="0" bIns="0" rtlCol="0" anchor="ctr"/>
          <a:lstStyle/>
          <a:p>
            <a:pPr marL="0" indent="0">
              <a:buNone/>
            </a:pPr>
            <a:r>
              <a:rPr lang="en-US" sz="750" i="1" dirty="0">
                <a:solidFill>
                  <a:srgbClr val="8BA3B8"/>
                </a:solidFill>
              </a:rPr>
              <a:t>current systems catch ~40% recall</a:t>
            </a:r>
            <a:endParaRPr lang="en-US" sz="750" dirty="0"/>
          </a:p>
        </p:txBody>
      </p:sp>
      <p:sp>
        <p:nvSpPr>
          <p:cNvPr id="16" name="Shape 14"/>
          <p:cNvSpPr/>
          <p:nvPr/>
        </p:nvSpPr>
        <p:spPr>
          <a:xfrm>
            <a:off x="320040" y="3639312"/>
            <a:ext cx="3474720" cy="1188720"/>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17" name="Shape 15"/>
          <p:cNvSpPr/>
          <p:nvPr/>
        </p:nvSpPr>
        <p:spPr>
          <a:xfrm>
            <a:off x="320040" y="3639312"/>
            <a:ext cx="64008" cy="1188720"/>
          </a:xfrm>
          <a:prstGeom prst="rect">
            <a:avLst/>
          </a:prstGeom>
          <a:solidFill>
            <a:srgbClr val="2A9FC4"/>
          </a:solidFill>
          <a:ln w="12700">
            <a:solidFill>
              <a:srgbClr val="2A9FC4"/>
            </a:solidFill>
            <a:prstDash val="solid"/>
          </a:ln>
        </p:spPr>
        <p:txBody>
          <a:bodyPr/>
          <a:lstStyle/>
          <a:p>
            <a:endParaRPr lang="en-US"/>
          </a:p>
        </p:txBody>
      </p:sp>
      <p:sp>
        <p:nvSpPr>
          <p:cNvPr id="18" name="Text 16"/>
          <p:cNvSpPr/>
          <p:nvPr/>
        </p:nvSpPr>
        <p:spPr>
          <a:xfrm>
            <a:off x="475488" y="3730752"/>
            <a:ext cx="3200400" cy="548640"/>
          </a:xfrm>
          <a:prstGeom prst="rect">
            <a:avLst/>
          </a:prstGeom>
          <a:noFill/>
          <a:ln/>
        </p:spPr>
        <p:txBody>
          <a:bodyPr wrap="square" lIns="0" tIns="0" rIns="0" bIns="0" rtlCol="0" anchor="ctr"/>
          <a:lstStyle/>
          <a:p>
            <a:pPr marL="0" indent="0">
              <a:buNone/>
            </a:pPr>
            <a:r>
              <a:rPr lang="en-US" sz="3800" b="1" dirty="0">
                <a:solidFill>
                  <a:srgbClr val="2A9FC4"/>
                </a:solidFill>
                <a:latin typeface="Cambria" pitchFamily="34" charset="0"/>
                <a:ea typeface="Cambria" pitchFamily="34" charset="-122"/>
                <a:cs typeface="Cambria" pitchFamily="34" charset="-120"/>
              </a:rPr>
              <a:t>577:1</a:t>
            </a:r>
            <a:endParaRPr lang="en-US" sz="3800" dirty="0"/>
          </a:p>
        </p:txBody>
      </p:sp>
      <p:sp>
        <p:nvSpPr>
          <p:cNvPr id="19" name="Text 17"/>
          <p:cNvSpPr/>
          <p:nvPr/>
        </p:nvSpPr>
        <p:spPr>
          <a:xfrm>
            <a:off x="475488" y="4261104"/>
            <a:ext cx="3200400" cy="237744"/>
          </a:xfrm>
          <a:prstGeom prst="rect">
            <a:avLst/>
          </a:prstGeom>
          <a:noFill/>
          <a:ln/>
        </p:spPr>
        <p:txBody>
          <a:bodyPr wrap="square" lIns="0" tIns="0" rIns="0" bIns="0" rtlCol="0" anchor="ctr"/>
          <a:lstStyle/>
          <a:p>
            <a:pPr marL="0" indent="0">
              <a:buNone/>
            </a:pPr>
            <a:r>
              <a:rPr lang="en-US" sz="950" b="1" dirty="0">
                <a:solidFill>
                  <a:srgbClr val="FFFFFF"/>
                </a:solidFill>
              </a:rPr>
              <a:t>legitimate transactions for every fraud case</a:t>
            </a:r>
            <a:endParaRPr lang="en-US" sz="950" dirty="0"/>
          </a:p>
        </p:txBody>
      </p:sp>
      <p:sp>
        <p:nvSpPr>
          <p:cNvPr id="20" name="Text 18"/>
          <p:cNvSpPr/>
          <p:nvPr/>
        </p:nvSpPr>
        <p:spPr>
          <a:xfrm>
            <a:off x="475488" y="4498848"/>
            <a:ext cx="3200400" cy="201168"/>
          </a:xfrm>
          <a:prstGeom prst="rect">
            <a:avLst/>
          </a:prstGeom>
          <a:noFill/>
          <a:ln/>
        </p:spPr>
        <p:txBody>
          <a:bodyPr wrap="square" lIns="0" tIns="0" rIns="0" bIns="0" rtlCol="0" anchor="ctr"/>
          <a:lstStyle/>
          <a:p>
            <a:pPr marL="0" indent="0">
              <a:buNone/>
            </a:pPr>
            <a:r>
              <a:rPr lang="en-US" sz="750" i="1" dirty="0">
                <a:solidFill>
                  <a:srgbClr val="8BA3B8"/>
                </a:solidFill>
              </a:rPr>
              <a:t>making manual review impractical at scale</a:t>
            </a:r>
            <a:endParaRPr lang="en-US" sz="750" dirty="0"/>
          </a:p>
        </p:txBody>
      </p:sp>
      <p:sp>
        <p:nvSpPr>
          <p:cNvPr id="21" name="Shape 19"/>
          <p:cNvSpPr/>
          <p:nvPr/>
        </p:nvSpPr>
        <p:spPr>
          <a:xfrm>
            <a:off x="4069080" y="987552"/>
            <a:ext cx="4754880" cy="1188720"/>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22" name="Shape 20"/>
          <p:cNvSpPr/>
          <p:nvPr/>
        </p:nvSpPr>
        <p:spPr>
          <a:xfrm>
            <a:off x="4069080" y="987552"/>
            <a:ext cx="4754880" cy="50292"/>
          </a:xfrm>
          <a:prstGeom prst="rect">
            <a:avLst/>
          </a:prstGeom>
          <a:solidFill>
            <a:srgbClr val="1C7293"/>
          </a:solidFill>
          <a:ln w="12700">
            <a:solidFill>
              <a:srgbClr val="1C7293"/>
            </a:solidFill>
            <a:prstDash val="solid"/>
          </a:ln>
        </p:spPr>
        <p:txBody>
          <a:bodyPr/>
          <a:lstStyle/>
          <a:p>
            <a:endParaRPr lang="en-US"/>
          </a:p>
        </p:txBody>
      </p:sp>
      <p:sp>
        <p:nvSpPr>
          <p:cNvPr id="23" name="Text 21"/>
          <p:cNvSpPr/>
          <p:nvPr/>
        </p:nvSpPr>
        <p:spPr>
          <a:xfrm>
            <a:off x="4224528" y="1078992"/>
            <a:ext cx="4480560" cy="237744"/>
          </a:xfrm>
          <a:prstGeom prst="rect">
            <a:avLst/>
          </a:prstGeom>
          <a:noFill/>
          <a:ln/>
        </p:spPr>
        <p:txBody>
          <a:bodyPr wrap="square" lIns="0" tIns="0" rIns="0" bIns="0" rtlCol="0" anchor="ctr"/>
          <a:lstStyle/>
          <a:p>
            <a:pPr marL="0" indent="0">
              <a:buNone/>
            </a:pPr>
            <a:r>
              <a:rPr lang="en-US" sz="1050" b="1" dirty="0">
                <a:solidFill>
                  <a:srgbClr val="FFFFFF"/>
                </a:solidFill>
              </a:rPr>
              <a:t>Rules break when fraud evolves</a:t>
            </a:r>
            <a:endParaRPr lang="en-US" sz="1050" dirty="0"/>
          </a:p>
        </p:txBody>
      </p:sp>
      <p:sp>
        <p:nvSpPr>
          <p:cNvPr id="24" name="Text 22"/>
          <p:cNvSpPr/>
          <p:nvPr/>
        </p:nvSpPr>
        <p:spPr>
          <a:xfrm>
            <a:off x="4224528" y="1353312"/>
            <a:ext cx="4480560" cy="749808"/>
          </a:xfrm>
          <a:prstGeom prst="rect">
            <a:avLst/>
          </a:prstGeom>
          <a:noFill/>
          <a:ln/>
        </p:spPr>
        <p:txBody>
          <a:bodyPr wrap="square" lIns="0" tIns="0" rIns="0" bIns="0" rtlCol="0" anchor="ctr"/>
          <a:lstStyle/>
          <a:p>
            <a:pPr marL="0" indent="0">
              <a:buNone/>
            </a:pPr>
            <a:r>
              <a:rPr lang="en-US" sz="900" dirty="0">
                <a:solidFill>
                  <a:srgbClr val="E8EEF4"/>
                </a:solidFill>
              </a:rPr>
              <a:t>Today's fraud detection relies on fixed rules — if a transaction matches a known pattern, it's flagged. But fraudsters constantly adapt. Rules can't learn; they require manual updates and still miss new attack patterns.</a:t>
            </a:r>
            <a:endParaRPr lang="en-US" sz="900" dirty="0"/>
          </a:p>
        </p:txBody>
      </p:sp>
      <p:sp>
        <p:nvSpPr>
          <p:cNvPr id="25" name="Shape 23"/>
          <p:cNvSpPr/>
          <p:nvPr/>
        </p:nvSpPr>
        <p:spPr>
          <a:xfrm>
            <a:off x="4069080" y="2313432"/>
            <a:ext cx="4754880" cy="1188720"/>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26" name="Shape 24"/>
          <p:cNvSpPr/>
          <p:nvPr/>
        </p:nvSpPr>
        <p:spPr>
          <a:xfrm>
            <a:off x="4069080" y="2313432"/>
            <a:ext cx="4754880" cy="50292"/>
          </a:xfrm>
          <a:prstGeom prst="rect">
            <a:avLst/>
          </a:prstGeom>
          <a:solidFill>
            <a:srgbClr val="1C7293"/>
          </a:solidFill>
          <a:ln w="12700">
            <a:solidFill>
              <a:srgbClr val="1C7293"/>
            </a:solidFill>
            <a:prstDash val="solid"/>
          </a:ln>
        </p:spPr>
        <p:txBody>
          <a:bodyPr/>
          <a:lstStyle/>
          <a:p>
            <a:endParaRPr lang="en-US"/>
          </a:p>
        </p:txBody>
      </p:sp>
      <p:sp>
        <p:nvSpPr>
          <p:cNvPr id="27" name="Text 25"/>
          <p:cNvSpPr/>
          <p:nvPr/>
        </p:nvSpPr>
        <p:spPr>
          <a:xfrm>
            <a:off x="4224528" y="2404872"/>
            <a:ext cx="4480560" cy="237744"/>
          </a:xfrm>
          <a:prstGeom prst="rect">
            <a:avLst/>
          </a:prstGeom>
          <a:noFill/>
          <a:ln/>
        </p:spPr>
        <p:txBody>
          <a:bodyPr wrap="square" lIns="0" tIns="0" rIns="0" bIns="0" rtlCol="0" anchor="ctr"/>
          <a:lstStyle/>
          <a:p>
            <a:pPr marL="0" indent="0">
              <a:buNone/>
            </a:pPr>
            <a:r>
              <a:rPr lang="en-US" sz="1050" b="1" dirty="0">
                <a:solidFill>
                  <a:srgbClr val="FFFFFF"/>
                </a:solidFill>
              </a:rPr>
              <a:t>False alarms are costly too</a:t>
            </a:r>
            <a:endParaRPr lang="en-US" sz="1050" dirty="0"/>
          </a:p>
        </p:txBody>
      </p:sp>
      <p:sp>
        <p:nvSpPr>
          <p:cNvPr id="28" name="Text 26"/>
          <p:cNvSpPr/>
          <p:nvPr/>
        </p:nvSpPr>
        <p:spPr>
          <a:xfrm>
            <a:off x="4224528" y="2679192"/>
            <a:ext cx="4480560" cy="749808"/>
          </a:xfrm>
          <a:prstGeom prst="rect">
            <a:avLst/>
          </a:prstGeom>
          <a:noFill/>
          <a:ln/>
        </p:spPr>
        <p:txBody>
          <a:bodyPr wrap="square" lIns="0" tIns="0" rIns="0" bIns="0" rtlCol="0" anchor="ctr"/>
          <a:lstStyle/>
          <a:p>
            <a:pPr marL="0" indent="0">
              <a:buNone/>
            </a:pPr>
            <a:r>
              <a:rPr lang="en-US" sz="900" dirty="0">
                <a:solidFill>
                  <a:srgbClr val="E8EEF4"/>
                </a:solidFill>
              </a:rPr>
              <a:t>Over-aggressive rules block legitimate customers, damaging trust and increasing call-centre load. Every unnecessary decline is a lost transaction and a frustrated customer.</a:t>
            </a:r>
            <a:endParaRPr lang="en-US" sz="900" dirty="0"/>
          </a:p>
        </p:txBody>
      </p:sp>
      <p:sp>
        <p:nvSpPr>
          <p:cNvPr id="29" name="Shape 27"/>
          <p:cNvSpPr/>
          <p:nvPr/>
        </p:nvSpPr>
        <p:spPr>
          <a:xfrm>
            <a:off x="4069080" y="3639312"/>
            <a:ext cx="4754880" cy="1188720"/>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30" name="Shape 28"/>
          <p:cNvSpPr/>
          <p:nvPr/>
        </p:nvSpPr>
        <p:spPr>
          <a:xfrm>
            <a:off x="4069080" y="3639312"/>
            <a:ext cx="4754880" cy="50292"/>
          </a:xfrm>
          <a:prstGeom prst="rect">
            <a:avLst/>
          </a:prstGeom>
          <a:solidFill>
            <a:srgbClr val="1C7293"/>
          </a:solidFill>
          <a:ln w="12700">
            <a:solidFill>
              <a:srgbClr val="1C7293"/>
            </a:solidFill>
            <a:prstDash val="solid"/>
          </a:ln>
        </p:spPr>
        <p:txBody>
          <a:bodyPr/>
          <a:lstStyle/>
          <a:p>
            <a:endParaRPr lang="en-US"/>
          </a:p>
        </p:txBody>
      </p:sp>
      <p:sp>
        <p:nvSpPr>
          <p:cNvPr id="31" name="Text 29"/>
          <p:cNvSpPr/>
          <p:nvPr/>
        </p:nvSpPr>
        <p:spPr>
          <a:xfrm>
            <a:off x="4224528" y="3730752"/>
            <a:ext cx="4480560" cy="237744"/>
          </a:xfrm>
          <a:prstGeom prst="rect">
            <a:avLst/>
          </a:prstGeom>
          <a:noFill/>
          <a:ln/>
        </p:spPr>
        <p:txBody>
          <a:bodyPr wrap="square" lIns="0" tIns="0" rIns="0" bIns="0" rtlCol="0" anchor="ctr"/>
          <a:lstStyle/>
          <a:p>
            <a:pPr marL="0" indent="0">
              <a:buNone/>
            </a:pPr>
            <a:r>
              <a:rPr lang="en-US" sz="1050" b="1" dirty="0">
                <a:solidFill>
                  <a:srgbClr val="FFFFFF"/>
                </a:solidFill>
              </a:rPr>
              <a:t>The opportunity: smarter scoring</a:t>
            </a:r>
            <a:endParaRPr lang="en-US" sz="1050" dirty="0"/>
          </a:p>
        </p:txBody>
      </p:sp>
      <p:sp>
        <p:nvSpPr>
          <p:cNvPr id="32" name="Text 30"/>
          <p:cNvSpPr/>
          <p:nvPr/>
        </p:nvSpPr>
        <p:spPr>
          <a:xfrm>
            <a:off x="4224528" y="4005072"/>
            <a:ext cx="4480560" cy="749808"/>
          </a:xfrm>
          <a:prstGeom prst="rect">
            <a:avLst/>
          </a:prstGeom>
          <a:noFill/>
          <a:ln/>
        </p:spPr>
        <p:txBody>
          <a:bodyPr wrap="square" lIns="0" tIns="0" rIns="0" bIns="0" rtlCol="0" anchor="ctr"/>
          <a:lstStyle/>
          <a:p>
            <a:pPr marL="0" indent="0">
              <a:buNone/>
            </a:pPr>
            <a:r>
              <a:rPr lang="en-US" sz="900" dirty="0">
                <a:solidFill>
                  <a:srgbClr val="E8EEF4"/>
                </a:solidFill>
              </a:rPr>
              <a:t>Machine learning analyses hundreds of transaction signals simultaneously and assigns a risk score — enabling the institution to act precisely: approve, flag for review, or decline — based on real probability, not rigid rules.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0" y="0"/>
            <a:ext cx="8778240" cy="640080"/>
          </a:xfrm>
          <a:prstGeom prst="rect">
            <a:avLst/>
          </a:prstGeom>
          <a:noFill/>
          <a:ln/>
        </p:spPr>
        <p:txBody>
          <a:bodyPr wrap="square" lIns="0" tIns="0" rIns="0" bIns="0" rtlCol="0" anchor="ctr"/>
          <a:lstStyle/>
          <a:p>
            <a:pPr marL="0" indent="0" algn="r">
              <a:buNone/>
            </a:pPr>
            <a:r>
              <a:rPr lang="en-US" sz="800" kern="0" spc="200" dirty="0">
                <a:solidFill>
                  <a:srgbClr val="FFFFFF"/>
                </a:solidFill>
              </a:rPr>
              <a:t>02  ·  OUR APPROACH</a:t>
            </a:r>
            <a:endParaRPr lang="en-US" sz="800" dirty="0"/>
          </a:p>
        </p:txBody>
      </p:sp>
      <p:sp>
        <p:nvSpPr>
          <p:cNvPr id="4" name="Text 2"/>
          <p:cNvSpPr/>
          <p:nvPr/>
        </p:nvSpPr>
        <p:spPr>
          <a:xfrm>
            <a:off x="365760" y="0"/>
            <a:ext cx="6400800" cy="64008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Our Approach</a:t>
            </a:r>
            <a:endParaRPr lang="en-US" sz="1800" dirty="0"/>
          </a:p>
        </p:txBody>
      </p:sp>
      <p:sp>
        <p:nvSpPr>
          <p:cNvPr id="5" name="Text 3"/>
          <p:cNvSpPr/>
          <p:nvPr/>
        </p:nvSpPr>
        <p:spPr>
          <a:xfrm>
            <a:off x="320040" y="713232"/>
            <a:ext cx="8503920" cy="228600"/>
          </a:xfrm>
          <a:prstGeom prst="rect">
            <a:avLst/>
          </a:prstGeom>
          <a:noFill/>
          <a:ln/>
        </p:spPr>
        <p:txBody>
          <a:bodyPr wrap="square" lIns="0" tIns="0" rIns="0" bIns="0" rtlCol="0" anchor="ctr"/>
          <a:lstStyle/>
          <a:p>
            <a:pPr marL="0" indent="0">
              <a:buNone/>
            </a:pPr>
            <a:r>
              <a:rPr lang="en-US" sz="900" i="1" dirty="0">
                <a:solidFill>
                  <a:srgbClr val="8BA3B8"/>
                </a:solidFill>
              </a:rPr>
              <a:t>How we built an intelligent fraud-scoring engine — explained simply</a:t>
            </a:r>
            <a:endParaRPr lang="en-US" sz="900" dirty="0"/>
          </a:p>
        </p:txBody>
      </p:sp>
      <p:sp>
        <p:nvSpPr>
          <p:cNvPr id="6" name="Shape 4"/>
          <p:cNvSpPr/>
          <p:nvPr/>
        </p:nvSpPr>
        <p:spPr>
          <a:xfrm>
            <a:off x="320040" y="1005840"/>
            <a:ext cx="1920240" cy="3246120"/>
          </a:xfrm>
          <a:prstGeom prst="rect">
            <a:avLst/>
          </a:prstGeom>
          <a:solidFill>
            <a:srgbClr val="162A3D"/>
          </a:solidFill>
          <a:ln w="12700">
            <a:solidFill>
              <a:srgbClr val="2A9FC4"/>
            </a:solidFill>
            <a:prstDash val="solid"/>
          </a:ln>
          <a:effectLst>
            <a:outerShdw blurRad="127000" dist="38100" dir="8100000" algn="bl" rotWithShape="0">
              <a:srgbClr val="000000">
                <a:alpha val="28000"/>
              </a:srgbClr>
            </a:outerShdw>
          </a:effectLst>
        </p:spPr>
        <p:txBody>
          <a:bodyPr/>
          <a:lstStyle/>
          <a:p>
            <a:endParaRPr lang="en-US"/>
          </a:p>
        </p:txBody>
      </p:sp>
      <p:sp>
        <p:nvSpPr>
          <p:cNvPr id="7" name="Shape 5"/>
          <p:cNvSpPr/>
          <p:nvPr/>
        </p:nvSpPr>
        <p:spPr>
          <a:xfrm>
            <a:off x="320040" y="1005840"/>
            <a:ext cx="1920240" cy="64008"/>
          </a:xfrm>
          <a:prstGeom prst="rect">
            <a:avLst/>
          </a:prstGeom>
          <a:solidFill>
            <a:srgbClr val="2A9FC4"/>
          </a:solidFill>
          <a:ln w="12700">
            <a:solidFill>
              <a:srgbClr val="2A9FC4"/>
            </a:solidFill>
            <a:prstDash val="solid"/>
          </a:ln>
        </p:spPr>
        <p:txBody>
          <a:bodyPr/>
          <a:lstStyle/>
          <a:p>
            <a:endParaRPr lang="en-US"/>
          </a:p>
        </p:txBody>
      </p:sp>
      <p:sp>
        <p:nvSpPr>
          <p:cNvPr id="8" name="Shape 6"/>
          <p:cNvSpPr/>
          <p:nvPr/>
        </p:nvSpPr>
        <p:spPr>
          <a:xfrm>
            <a:off x="978408" y="1115568"/>
            <a:ext cx="603504" cy="603504"/>
          </a:xfrm>
          <a:prstGeom prst="ellipse">
            <a:avLst/>
          </a:prstGeom>
          <a:solidFill>
            <a:srgbClr val="2A9FC4"/>
          </a:solidFill>
          <a:ln w="12700">
            <a:solidFill>
              <a:srgbClr val="2A9FC4"/>
            </a:solidFill>
            <a:prstDash val="solid"/>
          </a:ln>
        </p:spPr>
        <p:txBody>
          <a:bodyPr/>
          <a:lstStyle/>
          <a:p>
            <a:endParaRPr lang="en-US"/>
          </a:p>
        </p:txBody>
      </p:sp>
      <p:sp>
        <p:nvSpPr>
          <p:cNvPr id="9" name="Text 7"/>
          <p:cNvSpPr/>
          <p:nvPr/>
        </p:nvSpPr>
        <p:spPr>
          <a:xfrm>
            <a:off x="978408" y="1115568"/>
            <a:ext cx="603504" cy="603504"/>
          </a:xfrm>
          <a:prstGeom prst="rect">
            <a:avLst/>
          </a:prstGeom>
          <a:noFill/>
          <a:ln/>
        </p:spPr>
        <p:txBody>
          <a:bodyPr wrap="square" lIns="0" tIns="0" rIns="0" bIns="0" rtlCol="0" anchor="ctr"/>
          <a:lstStyle/>
          <a:p>
            <a:pPr marL="0" indent="0" algn="ctr">
              <a:buNone/>
            </a:pPr>
            <a:r>
              <a:rPr lang="en-US" sz="1800" b="1" dirty="0">
                <a:solidFill>
                  <a:srgbClr val="0D1B2A"/>
                </a:solidFill>
              </a:rPr>
              <a:t>1</a:t>
            </a:r>
            <a:endParaRPr lang="en-US" sz="1800" dirty="0"/>
          </a:p>
        </p:txBody>
      </p:sp>
      <p:sp>
        <p:nvSpPr>
          <p:cNvPr id="10" name="Text 8"/>
          <p:cNvSpPr/>
          <p:nvPr/>
        </p:nvSpPr>
        <p:spPr>
          <a:xfrm>
            <a:off x="429768" y="1883664"/>
            <a:ext cx="17007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Collect &amp; Clean</a:t>
            </a:r>
            <a:endParaRPr lang="en-US" sz="1200" dirty="0"/>
          </a:p>
        </p:txBody>
      </p:sp>
      <p:sp>
        <p:nvSpPr>
          <p:cNvPr id="11" name="Text 9"/>
          <p:cNvSpPr/>
          <p:nvPr/>
        </p:nvSpPr>
        <p:spPr>
          <a:xfrm>
            <a:off x="457200" y="2240280"/>
            <a:ext cx="1645920" cy="1920240"/>
          </a:xfrm>
          <a:prstGeom prst="rect">
            <a:avLst/>
          </a:prstGeom>
          <a:noFill/>
          <a:ln/>
        </p:spPr>
        <p:txBody>
          <a:bodyPr wrap="square" lIns="0" tIns="0" rIns="0" bIns="0" rtlCol="0" anchor="ctr"/>
          <a:lstStyle/>
          <a:p>
            <a:pPr marL="0" indent="0">
              <a:buNone/>
            </a:pPr>
            <a:r>
              <a:rPr lang="en-US" sz="900" dirty="0">
                <a:solidFill>
                  <a:srgbClr val="E8EEF4"/>
                </a:solidFill>
              </a:rPr>
              <a:t>We gathered 284,807 real transactions — labelled fraud or legitimate — and cleaned them to remove noise and outliers.</a:t>
            </a:r>
            <a:endParaRPr lang="en-US" sz="900" dirty="0"/>
          </a:p>
        </p:txBody>
      </p:sp>
      <p:sp>
        <p:nvSpPr>
          <p:cNvPr id="12" name="Shape 10"/>
          <p:cNvSpPr/>
          <p:nvPr/>
        </p:nvSpPr>
        <p:spPr>
          <a:xfrm>
            <a:off x="2258568" y="1783080"/>
            <a:ext cx="237744" cy="0"/>
          </a:xfrm>
          <a:prstGeom prst="line">
            <a:avLst/>
          </a:prstGeom>
          <a:noFill/>
          <a:ln w="25400">
            <a:solidFill>
              <a:srgbClr val="2A9FC4"/>
            </a:solidFill>
            <a:prstDash val="solid"/>
          </a:ln>
        </p:spPr>
        <p:txBody>
          <a:bodyPr/>
          <a:lstStyle/>
          <a:p>
            <a:endParaRPr lang="en-US"/>
          </a:p>
        </p:txBody>
      </p:sp>
      <p:sp>
        <p:nvSpPr>
          <p:cNvPr id="13" name="Text 11"/>
          <p:cNvSpPr/>
          <p:nvPr/>
        </p:nvSpPr>
        <p:spPr>
          <a:xfrm>
            <a:off x="2368296" y="1691640"/>
            <a:ext cx="182880" cy="201168"/>
          </a:xfrm>
          <a:prstGeom prst="rect">
            <a:avLst/>
          </a:prstGeom>
          <a:noFill/>
          <a:ln/>
        </p:spPr>
        <p:txBody>
          <a:bodyPr wrap="square" lIns="0" tIns="0" rIns="0" bIns="0" rtlCol="0" anchor="ctr"/>
          <a:lstStyle/>
          <a:p>
            <a:pPr marL="0" indent="0">
              <a:buNone/>
            </a:pPr>
            <a:r>
              <a:rPr lang="en-US" sz="1000" dirty="0">
                <a:solidFill>
                  <a:srgbClr val="2A9FC4"/>
                </a:solidFill>
              </a:rPr>
              <a:t>▶</a:t>
            </a:r>
            <a:endParaRPr lang="en-US" sz="1000" dirty="0"/>
          </a:p>
        </p:txBody>
      </p:sp>
      <p:sp>
        <p:nvSpPr>
          <p:cNvPr id="14" name="Shape 12"/>
          <p:cNvSpPr/>
          <p:nvPr/>
        </p:nvSpPr>
        <p:spPr>
          <a:xfrm>
            <a:off x="2423160" y="1005840"/>
            <a:ext cx="1920240" cy="3246120"/>
          </a:xfrm>
          <a:prstGeom prst="rect">
            <a:avLst/>
          </a:prstGeom>
          <a:solidFill>
            <a:srgbClr val="162A3D"/>
          </a:solidFill>
          <a:ln w="12700">
            <a:solidFill>
              <a:srgbClr val="1C9E6E"/>
            </a:solidFill>
            <a:prstDash val="solid"/>
          </a:ln>
          <a:effectLst>
            <a:outerShdw blurRad="127000" dist="38100" dir="8100000" algn="bl" rotWithShape="0">
              <a:srgbClr val="000000">
                <a:alpha val="28000"/>
              </a:srgbClr>
            </a:outerShdw>
          </a:effectLst>
        </p:spPr>
        <p:txBody>
          <a:bodyPr/>
          <a:lstStyle/>
          <a:p>
            <a:endParaRPr lang="en-US"/>
          </a:p>
        </p:txBody>
      </p:sp>
      <p:sp>
        <p:nvSpPr>
          <p:cNvPr id="15" name="Shape 13"/>
          <p:cNvSpPr/>
          <p:nvPr/>
        </p:nvSpPr>
        <p:spPr>
          <a:xfrm>
            <a:off x="2423160" y="1005840"/>
            <a:ext cx="1920240" cy="64008"/>
          </a:xfrm>
          <a:prstGeom prst="rect">
            <a:avLst/>
          </a:prstGeom>
          <a:solidFill>
            <a:srgbClr val="1C9E6E"/>
          </a:solidFill>
          <a:ln w="12700">
            <a:solidFill>
              <a:srgbClr val="1C9E6E"/>
            </a:solidFill>
            <a:prstDash val="solid"/>
          </a:ln>
        </p:spPr>
        <p:txBody>
          <a:bodyPr/>
          <a:lstStyle/>
          <a:p>
            <a:endParaRPr lang="en-US"/>
          </a:p>
        </p:txBody>
      </p:sp>
      <p:sp>
        <p:nvSpPr>
          <p:cNvPr id="16" name="Shape 14"/>
          <p:cNvSpPr/>
          <p:nvPr/>
        </p:nvSpPr>
        <p:spPr>
          <a:xfrm>
            <a:off x="3081528" y="1115568"/>
            <a:ext cx="603504" cy="603504"/>
          </a:xfrm>
          <a:prstGeom prst="ellipse">
            <a:avLst/>
          </a:prstGeom>
          <a:solidFill>
            <a:srgbClr val="1C9E6E"/>
          </a:solidFill>
          <a:ln w="12700">
            <a:solidFill>
              <a:srgbClr val="1C9E6E"/>
            </a:solidFill>
            <a:prstDash val="solid"/>
          </a:ln>
        </p:spPr>
        <p:txBody>
          <a:bodyPr/>
          <a:lstStyle/>
          <a:p>
            <a:endParaRPr lang="en-US"/>
          </a:p>
        </p:txBody>
      </p:sp>
      <p:sp>
        <p:nvSpPr>
          <p:cNvPr id="17" name="Text 15"/>
          <p:cNvSpPr/>
          <p:nvPr/>
        </p:nvSpPr>
        <p:spPr>
          <a:xfrm>
            <a:off x="3081528" y="1115568"/>
            <a:ext cx="603504" cy="603504"/>
          </a:xfrm>
          <a:prstGeom prst="rect">
            <a:avLst/>
          </a:prstGeom>
          <a:noFill/>
          <a:ln/>
        </p:spPr>
        <p:txBody>
          <a:bodyPr wrap="square" lIns="0" tIns="0" rIns="0" bIns="0" rtlCol="0" anchor="ctr"/>
          <a:lstStyle/>
          <a:p>
            <a:pPr marL="0" indent="0" algn="ctr">
              <a:buNone/>
            </a:pPr>
            <a:r>
              <a:rPr lang="en-US" sz="1800" b="1" dirty="0">
                <a:solidFill>
                  <a:srgbClr val="0D1B2A"/>
                </a:solidFill>
              </a:rPr>
              <a:t>2</a:t>
            </a:r>
            <a:endParaRPr lang="en-US" sz="1800" dirty="0"/>
          </a:p>
        </p:txBody>
      </p:sp>
      <p:sp>
        <p:nvSpPr>
          <p:cNvPr id="18" name="Text 16"/>
          <p:cNvSpPr/>
          <p:nvPr/>
        </p:nvSpPr>
        <p:spPr>
          <a:xfrm>
            <a:off x="2532888" y="1883664"/>
            <a:ext cx="17007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Find the Patterns</a:t>
            </a:r>
            <a:endParaRPr lang="en-US" sz="1200" dirty="0"/>
          </a:p>
        </p:txBody>
      </p:sp>
      <p:sp>
        <p:nvSpPr>
          <p:cNvPr id="19" name="Text 17"/>
          <p:cNvSpPr/>
          <p:nvPr/>
        </p:nvSpPr>
        <p:spPr>
          <a:xfrm>
            <a:off x="2560320" y="2240280"/>
            <a:ext cx="1645920" cy="1920240"/>
          </a:xfrm>
          <a:prstGeom prst="rect">
            <a:avLst/>
          </a:prstGeom>
          <a:noFill/>
          <a:ln/>
        </p:spPr>
        <p:txBody>
          <a:bodyPr wrap="square" lIns="0" tIns="0" rIns="0" bIns="0" rtlCol="0" anchor="ctr"/>
          <a:lstStyle/>
          <a:p>
            <a:pPr marL="0" indent="0">
              <a:buNone/>
            </a:pPr>
            <a:r>
              <a:rPr lang="en-US" sz="900" dirty="0">
                <a:solidFill>
                  <a:srgbClr val="E8EEF4"/>
                </a:solidFill>
              </a:rPr>
              <a:t>We analysed which transaction characteristics differ most between fraud and legitimate payments — amount, timing, and behavioural signals.</a:t>
            </a:r>
            <a:endParaRPr lang="en-US" sz="900" dirty="0"/>
          </a:p>
        </p:txBody>
      </p:sp>
      <p:sp>
        <p:nvSpPr>
          <p:cNvPr id="20" name="Shape 18"/>
          <p:cNvSpPr/>
          <p:nvPr/>
        </p:nvSpPr>
        <p:spPr>
          <a:xfrm>
            <a:off x="4361688" y="1783080"/>
            <a:ext cx="237744" cy="0"/>
          </a:xfrm>
          <a:prstGeom prst="line">
            <a:avLst/>
          </a:prstGeom>
          <a:noFill/>
          <a:ln w="25400">
            <a:solidFill>
              <a:srgbClr val="2A9FC4"/>
            </a:solidFill>
            <a:prstDash val="solid"/>
          </a:ln>
        </p:spPr>
        <p:txBody>
          <a:bodyPr/>
          <a:lstStyle/>
          <a:p>
            <a:endParaRPr lang="en-US"/>
          </a:p>
        </p:txBody>
      </p:sp>
      <p:sp>
        <p:nvSpPr>
          <p:cNvPr id="21" name="Text 19"/>
          <p:cNvSpPr/>
          <p:nvPr/>
        </p:nvSpPr>
        <p:spPr>
          <a:xfrm>
            <a:off x="4471416" y="1691640"/>
            <a:ext cx="182880" cy="201168"/>
          </a:xfrm>
          <a:prstGeom prst="rect">
            <a:avLst/>
          </a:prstGeom>
          <a:noFill/>
          <a:ln/>
        </p:spPr>
        <p:txBody>
          <a:bodyPr wrap="square" lIns="0" tIns="0" rIns="0" bIns="0" rtlCol="0" anchor="ctr"/>
          <a:lstStyle/>
          <a:p>
            <a:pPr marL="0" indent="0">
              <a:buNone/>
            </a:pPr>
            <a:r>
              <a:rPr lang="en-US" sz="1000" dirty="0">
                <a:solidFill>
                  <a:srgbClr val="2A9FC4"/>
                </a:solidFill>
              </a:rPr>
              <a:t>▶</a:t>
            </a:r>
            <a:endParaRPr lang="en-US" sz="1000" dirty="0"/>
          </a:p>
        </p:txBody>
      </p:sp>
      <p:sp>
        <p:nvSpPr>
          <p:cNvPr id="22" name="Shape 20"/>
          <p:cNvSpPr/>
          <p:nvPr/>
        </p:nvSpPr>
        <p:spPr>
          <a:xfrm>
            <a:off x="4526280" y="1005840"/>
            <a:ext cx="1920240" cy="3246120"/>
          </a:xfrm>
          <a:prstGeom prst="rect">
            <a:avLst/>
          </a:prstGeom>
          <a:solidFill>
            <a:srgbClr val="162A3D"/>
          </a:solidFill>
          <a:ln w="12700">
            <a:solidFill>
              <a:srgbClr val="E67E22"/>
            </a:solidFill>
            <a:prstDash val="solid"/>
          </a:ln>
          <a:effectLst>
            <a:outerShdw blurRad="127000" dist="38100" dir="8100000" algn="bl" rotWithShape="0">
              <a:srgbClr val="000000">
                <a:alpha val="28000"/>
              </a:srgbClr>
            </a:outerShdw>
          </a:effectLst>
        </p:spPr>
        <p:txBody>
          <a:bodyPr/>
          <a:lstStyle/>
          <a:p>
            <a:endParaRPr lang="en-US"/>
          </a:p>
        </p:txBody>
      </p:sp>
      <p:sp>
        <p:nvSpPr>
          <p:cNvPr id="23" name="Shape 21"/>
          <p:cNvSpPr/>
          <p:nvPr/>
        </p:nvSpPr>
        <p:spPr>
          <a:xfrm>
            <a:off x="4526280" y="1005840"/>
            <a:ext cx="1920240" cy="64008"/>
          </a:xfrm>
          <a:prstGeom prst="rect">
            <a:avLst/>
          </a:prstGeom>
          <a:solidFill>
            <a:srgbClr val="E67E22"/>
          </a:solidFill>
          <a:ln w="12700">
            <a:solidFill>
              <a:srgbClr val="E67E22"/>
            </a:solidFill>
            <a:prstDash val="solid"/>
          </a:ln>
        </p:spPr>
        <p:txBody>
          <a:bodyPr/>
          <a:lstStyle/>
          <a:p>
            <a:endParaRPr lang="en-US"/>
          </a:p>
        </p:txBody>
      </p:sp>
      <p:sp>
        <p:nvSpPr>
          <p:cNvPr id="24" name="Shape 22"/>
          <p:cNvSpPr/>
          <p:nvPr/>
        </p:nvSpPr>
        <p:spPr>
          <a:xfrm>
            <a:off x="5184648" y="1115568"/>
            <a:ext cx="603504" cy="603504"/>
          </a:xfrm>
          <a:prstGeom prst="ellipse">
            <a:avLst/>
          </a:prstGeom>
          <a:solidFill>
            <a:srgbClr val="E67E22"/>
          </a:solidFill>
          <a:ln w="12700">
            <a:solidFill>
              <a:srgbClr val="E67E22"/>
            </a:solidFill>
            <a:prstDash val="solid"/>
          </a:ln>
        </p:spPr>
        <p:txBody>
          <a:bodyPr/>
          <a:lstStyle/>
          <a:p>
            <a:endParaRPr lang="en-US"/>
          </a:p>
        </p:txBody>
      </p:sp>
      <p:sp>
        <p:nvSpPr>
          <p:cNvPr id="25" name="Text 23"/>
          <p:cNvSpPr/>
          <p:nvPr/>
        </p:nvSpPr>
        <p:spPr>
          <a:xfrm>
            <a:off x="5184648" y="1115568"/>
            <a:ext cx="603504" cy="603504"/>
          </a:xfrm>
          <a:prstGeom prst="rect">
            <a:avLst/>
          </a:prstGeom>
          <a:noFill/>
          <a:ln/>
        </p:spPr>
        <p:txBody>
          <a:bodyPr wrap="square" lIns="0" tIns="0" rIns="0" bIns="0" rtlCol="0" anchor="ctr"/>
          <a:lstStyle/>
          <a:p>
            <a:pPr marL="0" indent="0" algn="ctr">
              <a:buNone/>
            </a:pPr>
            <a:r>
              <a:rPr lang="en-US" sz="1800" b="1" dirty="0">
                <a:solidFill>
                  <a:srgbClr val="0D1B2A"/>
                </a:solidFill>
              </a:rPr>
              <a:t>3</a:t>
            </a:r>
            <a:endParaRPr lang="en-US" sz="1800" dirty="0"/>
          </a:p>
        </p:txBody>
      </p:sp>
      <p:sp>
        <p:nvSpPr>
          <p:cNvPr id="26" name="Text 24"/>
          <p:cNvSpPr/>
          <p:nvPr/>
        </p:nvSpPr>
        <p:spPr>
          <a:xfrm>
            <a:off x="4636008" y="1883664"/>
            <a:ext cx="17007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Train the Model</a:t>
            </a:r>
            <a:endParaRPr lang="en-US" sz="1200" dirty="0"/>
          </a:p>
        </p:txBody>
      </p:sp>
      <p:sp>
        <p:nvSpPr>
          <p:cNvPr id="27" name="Text 25"/>
          <p:cNvSpPr/>
          <p:nvPr/>
        </p:nvSpPr>
        <p:spPr>
          <a:xfrm>
            <a:off x="4663440" y="2240280"/>
            <a:ext cx="1645920" cy="1920240"/>
          </a:xfrm>
          <a:prstGeom prst="rect">
            <a:avLst/>
          </a:prstGeom>
          <a:noFill/>
          <a:ln/>
        </p:spPr>
        <p:txBody>
          <a:bodyPr wrap="square" lIns="0" tIns="0" rIns="0" bIns="0" rtlCol="0" anchor="ctr"/>
          <a:lstStyle/>
          <a:p>
            <a:pPr marL="0" indent="0">
              <a:buNone/>
            </a:pPr>
            <a:r>
              <a:rPr lang="en-US" sz="900" dirty="0">
                <a:solidFill>
                  <a:srgbClr val="E8EEF4"/>
                </a:solidFill>
              </a:rPr>
              <a:t>We tested four AI models on historical data. The best one — XGBoost — learned to assign a fraud risk score to every transaction automatically.</a:t>
            </a:r>
            <a:endParaRPr lang="en-US" sz="900" dirty="0"/>
          </a:p>
        </p:txBody>
      </p:sp>
      <p:sp>
        <p:nvSpPr>
          <p:cNvPr id="28" name="Shape 26"/>
          <p:cNvSpPr/>
          <p:nvPr/>
        </p:nvSpPr>
        <p:spPr>
          <a:xfrm>
            <a:off x="6464808" y="1783080"/>
            <a:ext cx="237744" cy="0"/>
          </a:xfrm>
          <a:prstGeom prst="line">
            <a:avLst/>
          </a:prstGeom>
          <a:noFill/>
          <a:ln w="25400">
            <a:solidFill>
              <a:srgbClr val="2A9FC4"/>
            </a:solidFill>
            <a:prstDash val="solid"/>
          </a:ln>
        </p:spPr>
        <p:txBody>
          <a:bodyPr/>
          <a:lstStyle/>
          <a:p>
            <a:endParaRPr lang="en-US"/>
          </a:p>
        </p:txBody>
      </p:sp>
      <p:sp>
        <p:nvSpPr>
          <p:cNvPr id="29" name="Text 27"/>
          <p:cNvSpPr/>
          <p:nvPr/>
        </p:nvSpPr>
        <p:spPr>
          <a:xfrm>
            <a:off x="6574536" y="1691640"/>
            <a:ext cx="182880" cy="201168"/>
          </a:xfrm>
          <a:prstGeom prst="rect">
            <a:avLst/>
          </a:prstGeom>
          <a:noFill/>
          <a:ln/>
        </p:spPr>
        <p:txBody>
          <a:bodyPr wrap="square" lIns="0" tIns="0" rIns="0" bIns="0" rtlCol="0" anchor="ctr"/>
          <a:lstStyle/>
          <a:p>
            <a:pPr marL="0" indent="0">
              <a:buNone/>
            </a:pPr>
            <a:r>
              <a:rPr lang="en-US" sz="1000" dirty="0">
                <a:solidFill>
                  <a:srgbClr val="2A9FC4"/>
                </a:solidFill>
              </a:rPr>
              <a:t>▶</a:t>
            </a:r>
            <a:endParaRPr lang="en-US" sz="1000" dirty="0"/>
          </a:p>
        </p:txBody>
      </p:sp>
      <p:sp>
        <p:nvSpPr>
          <p:cNvPr id="30" name="Shape 28"/>
          <p:cNvSpPr/>
          <p:nvPr/>
        </p:nvSpPr>
        <p:spPr>
          <a:xfrm>
            <a:off x="6629400" y="1005840"/>
            <a:ext cx="1920240" cy="3246120"/>
          </a:xfrm>
          <a:prstGeom prst="rect">
            <a:avLst/>
          </a:prstGeom>
          <a:solidFill>
            <a:srgbClr val="162A3D"/>
          </a:solidFill>
          <a:ln w="12700">
            <a:solidFill>
              <a:srgbClr val="F0C040"/>
            </a:solidFill>
            <a:prstDash val="solid"/>
          </a:ln>
          <a:effectLst>
            <a:outerShdw blurRad="127000" dist="38100" dir="8100000" algn="bl" rotWithShape="0">
              <a:srgbClr val="000000">
                <a:alpha val="28000"/>
              </a:srgbClr>
            </a:outerShdw>
          </a:effectLst>
        </p:spPr>
        <p:txBody>
          <a:bodyPr/>
          <a:lstStyle/>
          <a:p>
            <a:endParaRPr lang="en-US"/>
          </a:p>
        </p:txBody>
      </p:sp>
      <p:sp>
        <p:nvSpPr>
          <p:cNvPr id="31" name="Shape 29"/>
          <p:cNvSpPr/>
          <p:nvPr/>
        </p:nvSpPr>
        <p:spPr>
          <a:xfrm>
            <a:off x="6629400" y="1005840"/>
            <a:ext cx="1920240" cy="64008"/>
          </a:xfrm>
          <a:prstGeom prst="rect">
            <a:avLst/>
          </a:prstGeom>
          <a:solidFill>
            <a:srgbClr val="F0C040"/>
          </a:solidFill>
          <a:ln w="12700">
            <a:solidFill>
              <a:srgbClr val="F0C040"/>
            </a:solidFill>
            <a:prstDash val="solid"/>
          </a:ln>
        </p:spPr>
        <p:txBody>
          <a:bodyPr/>
          <a:lstStyle/>
          <a:p>
            <a:endParaRPr lang="en-US"/>
          </a:p>
        </p:txBody>
      </p:sp>
      <p:sp>
        <p:nvSpPr>
          <p:cNvPr id="32" name="Shape 30"/>
          <p:cNvSpPr/>
          <p:nvPr/>
        </p:nvSpPr>
        <p:spPr>
          <a:xfrm>
            <a:off x="7287768" y="1115568"/>
            <a:ext cx="603504" cy="603504"/>
          </a:xfrm>
          <a:prstGeom prst="ellipse">
            <a:avLst/>
          </a:prstGeom>
          <a:solidFill>
            <a:srgbClr val="F0C040"/>
          </a:solidFill>
          <a:ln w="12700">
            <a:solidFill>
              <a:srgbClr val="F0C040"/>
            </a:solidFill>
            <a:prstDash val="solid"/>
          </a:ln>
        </p:spPr>
        <p:txBody>
          <a:bodyPr/>
          <a:lstStyle/>
          <a:p>
            <a:endParaRPr lang="en-US"/>
          </a:p>
        </p:txBody>
      </p:sp>
      <p:sp>
        <p:nvSpPr>
          <p:cNvPr id="33" name="Text 31"/>
          <p:cNvSpPr/>
          <p:nvPr/>
        </p:nvSpPr>
        <p:spPr>
          <a:xfrm>
            <a:off x="7287768" y="1115568"/>
            <a:ext cx="603504" cy="603504"/>
          </a:xfrm>
          <a:prstGeom prst="rect">
            <a:avLst/>
          </a:prstGeom>
          <a:noFill/>
          <a:ln/>
        </p:spPr>
        <p:txBody>
          <a:bodyPr wrap="square" lIns="0" tIns="0" rIns="0" bIns="0" rtlCol="0" anchor="ctr"/>
          <a:lstStyle/>
          <a:p>
            <a:pPr marL="0" indent="0" algn="ctr">
              <a:buNone/>
            </a:pPr>
            <a:r>
              <a:rPr lang="en-US" sz="1800" b="1" dirty="0">
                <a:solidFill>
                  <a:srgbClr val="0D1B2A"/>
                </a:solidFill>
              </a:rPr>
              <a:t>4</a:t>
            </a:r>
            <a:endParaRPr lang="en-US" sz="1800" dirty="0"/>
          </a:p>
        </p:txBody>
      </p:sp>
      <p:sp>
        <p:nvSpPr>
          <p:cNvPr id="34" name="Text 32"/>
          <p:cNvSpPr/>
          <p:nvPr/>
        </p:nvSpPr>
        <p:spPr>
          <a:xfrm>
            <a:off x="6739128" y="1883664"/>
            <a:ext cx="17007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Score &amp; Act</a:t>
            </a:r>
            <a:endParaRPr lang="en-US" sz="1200" dirty="0"/>
          </a:p>
        </p:txBody>
      </p:sp>
      <p:sp>
        <p:nvSpPr>
          <p:cNvPr id="35" name="Text 33"/>
          <p:cNvSpPr/>
          <p:nvPr/>
        </p:nvSpPr>
        <p:spPr>
          <a:xfrm>
            <a:off x="6766560" y="2240280"/>
            <a:ext cx="1645920" cy="1920240"/>
          </a:xfrm>
          <a:prstGeom prst="rect">
            <a:avLst/>
          </a:prstGeom>
          <a:noFill/>
          <a:ln/>
        </p:spPr>
        <p:txBody>
          <a:bodyPr wrap="square" lIns="0" tIns="0" rIns="0" bIns="0" rtlCol="0" anchor="ctr"/>
          <a:lstStyle/>
          <a:p>
            <a:pPr marL="0" indent="0">
              <a:buNone/>
            </a:pPr>
            <a:r>
              <a:rPr lang="en-US" sz="900" dirty="0">
                <a:solidFill>
                  <a:srgbClr val="E8EEF4"/>
                </a:solidFill>
              </a:rPr>
              <a:t>Every transaction gets a risk score (0–100%). The bank sets a threshold: above it, flag or decline; below it, approve instantly.</a:t>
            </a:r>
            <a:endParaRPr lang="en-US" sz="900" dirty="0"/>
          </a:p>
        </p:txBody>
      </p:sp>
      <p:sp>
        <p:nvSpPr>
          <p:cNvPr id="36" name="Shape 34"/>
          <p:cNvSpPr/>
          <p:nvPr/>
        </p:nvSpPr>
        <p:spPr>
          <a:xfrm>
            <a:off x="320040" y="4343400"/>
            <a:ext cx="8503920" cy="457200"/>
          </a:xfrm>
          <a:prstGeom prst="rect">
            <a:avLst/>
          </a:prstGeom>
          <a:solidFill>
            <a:srgbClr val="112233"/>
          </a:solidFill>
          <a:ln w="9525">
            <a:solidFill>
              <a:srgbClr val="1C7293"/>
            </a:solidFill>
            <a:prstDash val="solid"/>
          </a:ln>
        </p:spPr>
        <p:txBody>
          <a:bodyPr/>
          <a:lstStyle/>
          <a:p>
            <a:endParaRPr lang="en-US"/>
          </a:p>
        </p:txBody>
      </p:sp>
      <p:sp>
        <p:nvSpPr>
          <p:cNvPr id="37" name="Text 35"/>
          <p:cNvSpPr/>
          <p:nvPr/>
        </p:nvSpPr>
        <p:spPr>
          <a:xfrm>
            <a:off x="502920" y="4370832"/>
            <a:ext cx="8229600" cy="402336"/>
          </a:xfrm>
          <a:prstGeom prst="rect">
            <a:avLst/>
          </a:prstGeom>
          <a:noFill/>
          <a:ln/>
        </p:spPr>
        <p:txBody>
          <a:bodyPr wrap="square" lIns="0" tIns="0" rIns="0" bIns="0" rtlCol="0" anchor="ctr"/>
          <a:lstStyle/>
          <a:p>
            <a:pPr marL="0" indent="0">
              <a:buNone/>
            </a:pPr>
            <a:r>
              <a:rPr lang="en-US" sz="900" dirty="0">
                <a:solidFill>
                  <a:srgbClr val="E8EEF4"/>
                </a:solidFill>
              </a:rPr>
              <a:t>✔  No customer data changes required   ✔  Works alongside existing rules   ✔  Decisions remain with your team — the model advises, people decide</a:t>
            </a:r>
            <a:endParaRPr lang="en-US" sz="900" dirty="0"/>
          </a:p>
        </p:txBody>
      </p:sp>
      <p:sp>
        <p:nvSpPr>
          <p:cNvPr id="38" name="Shape 36"/>
          <p:cNvSpPr/>
          <p:nvPr/>
        </p:nvSpPr>
        <p:spPr>
          <a:xfrm>
            <a:off x="0" y="4892040"/>
            <a:ext cx="9144000" cy="251460"/>
          </a:xfrm>
          <a:prstGeom prst="rect">
            <a:avLst/>
          </a:prstGeom>
          <a:solidFill>
            <a:srgbClr val="112233"/>
          </a:solidFill>
          <a:ln w="12700">
            <a:solidFill>
              <a:srgbClr val="112233"/>
            </a:solidFill>
            <a:prstDash val="solid"/>
          </a:ln>
        </p:spPr>
        <p:txBody>
          <a:bodyPr/>
          <a:lstStyle/>
          <a:p>
            <a:endParaRPr lang="en-US"/>
          </a:p>
        </p:txBody>
      </p:sp>
      <p:sp>
        <p:nvSpPr>
          <p:cNvPr id="39" name="Text 37"/>
          <p:cNvSpPr/>
          <p:nvPr/>
        </p:nvSpPr>
        <p:spPr>
          <a:xfrm>
            <a:off x="365760" y="4892040"/>
            <a:ext cx="8412480" cy="251460"/>
          </a:xfrm>
          <a:prstGeom prst="rect">
            <a:avLst/>
          </a:prstGeom>
          <a:noFill/>
          <a:ln/>
        </p:spPr>
        <p:txBody>
          <a:bodyPr wrap="square" lIns="0" tIns="0" rIns="0" bIns="0" rtlCol="0" anchor="ctr"/>
          <a:lstStyle/>
          <a:p>
            <a:pPr marL="0" indent="0">
              <a:buNone/>
            </a:pPr>
            <a:r>
              <a:rPr lang="en-US" sz="750" dirty="0">
                <a:solidFill>
                  <a:srgbClr val="8BA3B8"/>
                </a:solidFill>
              </a:rPr>
              <a:t>Approach validated across 4 AI model types with 5-fold cross-validation on 284,807 transactions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0" y="0"/>
            <a:ext cx="8778240" cy="640080"/>
          </a:xfrm>
          <a:prstGeom prst="rect">
            <a:avLst/>
          </a:prstGeom>
          <a:noFill/>
          <a:ln/>
        </p:spPr>
        <p:txBody>
          <a:bodyPr wrap="square" lIns="0" tIns="0" rIns="0" bIns="0" rtlCol="0" anchor="ctr"/>
          <a:lstStyle/>
          <a:p>
            <a:pPr marL="0" indent="0" algn="r">
              <a:buNone/>
            </a:pPr>
            <a:r>
              <a:rPr lang="en-US" sz="800" kern="0" spc="200" dirty="0">
                <a:solidFill>
                  <a:srgbClr val="FFFFFF"/>
                </a:solidFill>
              </a:rPr>
              <a:t>03  ·  KEY FINDINGS</a:t>
            </a:r>
            <a:endParaRPr lang="en-US" sz="800" dirty="0"/>
          </a:p>
        </p:txBody>
      </p:sp>
      <p:sp>
        <p:nvSpPr>
          <p:cNvPr id="4" name="Text 2"/>
          <p:cNvSpPr/>
          <p:nvPr/>
        </p:nvSpPr>
        <p:spPr>
          <a:xfrm>
            <a:off x="365760" y="0"/>
            <a:ext cx="6400800" cy="64008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Key Findings</a:t>
            </a:r>
            <a:endParaRPr lang="en-US" sz="1800" dirty="0"/>
          </a:p>
        </p:txBody>
      </p:sp>
      <p:sp>
        <p:nvSpPr>
          <p:cNvPr id="5" name="Text 3"/>
          <p:cNvSpPr/>
          <p:nvPr/>
        </p:nvSpPr>
        <p:spPr>
          <a:xfrm>
            <a:off x="320040" y="713232"/>
            <a:ext cx="8503920" cy="228600"/>
          </a:xfrm>
          <a:prstGeom prst="rect">
            <a:avLst/>
          </a:prstGeom>
          <a:noFill/>
          <a:ln/>
        </p:spPr>
        <p:txBody>
          <a:bodyPr wrap="square" lIns="0" tIns="0" rIns="0" bIns="0" rtlCol="0" anchor="ctr"/>
          <a:lstStyle/>
          <a:p>
            <a:pPr marL="0" indent="0">
              <a:buNone/>
            </a:pPr>
            <a:r>
              <a:rPr lang="en-US" sz="900" i="1" dirty="0">
                <a:solidFill>
                  <a:srgbClr val="8BA3B8"/>
                </a:solidFill>
              </a:rPr>
              <a:t>What the data revealed — and what it means for the business</a:t>
            </a:r>
            <a:endParaRPr lang="en-US" sz="900" dirty="0"/>
          </a:p>
        </p:txBody>
      </p:sp>
      <p:sp>
        <p:nvSpPr>
          <p:cNvPr id="6" name="Shape 4"/>
          <p:cNvSpPr/>
          <p:nvPr/>
        </p:nvSpPr>
        <p:spPr>
          <a:xfrm>
            <a:off x="320040" y="1005840"/>
            <a:ext cx="4187952" cy="175564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7" name="Shape 5"/>
          <p:cNvSpPr/>
          <p:nvPr/>
        </p:nvSpPr>
        <p:spPr>
          <a:xfrm>
            <a:off x="320040" y="1005840"/>
            <a:ext cx="4187952" cy="54864"/>
          </a:xfrm>
          <a:prstGeom prst="rect">
            <a:avLst/>
          </a:prstGeom>
          <a:solidFill>
            <a:srgbClr val="C0392B"/>
          </a:solidFill>
          <a:ln w="12700">
            <a:solidFill>
              <a:srgbClr val="C0392B"/>
            </a:solidFill>
            <a:prstDash val="solid"/>
          </a:ln>
        </p:spPr>
        <p:txBody>
          <a:bodyPr/>
          <a:lstStyle/>
          <a:p>
            <a:endParaRPr lang="en-US"/>
          </a:p>
        </p:txBody>
      </p:sp>
      <p:sp>
        <p:nvSpPr>
          <p:cNvPr id="8" name="Shape 6"/>
          <p:cNvSpPr/>
          <p:nvPr/>
        </p:nvSpPr>
        <p:spPr>
          <a:xfrm>
            <a:off x="320040" y="1005840"/>
            <a:ext cx="64008" cy="1755648"/>
          </a:xfrm>
          <a:prstGeom prst="rect">
            <a:avLst/>
          </a:prstGeom>
          <a:solidFill>
            <a:srgbClr val="C0392B"/>
          </a:solidFill>
          <a:ln w="12700">
            <a:solidFill>
              <a:srgbClr val="C0392B"/>
            </a:solidFill>
            <a:prstDash val="solid"/>
          </a:ln>
        </p:spPr>
        <p:txBody>
          <a:bodyPr/>
          <a:lstStyle/>
          <a:p>
            <a:endParaRPr lang="en-US"/>
          </a:p>
        </p:txBody>
      </p:sp>
      <p:sp>
        <p:nvSpPr>
          <p:cNvPr id="9" name="Text 7"/>
          <p:cNvSpPr/>
          <p:nvPr/>
        </p:nvSpPr>
        <p:spPr>
          <a:xfrm>
            <a:off x="484632" y="1097280"/>
            <a:ext cx="3950208" cy="274320"/>
          </a:xfrm>
          <a:prstGeom prst="rect">
            <a:avLst/>
          </a:prstGeom>
          <a:noFill/>
          <a:ln/>
        </p:spPr>
        <p:txBody>
          <a:bodyPr wrap="square" lIns="0" tIns="0" rIns="0" bIns="0" rtlCol="0" anchor="ctr"/>
          <a:lstStyle/>
          <a:p>
            <a:pPr marL="0" indent="0">
              <a:buNone/>
            </a:pPr>
            <a:r>
              <a:rPr lang="en-US" sz="1000" b="1" dirty="0">
                <a:solidFill>
                  <a:srgbClr val="FFFFFF"/>
                </a:solidFill>
              </a:rPr>
              <a:t>Fraud is extremely rare — and that's what makes it hard</a:t>
            </a:r>
            <a:endParaRPr lang="en-US" sz="1000" dirty="0"/>
          </a:p>
        </p:txBody>
      </p:sp>
      <p:sp>
        <p:nvSpPr>
          <p:cNvPr id="10" name="Text 8"/>
          <p:cNvSpPr/>
          <p:nvPr/>
        </p:nvSpPr>
        <p:spPr>
          <a:xfrm>
            <a:off x="484632" y="1417320"/>
            <a:ext cx="3950208" cy="566928"/>
          </a:xfrm>
          <a:prstGeom prst="rect">
            <a:avLst/>
          </a:prstGeom>
          <a:noFill/>
          <a:ln/>
        </p:spPr>
        <p:txBody>
          <a:bodyPr wrap="square" lIns="0" tIns="0" rIns="0" bIns="0" rtlCol="0" anchor="ctr"/>
          <a:lstStyle/>
          <a:p>
            <a:pPr marL="0" indent="0">
              <a:buNone/>
            </a:pPr>
            <a:r>
              <a:rPr lang="en-US" sz="850" dirty="0">
                <a:solidFill>
                  <a:srgbClr val="E8EEF4"/>
                </a:solidFill>
              </a:rPr>
              <a:t>Only 1 in every 577 transactions is fraudulent. Traditional systems that flag broadly end up drowning analysts in false alarms.</a:t>
            </a:r>
            <a:endParaRPr lang="en-US" sz="850" dirty="0"/>
          </a:p>
        </p:txBody>
      </p:sp>
      <p:sp>
        <p:nvSpPr>
          <p:cNvPr id="11" name="Shape 9"/>
          <p:cNvSpPr/>
          <p:nvPr/>
        </p:nvSpPr>
        <p:spPr>
          <a:xfrm>
            <a:off x="411480" y="2011680"/>
            <a:ext cx="4023360" cy="676656"/>
          </a:xfrm>
          <a:prstGeom prst="rect">
            <a:avLst/>
          </a:prstGeom>
          <a:solidFill>
            <a:srgbClr val="C0392B">
              <a:alpha val="15000"/>
            </a:srgbClr>
          </a:solidFill>
          <a:ln w="6350">
            <a:solidFill>
              <a:srgbClr val="C0392B"/>
            </a:solidFill>
            <a:prstDash val="solid"/>
          </a:ln>
        </p:spPr>
        <p:txBody>
          <a:bodyPr/>
          <a:lstStyle/>
          <a:p>
            <a:endParaRPr lang="en-US"/>
          </a:p>
        </p:txBody>
      </p:sp>
      <p:sp>
        <p:nvSpPr>
          <p:cNvPr id="12" name="Text 10"/>
          <p:cNvSpPr/>
          <p:nvPr/>
        </p:nvSpPr>
        <p:spPr>
          <a:xfrm>
            <a:off x="484632" y="2048256"/>
            <a:ext cx="3950208" cy="164592"/>
          </a:xfrm>
          <a:prstGeom prst="rect">
            <a:avLst/>
          </a:prstGeom>
          <a:noFill/>
          <a:ln/>
        </p:spPr>
        <p:txBody>
          <a:bodyPr wrap="square" lIns="0" tIns="0" rIns="0" bIns="0" rtlCol="0" anchor="ctr"/>
          <a:lstStyle/>
          <a:p>
            <a:pPr marL="0" indent="0">
              <a:buNone/>
            </a:pPr>
            <a:r>
              <a:rPr lang="en-US" sz="700" b="1" kern="0" spc="100" dirty="0">
                <a:solidFill>
                  <a:srgbClr val="C0392B"/>
                </a:solidFill>
              </a:rPr>
              <a:t>WHAT THIS MEANS  ▸</a:t>
            </a:r>
            <a:endParaRPr lang="en-US" sz="700" dirty="0"/>
          </a:p>
        </p:txBody>
      </p:sp>
      <p:sp>
        <p:nvSpPr>
          <p:cNvPr id="13" name="Text 11"/>
          <p:cNvSpPr/>
          <p:nvPr/>
        </p:nvSpPr>
        <p:spPr>
          <a:xfrm>
            <a:off x="484632" y="2212848"/>
            <a:ext cx="3950208" cy="420624"/>
          </a:xfrm>
          <a:prstGeom prst="rect">
            <a:avLst/>
          </a:prstGeom>
          <a:noFill/>
          <a:ln/>
        </p:spPr>
        <p:txBody>
          <a:bodyPr wrap="square" lIns="0" tIns="0" rIns="0" bIns="0" rtlCol="0" anchor="ctr"/>
          <a:lstStyle/>
          <a:p>
            <a:pPr marL="0" indent="0">
              <a:buNone/>
            </a:pPr>
            <a:r>
              <a:rPr lang="en-US" sz="850" dirty="0">
                <a:solidFill>
                  <a:srgbClr val="FFFFFF"/>
                </a:solidFill>
              </a:rPr>
              <a:t>Our model learns to target only the most suspicious transactions, dramatically reducing unnecessary alerts.</a:t>
            </a:r>
            <a:endParaRPr lang="en-US" sz="850" dirty="0"/>
          </a:p>
        </p:txBody>
      </p:sp>
      <p:sp>
        <p:nvSpPr>
          <p:cNvPr id="14" name="Shape 12"/>
          <p:cNvSpPr/>
          <p:nvPr/>
        </p:nvSpPr>
        <p:spPr>
          <a:xfrm>
            <a:off x="320040" y="2926080"/>
            <a:ext cx="4187952" cy="175564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15" name="Shape 13"/>
          <p:cNvSpPr/>
          <p:nvPr/>
        </p:nvSpPr>
        <p:spPr>
          <a:xfrm>
            <a:off x="320040" y="2926080"/>
            <a:ext cx="4187952" cy="54864"/>
          </a:xfrm>
          <a:prstGeom prst="rect">
            <a:avLst/>
          </a:prstGeom>
          <a:solidFill>
            <a:srgbClr val="E67E22"/>
          </a:solidFill>
          <a:ln w="12700">
            <a:solidFill>
              <a:srgbClr val="E67E22"/>
            </a:solidFill>
            <a:prstDash val="solid"/>
          </a:ln>
        </p:spPr>
        <p:txBody>
          <a:bodyPr/>
          <a:lstStyle/>
          <a:p>
            <a:endParaRPr lang="en-US"/>
          </a:p>
        </p:txBody>
      </p:sp>
      <p:sp>
        <p:nvSpPr>
          <p:cNvPr id="16" name="Shape 14"/>
          <p:cNvSpPr/>
          <p:nvPr/>
        </p:nvSpPr>
        <p:spPr>
          <a:xfrm>
            <a:off x="320040" y="2926080"/>
            <a:ext cx="64008" cy="1755648"/>
          </a:xfrm>
          <a:prstGeom prst="rect">
            <a:avLst/>
          </a:prstGeom>
          <a:solidFill>
            <a:srgbClr val="E67E22"/>
          </a:solidFill>
          <a:ln w="12700">
            <a:solidFill>
              <a:srgbClr val="E67E22"/>
            </a:solidFill>
            <a:prstDash val="solid"/>
          </a:ln>
        </p:spPr>
        <p:txBody>
          <a:bodyPr/>
          <a:lstStyle/>
          <a:p>
            <a:endParaRPr lang="en-US"/>
          </a:p>
        </p:txBody>
      </p:sp>
      <p:sp>
        <p:nvSpPr>
          <p:cNvPr id="17" name="Text 15"/>
          <p:cNvSpPr/>
          <p:nvPr/>
        </p:nvSpPr>
        <p:spPr>
          <a:xfrm>
            <a:off x="484632" y="3017520"/>
            <a:ext cx="3950208" cy="274320"/>
          </a:xfrm>
          <a:prstGeom prst="rect">
            <a:avLst/>
          </a:prstGeom>
          <a:noFill/>
          <a:ln/>
        </p:spPr>
        <p:txBody>
          <a:bodyPr wrap="square" lIns="0" tIns="0" rIns="0" bIns="0" rtlCol="0" anchor="ctr"/>
          <a:lstStyle/>
          <a:p>
            <a:pPr marL="0" indent="0">
              <a:buNone/>
            </a:pPr>
            <a:r>
              <a:rPr lang="en-US" sz="1000" b="1" dirty="0">
                <a:solidFill>
                  <a:srgbClr val="FFFFFF"/>
                </a:solidFill>
              </a:rPr>
              <a:t>Transaction amount alone isn't enough</a:t>
            </a:r>
            <a:endParaRPr lang="en-US" sz="1000" dirty="0"/>
          </a:p>
        </p:txBody>
      </p:sp>
      <p:sp>
        <p:nvSpPr>
          <p:cNvPr id="18" name="Text 16"/>
          <p:cNvSpPr/>
          <p:nvPr/>
        </p:nvSpPr>
        <p:spPr>
          <a:xfrm>
            <a:off x="484632" y="3337560"/>
            <a:ext cx="3950208" cy="566928"/>
          </a:xfrm>
          <a:prstGeom prst="rect">
            <a:avLst/>
          </a:prstGeom>
          <a:noFill/>
          <a:ln/>
        </p:spPr>
        <p:txBody>
          <a:bodyPr wrap="square" lIns="0" tIns="0" rIns="0" bIns="0" rtlCol="0" anchor="ctr"/>
          <a:lstStyle/>
          <a:p>
            <a:pPr marL="0" indent="0">
              <a:buNone/>
            </a:pPr>
            <a:r>
              <a:rPr lang="en-US" sz="850" dirty="0">
                <a:solidFill>
                  <a:srgbClr val="E8EEF4"/>
                </a:solidFill>
              </a:rPr>
              <a:t>Fraud occurs across all value bands — not just high-value transactions. Relying on amount thresholds misses the majority of cases.</a:t>
            </a:r>
            <a:endParaRPr lang="en-US" sz="850" dirty="0"/>
          </a:p>
        </p:txBody>
      </p:sp>
      <p:sp>
        <p:nvSpPr>
          <p:cNvPr id="19" name="Shape 17"/>
          <p:cNvSpPr/>
          <p:nvPr/>
        </p:nvSpPr>
        <p:spPr>
          <a:xfrm>
            <a:off x="411480" y="3931920"/>
            <a:ext cx="4023360" cy="676656"/>
          </a:xfrm>
          <a:prstGeom prst="rect">
            <a:avLst/>
          </a:prstGeom>
          <a:solidFill>
            <a:srgbClr val="E67E22">
              <a:alpha val="15000"/>
            </a:srgbClr>
          </a:solidFill>
          <a:ln w="6350">
            <a:solidFill>
              <a:srgbClr val="E67E22"/>
            </a:solidFill>
            <a:prstDash val="solid"/>
          </a:ln>
        </p:spPr>
        <p:txBody>
          <a:bodyPr/>
          <a:lstStyle/>
          <a:p>
            <a:endParaRPr lang="en-US"/>
          </a:p>
        </p:txBody>
      </p:sp>
      <p:sp>
        <p:nvSpPr>
          <p:cNvPr id="20" name="Text 18"/>
          <p:cNvSpPr/>
          <p:nvPr/>
        </p:nvSpPr>
        <p:spPr>
          <a:xfrm>
            <a:off x="484632" y="3968496"/>
            <a:ext cx="3950208" cy="164592"/>
          </a:xfrm>
          <a:prstGeom prst="rect">
            <a:avLst/>
          </a:prstGeom>
          <a:noFill/>
          <a:ln/>
        </p:spPr>
        <p:txBody>
          <a:bodyPr wrap="square" lIns="0" tIns="0" rIns="0" bIns="0" rtlCol="0" anchor="ctr"/>
          <a:lstStyle/>
          <a:p>
            <a:pPr marL="0" indent="0">
              <a:buNone/>
            </a:pPr>
            <a:r>
              <a:rPr lang="en-US" sz="700" b="1" kern="0" spc="100" dirty="0">
                <a:solidFill>
                  <a:srgbClr val="E67E22"/>
                </a:solidFill>
              </a:rPr>
              <a:t>WHAT THIS MEANS  ▸</a:t>
            </a:r>
            <a:endParaRPr lang="en-US" sz="700" dirty="0"/>
          </a:p>
        </p:txBody>
      </p:sp>
      <p:sp>
        <p:nvSpPr>
          <p:cNvPr id="21" name="Text 19"/>
          <p:cNvSpPr/>
          <p:nvPr/>
        </p:nvSpPr>
        <p:spPr>
          <a:xfrm>
            <a:off x="484632" y="4133088"/>
            <a:ext cx="3950208" cy="420624"/>
          </a:xfrm>
          <a:prstGeom prst="rect">
            <a:avLst/>
          </a:prstGeom>
          <a:noFill/>
          <a:ln/>
        </p:spPr>
        <p:txBody>
          <a:bodyPr wrap="square" lIns="0" tIns="0" rIns="0" bIns="0" rtlCol="0" anchor="ctr"/>
          <a:lstStyle/>
          <a:p>
            <a:pPr marL="0" indent="0">
              <a:buNone/>
            </a:pPr>
            <a:r>
              <a:rPr lang="en-US" sz="850" dirty="0">
                <a:solidFill>
                  <a:srgbClr val="FFFFFF"/>
                </a:solidFill>
              </a:rPr>
              <a:t>The model considers dozens of signals together, making it far more accurate than any single threshold rule.</a:t>
            </a:r>
            <a:endParaRPr lang="en-US" sz="850" dirty="0"/>
          </a:p>
        </p:txBody>
      </p:sp>
      <p:sp>
        <p:nvSpPr>
          <p:cNvPr id="22" name="Shape 20"/>
          <p:cNvSpPr/>
          <p:nvPr/>
        </p:nvSpPr>
        <p:spPr>
          <a:xfrm>
            <a:off x="4736592" y="1005840"/>
            <a:ext cx="4187952" cy="175564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23" name="Shape 21"/>
          <p:cNvSpPr/>
          <p:nvPr/>
        </p:nvSpPr>
        <p:spPr>
          <a:xfrm>
            <a:off x="4736592" y="1005840"/>
            <a:ext cx="4187952" cy="54864"/>
          </a:xfrm>
          <a:prstGeom prst="rect">
            <a:avLst/>
          </a:prstGeom>
          <a:solidFill>
            <a:srgbClr val="2A9FC4"/>
          </a:solidFill>
          <a:ln w="12700">
            <a:solidFill>
              <a:srgbClr val="2A9FC4"/>
            </a:solidFill>
            <a:prstDash val="solid"/>
          </a:ln>
        </p:spPr>
        <p:txBody>
          <a:bodyPr/>
          <a:lstStyle/>
          <a:p>
            <a:endParaRPr lang="en-US"/>
          </a:p>
        </p:txBody>
      </p:sp>
      <p:sp>
        <p:nvSpPr>
          <p:cNvPr id="24" name="Shape 22"/>
          <p:cNvSpPr/>
          <p:nvPr/>
        </p:nvSpPr>
        <p:spPr>
          <a:xfrm>
            <a:off x="4736592" y="1005840"/>
            <a:ext cx="64008" cy="1755648"/>
          </a:xfrm>
          <a:prstGeom prst="rect">
            <a:avLst/>
          </a:prstGeom>
          <a:solidFill>
            <a:srgbClr val="2A9FC4"/>
          </a:solidFill>
          <a:ln w="12700">
            <a:solidFill>
              <a:srgbClr val="2A9FC4"/>
            </a:solidFill>
            <a:prstDash val="solid"/>
          </a:ln>
        </p:spPr>
        <p:txBody>
          <a:bodyPr/>
          <a:lstStyle/>
          <a:p>
            <a:endParaRPr lang="en-US"/>
          </a:p>
        </p:txBody>
      </p:sp>
      <p:sp>
        <p:nvSpPr>
          <p:cNvPr id="25" name="Text 23"/>
          <p:cNvSpPr/>
          <p:nvPr/>
        </p:nvSpPr>
        <p:spPr>
          <a:xfrm>
            <a:off x="4901184" y="1097280"/>
            <a:ext cx="3950208" cy="274320"/>
          </a:xfrm>
          <a:prstGeom prst="rect">
            <a:avLst/>
          </a:prstGeom>
          <a:noFill/>
          <a:ln/>
        </p:spPr>
        <p:txBody>
          <a:bodyPr wrap="square" lIns="0" tIns="0" rIns="0" bIns="0" rtlCol="0" anchor="ctr"/>
          <a:lstStyle/>
          <a:p>
            <a:pPr marL="0" indent="0">
              <a:buNone/>
            </a:pPr>
            <a:r>
              <a:rPr lang="en-US" sz="1000" b="1" dirty="0">
                <a:solidFill>
                  <a:srgbClr val="FFFFFF"/>
                </a:solidFill>
              </a:rPr>
              <a:t>Fraudulent transactions behave differently</a:t>
            </a:r>
            <a:endParaRPr lang="en-US" sz="1000" dirty="0"/>
          </a:p>
        </p:txBody>
      </p:sp>
      <p:sp>
        <p:nvSpPr>
          <p:cNvPr id="26" name="Text 24"/>
          <p:cNvSpPr/>
          <p:nvPr/>
        </p:nvSpPr>
        <p:spPr>
          <a:xfrm>
            <a:off x="4901184" y="1417320"/>
            <a:ext cx="3950208" cy="566928"/>
          </a:xfrm>
          <a:prstGeom prst="rect">
            <a:avLst/>
          </a:prstGeom>
          <a:noFill/>
          <a:ln/>
        </p:spPr>
        <p:txBody>
          <a:bodyPr wrap="square" lIns="0" tIns="0" rIns="0" bIns="0" rtlCol="0" anchor="ctr"/>
          <a:lstStyle/>
          <a:p>
            <a:pPr marL="0" indent="0">
              <a:buNone/>
            </a:pPr>
            <a:r>
              <a:rPr lang="en-US" sz="850" dirty="0">
                <a:solidFill>
                  <a:srgbClr val="E8EEF4"/>
                </a:solidFill>
              </a:rPr>
              <a:t>Fraud tends to cluster at specific transaction sizes and times of day (particularly late-night periods). These are invisible to simple rules but detectable by AI.</a:t>
            </a:r>
            <a:endParaRPr lang="en-US" sz="850" dirty="0"/>
          </a:p>
        </p:txBody>
      </p:sp>
      <p:sp>
        <p:nvSpPr>
          <p:cNvPr id="27" name="Shape 25"/>
          <p:cNvSpPr/>
          <p:nvPr/>
        </p:nvSpPr>
        <p:spPr>
          <a:xfrm>
            <a:off x="4828032" y="2011680"/>
            <a:ext cx="4023360" cy="676656"/>
          </a:xfrm>
          <a:prstGeom prst="rect">
            <a:avLst/>
          </a:prstGeom>
          <a:solidFill>
            <a:srgbClr val="2A9FC4">
              <a:alpha val="15000"/>
            </a:srgbClr>
          </a:solidFill>
          <a:ln w="6350">
            <a:solidFill>
              <a:srgbClr val="2A9FC4"/>
            </a:solidFill>
            <a:prstDash val="solid"/>
          </a:ln>
        </p:spPr>
        <p:txBody>
          <a:bodyPr/>
          <a:lstStyle/>
          <a:p>
            <a:endParaRPr lang="en-US"/>
          </a:p>
        </p:txBody>
      </p:sp>
      <p:sp>
        <p:nvSpPr>
          <p:cNvPr id="28" name="Text 26"/>
          <p:cNvSpPr/>
          <p:nvPr/>
        </p:nvSpPr>
        <p:spPr>
          <a:xfrm>
            <a:off x="4901184" y="2048256"/>
            <a:ext cx="3950208" cy="164592"/>
          </a:xfrm>
          <a:prstGeom prst="rect">
            <a:avLst/>
          </a:prstGeom>
          <a:noFill/>
          <a:ln/>
        </p:spPr>
        <p:txBody>
          <a:bodyPr wrap="square" lIns="0" tIns="0" rIns="0" bIns="0" rtlCol="0" anchor="ctr"/>
          <a:lstStyle/>
          <a:p>
            <a:pPr marL="0" indent="0">
              <a:buNone/>
            </a:pPr>
            <a:r>
              <a:rPr lang="en-US" sz="700" b="1" kern="0" spc="100" dirty="0">
                <a:solidFill>
                  <a:srgbClr val="2A9FC4"/>
                </a:solidFill>
              </a:rPr>
              <a:t>WHAT THIS MEANS  ▸</a:t>
            </a:r>
            <a:endParaRPr lang="en-US" sz="700" dirty="0"/>
          </a:p>
        </p:txBody>
      </p:sp>
      <p:sp>
        <p:nvSpPr>
          <p:cNvPr id="29" name="Text 27"/>
          <p:cNvSpPr/>
          <p:nvPr/>
        </p:nvSpPr>
        <p:spPr>
          <a:xfrm>
            <a:off x="4901184" y="2212848"/>
            <a:ext cx="3950208" cy="420624"/>
          </a:xfrm>
          <a:prstGeom prst="rect">
            <a:avLst/>
          </a:prstGeom>
          <a:noFill/>
          <a:ln/>
        </p:spPr>
        <p:txBody>
          <a:bodyPr wrap="square" lIns="0" tIns="0" rIns="0" bIns="0" rtlCol="0" anchor="ctr"/>
          <a:lstStyle/>
          <a:p>
            <a:pPr marL="0" indent="0">
              <a:buNone/>
            </a:pPr>
            <a:r>
              <a:rPr lang="en-US" sz="850" dirty="0">
                <a:solidFill>
                  <a:srgbClr val="FFFFFF"/>
                </a:solidFill>
              </a:rPr>
              <a:t>The model automatically learns and adapts to these behavioural patterns — no manual rule-writing required.</a:t>
            </a:r>
            <a:endParaRPr lang="en-US" sz="850" dirty="0"/>
          </a:p>
        </p:txBody>
      </p:sp>
      <p:sp>
        <p:nvSpPr>
          <p:cNvPr id="30" name="Shape 28"/>
          <p:cNvSpPr/>
          <p:nvPr/>
        </p:nvSpPr>
        <p:spPr>
          <a:xfrm>
            <a:off x="4736592" y="2926080"/>
            <a:ext cx="4187952" cy="175564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31" name="Shape 29"/>
          <p:cNvSpPr/>
          <p:nvPr/>
        </p:nvSpPr>
        <p:spPr>
          <a:xfrm>
            <a:off x="4736592" y="2926080"/>
            <a:ext cx="4187952" cy="54864"/>
          </a:xfrm>
          <a:prstGeom prst="rect">
            <a:avLst/>
          </a:prstGeom>
          <a:solidFill>
            <a:srgbClr val="1C9E6E"/>
          </a:solidFill>
          <a:ln w="12700">
            <a:solidFill>
              <a:srgbClr val="1C9E6E"/>
            </a:solidFill>
            <a:prstDash val="solid"/>
          </a:ln>
        </p:spPr>
        <p:txBody>
          <a:bodyPr/>
          <a:lstStyle/>
          <a:p>
            <a:endParaRPr lang="en-US"/>
          </a:p>
        </p:txBody>
      </p:sp>
      <p:sp>
        <p:nvSpPr>
          <p:cNvPr id="32" name="Shape 30"/>
          <p:cNvSpPr/>
          <p:nvPr/>
        </p:nvSpPr>
        <p:spPr>
          <a:xfrm>
            <a:off x="4736592" y="2926080"/>
            <a:ext cx="64008" cy="1755648"/>
          </a:xfrm>
          <a:prstGeom prst="rect">
            <a:avLst/>
          </a:prstGeom>
          <a:solidFill>
            <a:srgbClr val="1C9E6E"/>
          </a:solidFill>
          <a:ln w="12700">
            <a:solidFill>
              <a:srgbClr val="1C9E6E"/>
            </a:solidFill>
            <a:prstDash val="solid"/>
          </a:ln>
        </p:spPr>
        <p:txBody>
          <a:bodyPr/>
          <a:lstStyle/>
          <a:p>
            <a:endParaRPr lang="en-US"/>
          </a:p>
        </p:txBody>
      </p:sp>
      <p:sp>
        <p:nvSpPr>
          <p:cNvPr id="33" name="Text 31"/>
          <p:cNvSpPr/>
          <p:nvPr/>
        </p:nvSpPr>
        <p:spPr>
          <a:xfrm>
            <a:off x="4901184" y="3017520"/>
            <a:ext cx="3950208" cy="274320"/>
          </a:xfrm>
          <a:prstGeom prst="rect">
            <a:avLst/>
          </a:prstGeom>
          <a:noFill/>
          <a:ln/>
        </p:spPr>
        <p:txBody>
          <a:bodyPr wrap="square" lIns="0" tIns="0" rIns="0" bIns="0" rtlCol="0" anchor="ctr"/>
          <a:lstStyle/>
          <a:p>
            <a:pPr marL="0" indent="0">
              <a:buNone/>
            </a:pPr>
            <a:r>
              <a:rPr lang="en-US" sz="1000" b="1" dirty="0">
                <a:solidFill>
                  <a:srgbClr val="FFFFFF"/>
                </a:solidFill>
              </a:rPr>
              <a:t>The model's signals are consistent and reliable</a:t>
            </a:r>
            <a:endParaRPr lang="en-US" sz="1000" dirty="0"/>
          </a:p>
        </p:txBody>
      </p:sp>
      <p:sp>
        <p:nvSpPr>
          <p:cNvPr id="34" name="Text 32"/>
          <p:cNvSpPr/>
          <p:nvPr/>
        </p:nvSpPr>
        <p:spPr>
          <a:xfrm>
            <a:off x="4901184" y="3337560"/>
            <a:ext cx="3950208" cy="566928"/>
          </a:xfrm>
          <a:prstGeom prst="rect">
            <a:avLst/>
          </a:prstGeom>
          <a:noFill/>
          <a:ln/>
        </p:spPr>
        <p:txBody>
          <a:bodyPr wrap="square" lIns="0" tIns="0" rIns="0" bIns="0" rtlCol="0" anchor="ctr"/>
          <a:lstStyle/>
          <a:p>
            <a:pPr marL="0" indent="0">
              <a:buNone/>
            </a:pPr>
            <a:r>
              <a:rPr lang="en-US" sz="850" dirty="0">
                <a:solidFill>
                  <a:srgbClr val="E8EEF4"/>
                </a:solidFill>
              </a:rPr>
              <a:t>Multiple independent analyses all pointed to the same fraud indicators. This consistency means the model is not just fitting noise — it has found real patterns.</a:t>
            </a:r>
            <a:endParaRPr lang="en-US" sz="850" dirty="0"/>
          </a:p>
        </p:txBody>
      </p:sp>
      <p:sp>
        <p:nvSpPr>
          <p:cNvPr id="35" name="Shape 33"/>
          <p:cNvSpPr/>
          <p:nvPr/>
        </p:nvSpPr>
        <p:spPr>
          <a:xfrm>
            <a:off x="4828032" y="3931920"/>
            <a:ext cx="4023360" cy="676656"/>
          </a:xfrm>
          <a:prstGeom prst="rect">
            <a:avLst/>
          </a:prstGeom>
          <a:solidFill>
            <a:srgbClr val="1C9E6E">
              <a:alpha val="15000"/>
            </a:srgbClr>
          </a:solidFill>
          <a:ln w="6350">
            <a:solidFill>
              <a:srgbClr val="1C9E6E"/>
            </a:solidFill>
            <a:prstDash val="solid"/>
          </a:ln>
        </p:spPr>
        <p:txBody>
          <a:bodyPr/>
          <a:lstStyle/>
          <a:p>
            <a:endParaRPr lang="en-US"/>
          </a:p>
        </p:txBody>
      </p:sp>
      <p:sp>
        <p:nvSpPr>
          <p:cNvPr id="36" name="Text 34"/>
          <p:cNvSpPr/>
          <p:nvPr/>
        </p:nvSpPr>
        <p:spPr>
          <a:xfrm>
            <a:off x="4901184" y="3968496"/>
            <a:ext cx="3950208" cy="164592"/>
          </a:xfrm>
          <a:prstGeom prst="rect">
            <a:avLst/>
          </a:prstGeom>
          <a:noFill/>
          <a:ln/>
        </p:spPr>
        <p:txBody>
          <a:bodyPr wrap="square" lIns="0" tIns="0" rIns="0" bIns="0" rtlCol="0" anchor="ctr"/>
          <a:lstStyle/>
          <a:p>
            <a:pPr marL="0" indent="0">
              <a:buNone/>
            </a:pPr>
            <a:r>
              <a:rPr lang="en-US" sz="700" b="1" kern="0" spc="100" dirty="0">
                <a:solidFill>
                  <a:srgbClr val="1C9E6E"/>
                </a:solidFill>
              </a:rPr>
              <a:t>WHAT THIS MEANS  ▸</a:t>
            </a:r>
            <a:endParaRPr lang="en-US" sz="700" dirty="0"/>
          </a:p>
        </p:txBody>
      </p:sp>
      <p:sp>
        <p:nvSpPr>
          <p:cNvPr id="37" name="Text 35"/>
          <p:cNvSpPr/>
          <p:nvPr/>
        </p:nvSpPr>
        <p:spPr>
          <a:xfrm>
            <a:off x="4901184" y="4133088"/>
            <a:ext cx="3950208" cy="420624"/>
          </a:xfrm>
          <a:prstGeom prst="rect">
            <a:avLst/>
          </a:prstGeom>
          <a:noFill/>
          <a:ln/>
        </p:spPr>
        <p:txBody>
          <a:bodyPr wrap="square" lIns="0" tIns="0" rIns="0" bIns="0" rtlCol="0" anchor="ctr"/>
          <a:lstStyle/>
          <a:p>
            <a:pPr marL="0" indent="0">
              <a:buNone/>
            </a:pPr>
            <a:r>
              <a:rPr lang="en-US" sz="850" dirty="0">
                <a:solidFill>
                  <a:srgbClr val="FFFFFF"/>
                </a:solidFill>
              </a:rPr>
              <a:t>You can trust the fraud scores produced. They are grounded in stable, repeatable signals from the data.</a:t>
            </a:r>
            <a:endParaRPr lang="en-US" sz="850" dirty="0"/>
          </a:p>
        </p:txBody>
      </p:sp>
      <p:sp>
        <p:nvSpPr>
          <p:cNvPr id="38" name="Shape 36"/>
          <p:cNvSpPr/>
          <p:nvPr/>
        </p:nvSpPr>
        <p:spPr>
          <a:xfrm>
            <a:off x="0" y="4892040"/>
            <a:ext cx="9144000" cy="251460"/>
          </a:xfrm>
          <a:prstGeom prst="rect">
            <a:avLst/>
          </a:prstGeom>
          <a:solidFill>
            <a:srgbClr val="112233"/>
          </a:solidFill>
          <a:ln w="12700">
            <a:solidFill>
              <a:srgbClr val="112233"/>
            </a:solidFill>
            <a:prstDash val="solid"/>
          </a:ln>
        </p:spPr>
        <p:txBody>
          <a:bodyPr/>
          <a:lstStyle/>
          <a:p>
            <a:endParaRPr lang="en-US"/>
          </a:p>
        </p:txBody>
      </p:sp>
      <p:sp>
        <p:nvSpPr>
          <p:cNvPr id="39" name="Text 37"/>
          <p:cNvSpPr/>
          <p:nvPr/>
        </p:nvSpPr>
        <p:spPr>
          <a:xfrm>
            <a:off x="365760" y="4892040"/>
            <a:ext cx="8412480" cy="251460"/>
          </a:xfrm>
          <a:prstGeom prst="rect">
            <a:avLst/>
          </a:prstGeom>
          <a:noFill/>
          <a:ln/>
        </p:spPr>
        <p:txBody>
          <a:bodyPr wrap="square" lIns="0" tIns="0" rIns="0" bIns="0" rtlCol="0" anchor="ctr"/>
          <a:lstStyle/>
          <a:p>
            <a:pPr marL="0" indent="0">
              <a:buNone/>
            </a:pPr>
            <a:r>
              <a:rPr lang="en-US" sz="750" dirty="0">
                <a:solidFill>
                  <a:srgbClr val="8BA3B8"/>
                </a:solidFill>
              </a:rPr>
              <a:t>Findings drawn from EDA, feature analysis, and cross-validated model behaviour across 284,807 transactions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0" y="0"/>
            <a:ext cx="8778240" cy="640080"/>
          </a:xfrm>
          <a:prstGeom prst="rect">
            <a:avLst/>
          </a:prstGeom>
          <a:noFill/>
          <a:ln/>
        </p:spPr>
        <p:txBody>
          <a:bodyPr wrap="square" lIns="0" tIns="0" rIns="0" bIns="0" rtlCol="0" anchor="ctr"/>
          <a:lstStyle/>
          <a:p>
            <a:pPr marL="0" indent="0" algn="r">
              <a:buNone/>
            </a:pPr>
            <a:r>
              <a:rPr lang="en-US" sz="800" kern="0" spc="200" dirty="0">
                <a:solidFill>
                  <a:srgbClr val="FFFFFF"/>
                </a:solidFill>
              </a:rPr>
              <a:t>04  ·  RESULTS</a:t>
            </a:r>
            <a:endParaRPr lang="en-US" sz="800" dirty="0"/>
          </a:p>
        </p:txBody>
      </p:sp>
      <p:sp>
        <p:nvSpPr>
          <p:cNvPr id="4" name="Text 2"/>
          <p:cNvSpPr/>
          <p:nvPr/>
        </p:nvSpPr>
        <p:spPr>
          <a:xfrm>
            <a:off x="365760" y="0"/>
            <a:ext cx="6400800" cy="64008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Results</a:t>
            </a:r>
            <a:endParaRPr lang="en-US" sz="1800" dirty="0"/>
          </a:p>
        </p:txBody>
      </p:sp>
      <p:sp>
        <p:nvSpPr>
          <p:cNvPr id="5" name="Text 3"/>
          <p:cNvSpPr/>
          <p:nvPr/>
        </p:nvSpPr>
        <p:spPr>
          <a:xfrm>
            <a:off x="320040" y="713232"/>
            <a:ext cx="8503920" cy="228600"/>
          </a:xfrm>
          <a:prstGeom prst="rect">
            <a:avLst/>
          </a:prstGeom>
          <a:noFill/>
          <a:ln/>
        </p:spPr>
        <p:txBody>
          <a:bodyPr wrap="square" lIns="0" tIns="0" rIns="0" bIns="0" rtlCol="0" anchor="ctr"/>
          <a:lstStyle/>
          <a:p>
            <a:pPr marL="0" indent="0">
              <a:buNone/>
            </a:pPr>
            <a:r>
              <a:rPr lang="en-US" sz="900" i="1" dirty="0">
                <a:solidFill>
                  <a:srgbClr val="8BA3B8"/>
                </a:solidFill>
              </a:rPr>
              <a:t>What our best model delivers in plain terms</a:t>
            </a:r>
            <a:endParaRPr lang="en-US" sz="900" dirty="0"/>
          </a:p>
        </p:txBody>
      </p:sp>
      <p:sp>
        <p:nvSpPr>
          <p:cNvPr id="6" name="Shape 4"/>
          <p:cNvSpPr/>
          <p:nvPr/>
        </p:nvSpPr>
        <p:spPr>
          <a:xfrm>
            <a:off x="320040" y="987552"/>
            <a:ext cx="2761488" cy="1554480"/>
          </a:xfrm>
          <a:prstGeom prst="rect">
            <a:avLst/>
          </a:prstGeom>
          <a:solidFill>
            <a:srgbClr val="162A3D"/>
          </a:solidFill>
          <a:ln w="12700">
            <a:solidFill>
              <a:srgbClr val="1C9E6E"/>
            </a:solidFill>
            <a:prstDash val="solid"/>
          </a:ln>
          <a:effectLst>
            <a:outerShdw blurRad="127000" dist="38100" dir="8100000" algn="bl" rotWithShape="0">
              <a:srgbClr val="000000">
                <a:alpha val="28000"/>
              </a:srgbClr>
            </a:outerShdw>
          </a:effectLst>
        </p:spPr>
        <p:txBody>
          <a:bodyPr/>
          <a:lstStyle/>
          <a:p>
            <a:endParaRPr lang="en-US"/>
          </a:p>
        </p:txBody>
      </p:sp>
      <p:sp>
        <p:nvSpPr>
          <p:cNvPr id="7" name="Shape 5"/>
          <p:cNvSpPr/>
          <p:nvPr/>
        </p:nvSpPr>
        <p:spPr>
          <a:xfrm>
            <a:off x="320040" y="987552"/>
            <a:ext cx="2761488" cy="64008"/>
          </a:xfrm>
          <a:prstGeom prst="rect">
            <a:avLst/>
          </a:prstGeom>
          <a:solidFill>
            <a:srgbClr val="1C9E6E"/>
          </a:solidFill>
          <a:ln w="12700">
            <a:solidFill>
              <a:srgbClr val="1C9E6E"/>
            </a:solidFill>
            <a:prstDash val="solid"/>
          </a:ln>
        </p:spPr>
        <p:txBody>
          <a:bodyPr/>
          <a:lstStyle/>
          <a:p>
            <a:endParaRPr lang="en-US"/>
          </a:p>
        </p:txBody>
      </p:sp>
      <p:sp>
        <p:nvSpPr>
          <p:cNvPr id="8" name="Text 6"/>
          <p:cNvSpPr/>
          <p:nvPr/>
        </p:nvSpPr>
        <p:spPr>
          <a:xfrm>
            <a:off x="457200" y="1078992"/>
            <a:ext cx="2487168" cy="621792"/>
          </a:xfrm>
          <a:prstGeom prst="rect">
            <a:avLst/>
          </a:prstGeom>
          <a:noFill/>
          <a:ln/>
        </p:spPr>
        <p:txBody>
          <a:bodyPr wrap="square" lIns="0" tIns="0" rIns="0" bIns="0" rtlCol="0" anchor="ctr"/>
          <a:lstStyle/>
          <a:p>
            <a:pPr marL="0" indent="0" algn="ctr">
              <a:buNone/>
            </a:pPr>
            <a:r>
              <a:rPr lang="en-US" sz="4000" b="1" dirty="0">
                <a:solidFill>
                  <a:srgbClr val="1C9E6E"/>
                </a:solidFill>
                <a:latin typeface="Cambria" pitchFamily="34" charset="0"/>
                <a:ea typeface="Cambria" pitchFamily="34" charset="-122"/>
                <a:cs typeface="Cambria" pitchFamily="34" charset="-120"/>
              </a:rPr>
              <a:t>4 in 5</a:t>
            </a:r>
            <a:endParaRPr lang="en-US" sz="4000" dirty="0"/>
          </a:p>
        </p:txBody>
      </p:sp>
      <p:sp>
        <p:nvSpPr>
          <p:cNvPr id="9" name="Text 7"/>
          <p:cNvSpPr/>
          <p:nvPr/>
        </p:nvSpPr>
        <p:spPr>
          <a:xfrm>
            <a:off x="457200" y="1682496"/>
            <a:ext cx="2487168" cy="237744"/>
          </a:xfrm>
          <a:prstGeom prst="rect">
            <a:avLst/>
          </a:prstGeom>
          <a:noFill/>
          <a:ln/>
        </p:spPr>
        <p:txBody>
          <a:bodyPr wrap="square" lIns="0" tIns="0" rIns="0" bIns="0" rtlCol="0" anchor="ctr"/>
          <a:lstStyle/>
          <a:p>
            <a:pPr marL="0" indent="0" algn="ctr">
              <a:buNone/>
            </a:pPr>
            <a:r>
              <a:rPr lang="en-US" sz="1000" b="1" dirty="0">
                <a:solidFill>
                  <a:srgbClr val="FFFFFF"/>
                </a:solidFill>
              </a:rPr>
              <a:t>fraud cases caught</a:t>
            </a:r>
            <a:endParaRPr lang="en-US" sz="1000" dirty="0"/>
          </a:p>
        </p:txBody>
      </p:sp>
      <p:sp>
        <p:nvSpPr>
          <p:cNvPr id="10" name="Text 8"/>
          <p:cNvSpPr/>
          <p:nvPr/>
        </p:nvSpPr>
        <p:spPr>
          <a:xfrm>
            <a:off x="457200" y="1947672"/>
            <a:ext cx="2487168" cy="530352"/>
          </a:xfrm>
          <a:prstGeom prst="rect">
            <a:avLst/>
          </a:prstGeom>
          <a:noFill/>
          <a:ln/>
        </p:spPr>
        <p:txBody>
          <a:bodyPr wrap="square" lIns="0" tIns="0" rIns="0" bIns="0" rtlCol="0" anchor="ctr"/>
          <a:lstStyle/>
          <a:p>
            <a:pPr marL="0" indent="0">
              <a:buNone/>
            </a:pPr>
            <a:r>
              <a:rPr lang="en-US" sz="850" dirty="0">
                <a:solidFill>
                  <a:srgbClr val="E8EEF4"/>
                </a:solidFill>
              </a:rPr>
              <a:t>Our model detects approximately 81% of all fraud — more than double a typical rules-only system's ~40% recall.</a:t>
            </a:r>
            <a:endParaRPr lang="en-US" sz="850" dirty="0"/>
          </a:p>
        </p:txBody>
      </p:sp>
      <p:sp>
        <p:nvSpPr>
          <p:cNvPr id="11" name="Shape 9"/>
          <p:cNvSpPr/>
          <p:nvPr/>
        </p:nvSpPr>
        <p:spPr>
          <a:xfrm>
            <a:off x="3264408" y="987552"/>
            <a:ext cx="2761488" cy="1554480"/>
          </a:xfrm>
          <a:prstGeom prst="rect">
            <a:avLst/>
          </a:prstGeom>
          <a:solidFill>
            <a:srgbClr val="162A3D"/>
          </a:solidFill>
          <a:ln w="12700">
            <a:solidFill>
              <a:srgbClr val="2A9FC4"/>
            </a:solidFill>
            <a:prstDash val="solid"/>
          </a:ln>
          <a:effectLst>
            <a:outerShdw blurRad="127000" dist="38100" dir="8100000" algn="bl" rotWithShape="0">
              <a:srgbClr val="000000">
                <a:alpha val="28000"/>
              </a:srgbClr>
            </a:outerShdw>
          </a:effectLst>
        </p:spPr>
        <p:txBody>
          <a:bodyPr/>
          <a:lstStyle/>
          <a:p>
            <a:endParaRPr lang="en-US"/>
          </a:p>
        </p:txBody>
      </p:sp>
      <p:sp>
        <p:nvSpPr>
          <p:cNvPr id="12" name="Shape 10"/>
          <p:cNvSpPr/>
          <p:nvPr/>
        </p:nvSpPr>
        <p:spPr>
          <a:xfrm>
            <a:off x="3264408" y="987552"/>
            <a:ext cx="2761488" cy="64008"/>
          </a:xfrm>
          <a:prstGeom prst="rect">
            <a:avLst/>
          </a:prstGeom>
          <a:solidFill>
            <a:srgbClr val="2A9FC4"/>
          </a:solidFill>
          <a:ln w="12700">
            <a:solidFill>
              <a:srgbClr val="2A9FC4"/>
            </a:solidFill>
            <a:prstDash val="solid"/>
          </a:ln>
        </p:spPr>
        <p:txBody>
          <a:bodyPr/>
          <a:lstStyle/>
          <a:p>
            <a:endParaRPr lang="en-US"/>
          </a:p>
        </p:txBody>
      </p:sp>
      <p:sp>
        <p:nvSpPr>
          <p:cNvPr id="13" name="Text 11"/>
          <p:cNvSpPr/>
          <p:nvPr/>
        </p:nvSpPr>
        <p:spPr>
          <a:xfrm>
            <a:off x="3401568" y="1078992"/>
            <a:ext cx="2487168" cy="621792"/>
          </a:xfrm>
          <a:prstGeom prst="rect">
            <a:avLst/>
          </a:prstGeom>
          <a:noFill/>
          <a:ln/>
        </p:spPr>
        <p:txBody>
          <a:bodyPr wrap="square" lIns="0" tIns="0" rIns="0" bIns="0" rtlCol="0" anchor="ctr"/>
          <a:lstStyle/>
          <a:p>
            <a:pPr marL="0" indent="0" algn="ctr">
              <a:buNone/>
            </a:pPr>
            <a:r>
              <a:rPr lang="en-US" sz="4000" b="1" dirty="0">
                <a:solidFill>
                  <a:srgbClr val="2A9FC4"/>
                </a:solidFill>
                <a:latin typeface="Cambria" pitchFamily="34" charset="0"/>
                <a:ea typeface="Cambria" pitchFamily="34" charset="-122"/>
                <a:cs typeface="Cambria" pitchFamily="34" charset="-120"/>
              </a:rPr>
              <a:t>~88%</a:t>
            </a:r>
            <a:endParaRPr lang="en-US" sz="4000" dirty="0"/>
          </a:p>
        </p:txBody>
      </p:sp>
      <p:sp>
        <p:nvSpPr>
          <p:cNvPr id="14" name="Text 12"/>
          <p:cNvSpPr/>
          <p:nvPr/>
        </p:nvSpPr>
        <p:spPr>
          <a:xfrm>
            <a:off x="3401568" y="1682496"/>
            <a:ext cx="2487168" cy="237744"/>
          </a:xfrm>
          <a:prstGeom prst="rect">
            <a:avLst/>
          </a:prstGeom>
          <a:noFill/>
          <a:ln/>
        </p:spPr>
        <p:txBody>
          <a:bodyPr wrap="square" lIns="0" tIns="0" rIns="0" bIns="0" rtlCol="0" anchor="ctr"/>
          <a:lstStyle/>
          <a:p>
            <a:pPr marL="0" indent="0" algn="ctr">
              <a:buNone/>
            </a:pPr>
            <a:r>
              <a:rPr lang="en-US" sz="1000" b="1" dirty="0">
                <a:solidFill>
                  <a:srgbClr val="FFFFFF"/>
                </a:solidFill>
              </a:rPr>
              <a:t>of flagged alerts are real fraud</a:t>
            </a:r>
            <a:endParaRPr lang="en-US" sz="1000" dirty="0"/>
          </a:p>
        </p:txBody>
      </p:sp>
      <p:sp>
        <p:nvSpPr>
          <p:cNvPr id="15" name="Text 13"/>
          <p:cNvSpPr/>
          <p:nvPr/>
        </p:nvSpPr>
        <p:spPr>
          <a:xfrm>
            <a:off x="3401568" y="1947672"/>
            <a:ext cx="2487168" cy="530352"/>
          </a:xfrm>
          <a:prstGeom prst="rect">
            <a:avLst/>
          </a:prstGeom>
          <a:noFill/>
          <a:ln/>
        </p:spPr>
        <p:txBody>
          <a:bodyPr wrap="square" lIns="0" tIns="0" rIns="0" bIns="0" rtlCol="0" anchor="ctr"/>
          <a:lstStyle/>
          <a:p>
            <a:pPr marL="0" indent="0">
              <a:buNone/>
            </a:pPr>
            <a:r>
              <a:rPr lang="en-US" sz="850" dirty="0">
                <a:solidFill>
                  <a:srgbClr val="E8EEF4"/>
                </a:solidFill>
              </a:rPr>
              <a:t>High precision means fewer wasted analyst reviews. The team spends time on real threats, not false alarms.</a:t>
            </a:r>
            <a:endParaRPr lang="en-US" sz="850" dirty="0"/>
          </a:p>
        </p:txBody>
      </p:sp>
      <p:sp>
        <p:nvSpPr>
          <p:cNvPr id="16" name="Shape 14"/>
          <p:cNvSpPr/>
          <p:nvPr/>
        </p:nvSpPr>
        <p:spPr>
          <a:xfrm>
            <a:off x="6208776" y="987552"/>
            <a:ext cx="2761488" cy="1554480"/>
          </a:xfrm>
          <a:prstGeom prst="rect">
            <a:avLst/>
          </a:prstGeom>
          <a:solidFill>
            <a:srgbClr val="162A3D"/>
          </a:solidFill>
          <a:ln w="12700">
            <a:solidFill>
              <a:srgbClr val="F0C040"/>
            </a:solidFill>
            <a:prstDash val="solid"/>
          </a:ln>
          <a:effectLst>
            <a:outerShdw blurRad="127000" dist="38100" dir="8100000" algn="bl" rotWithShape="0">
              <a:srgbClr val="000000">
                <a:alpha val="28000"/>
              </a:srgbClr>
            </a:outerShdw>
          </a:effectLst>
        </p:spPr>
        <p:txBody>
          <a:bodyPr/>
          <a:lstStyle/>
          <a:p>
            <a:endParaRPr lang="en-US"/>
          </a:p>
        </p:txBody>
      </p:sp>
      <p:sp>
        <p:nvSpPr>
          <p:cNvPr id="17" name="Shape 15"/>
          <p:cNvSpPr/>
          <p:nvPr/>
        </p:nvSpPr>
        <p:spPr>
          <a:xfrm>
            <a:off x="6208776" y="987552"/>
            <a:ext cx="2761488" cy="64008"/>
          </a:xfrm>
          <a:prstGeom prst="rect">
            <a:avLst/>
          </a:prstGeom>
          <a:solidFill>
            <a:srgbClr val="F0C040"/>
          </a:solidFill>
          <a:ln w="12700">
            <a:solidFill>
              <a:srgbClr val="F0C040"/>
            </a:solidFill>
            <a:prstDash val="solid"/>
          </a:ln>
        </p:spPr>
        <p:txBody>
          <a:bodyPr/>
          <a:lstStyle/>
          <a:p>
            <a:endParaRPr lang="en-US"/>
          </a:p>
        </p:txBody>
      </p:sp>
      <p:sp>
        <p:nvSpPr>
          <p:cNvPr id="18" name="Text 16"/>
          <p:cNvSpPr/>
          <p:nvPr/>
        </p:nvSpPr>
        <p:spPr>
          <a:xfrm>
            <a:off x="6345936" y="1078992"/>
            <a:ext cx="2487168" cy="621792"/>
          </a:xfrm>
          <a:prstGeom prst="rect">
            <a:avLst/>
          </a:prstGeom>
          <a:noFill/>
          <a:ln/>
        </p:spPr>
        <p:txBody>
          <a:bodyPr wrap="square" lIns="0" tIns="0" rIns="0" bIns="0" rtlCol="0" anchor="ctr"/>
          <a:lstStyle/>
          <a:p>
            <a:pPr marL="0" indent="0" algn="ctr">
              <a:buNone/>
            </a:pPr>
            <a:r>
              <a:rPr lang="en-US" sz="4000" b="1" dirty="0">
                <a:solidFill>
                  <a:srgbClr val="F0C040"/>
                </a:solidFill>
                <a:latin typeface="Cambria" pitchFamily="34" charset="0"/>
                <a:ea typeface="Cambria" pitchFamily="34" charset="-122"/>
                <a:cs typeface="Cambria" pitchFamily="34" charset="-120"/>
              </a:rPr>
              <a:t>3.7×</a:t>
            </a:r>
            <a:endParaRPr lang="en-US" sz="4000" dirty="0"/>
          </a:p>
        </p:txBody>
      </p:sp>
      <p:sp>
        <p:nvSpPr>
          <p:cNvPr id="19" name="Text 17"/>
          <p:cNvSpPr/>
          <p:nvPr/>
        </p:nvSpPr>
        <p:spPr>
          <a:xfrm>
            <a:off x="6345936" y="1682496"/>
            <a:ext cx="2487168" cy="237744"/>
          </a:xfrm>
          <a:prstGeom prst="rect">
            <a:avLst/>
          </a:prstGeom>
          <a:noFill/>
          <a:ln/>
        </p:spPr>
        <p:txBody>
          <a:bodyPr wrap="square" lIns="0" tIns="0" rIns="0" bIns="0" rtlCol="0" anchor="ctr"/>
          <a:lstStyle/>
          <a:p>
            <a:pPr marL="0" indent="0" algn="ctr">
              <a:buNone/>
            </a:pPr>
            <a:r>
              <a:rPr lang="en-US" sz="1000" b="1" dirty="0">
                <a:solidFill>
                  <a:srgbClr val="FFFFFF"/>
                </a:solidFill>
              </a:rPr>
              <a:t>return on investment vs. baseline</a:t>
            </a:r>
            <a:endParaRPr lang="en-US" sz="1000" dirty="0"/>
          </a:p>
        </p:txBody>
      </p:sp>
      <p:sp>
        <p:nvSpPr>
          <p:cNvPr id="20" name="Text 18"/>
          <p:cNvSpPr/>
          <p:nvPr/>
        </p:nvSpPr>
        <p:spPr>
          <a:xfrm>
            <a:off x="6345936" y="1947672"/>
            <a:ext cx="2487168" cy="530352"/>
          </a:xfrm>
          <a:prstGeom prst="rect">
            <a:avLst/>
          </a:prstGeom>
          <a:noFill/>
          <a:ln/>
        </p:spPr>
        <p:txBody>
          <a:bodyPr wrap="square" lIns="0" tIns="0" rIns="0" bIns="0" rtlCol="0" anchor="ctr"/>
          <a:lstStyle/>
          <a:p>
            <a:pPr marL="0" indent="0">
              <a:buNone/>
            </a:pPr>
            <a:r>
              <a:rPr lang="en-US" sz="850" dirty="0">
                <a:solidFill>
                  <a:srgbClr val="E8EEF4"/>
                </a:solidFill>
              </a:rPr>
              <a:t>Compared to rules-only detection, the AI model is projected to deliver 3.7× more value per dollar of fraud caught.</a:t>
            </a:r>
            <a:endParaRPr lang="en-US" sz="850" dirty="0"/>
          </a:p>
        </p:txBody>
      </p:sp>
      <p:sp>
        <p:nvSpPr>
          <p:cNvPr id="21" name="Text 19"/>
          <p:cNvSpPr/>
          <p:nvPr/>
        </p:nvSpPr>
        <p:spPr>
          <a:xfrm>
            <a:off x="320040" y="2651760"/>
            <a:ext cx="8503920" cy="237744"/>
          </a:xfrm>
          <a:prstGeom prst="rect">
            <a:avLst/>
          </a:prstGeom>
          <a:noFill/>
          <a:ln/>
        </p:spPr>
        <p:txBody>
          <a:bodyPr wrap="square" lIns="0" tIns="0" rIns="0" bIns="0" rtlCol="0" anchor="ctr"/>
          <a:lstStyle/>
          <a:p>
            <a:pPr marL="0" indent="0">
              <a:buNone/>
            </a:pPr>
            <a:r>
              <a:rPr lang="en-US" sz="850" b="1" kern="0" spc="100" dirty="0">
                <a:solidFill>
                  <a:srgbClr val="2A9FC4"/>
                </a:solidFill>
              </a:rPr>
              <a:t>HOW THE MODELS COMPARE</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2926080"/>
          <a:ext cx="8503920" cy="1371600"/>
        </p:xfrm>
        <a:graphic>
          <a:graphicData uri="http://schemas.openxmlformats.org/drawingml/2006/table">
            <a:tbl>
              <a:tblPr/>
              <a:tblGrid>
                <a:gridCol w="31089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74320">
                <a:tc>
                  <a:txBody>
                    <a:bodyPr/>
                    <a:lstStyle/>
                    <a:p>
                      <a:pPr marL="0" indent="0">
                        <a:buNone/>
                      </a:pPr>
                      <a:r>
                        <a:rPr lang="en-US" sz="850" b="1" dirty="0">
                          <a:solidFill>
                            <a:srgbClr val="FFFFFF"/>
                          </a:solidFill>
                        </a:rPr>
                        <a:t>Option</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A3550"/>
                    </a:solidFill>
                  </a:tcPr>
                </a:tc>
                <a:tc>
                  <a:txBody>
                    <a:bodyPr/>
                    <a:lstStyle/>
                    <a:p>
                      <a:pPr marL="0" indent="0" algn="ctr">
                        <a:buNone/>
                      </a:pPr>
                      <a:r>
                        <a:rPr lang="en-US" sz="850" b="1" dirty="0">
                          <a:solidFill>
                            <a:srgbClr val="FFFFFF"/>
                          </a:solidFill>
                        </a:rPr>
                        <a:t>Fraud Caught</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A3550"/>
                    </a:solidFill>
                  </a:tcPr>
                </a:tc>
                <a:tc>
                  <a:txBody>
                    <a:bodyPr/>
                    <a:lstStyle/>
                    <a:p>
                      <a:pPr marL="0" indent="0" algn="ctr">
                        <a:buNone/>
                      </a:pPr>
                      <a:r>
                        <a:rPr lang="en-US" sz="850" b="1" dirty="0">
                          <a:solidFill>
                            <a:srgbClr val="FFFFFF"/>
                          </a:solidFill>
                        </a:rPr>
                        <a:t>Alert Quality</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A3550"/>
                    </a:solidFill>
                  </a:tcPr>
                </a:tc>
                <a:tc>
                  <a:txBody>
                    <a:bodyPr/>
                    <a:lstStyle/>
                    <a:p>
                      <a:pPr marL="0" indent="0" algn="ctr">
                        <a:buNone/>
                      </a:pPr>
                      <a:r>
                        <a:rPr lang="en-US" sz="850" b="1" dirty="0">
                          <a:solidFill>
                            <a:srgbClr val="FFFFFF"/>
                          </a:solidFill>
                        </a:rPr>
                        <a:t>Verdict</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A3550"/>
                    </a:solidFill>
                  </a:tcPr>
                </a:tc>
                <a:extLst>
                  <a:ext uri="{0D108BD9-81ED-4DB2-BD59-A6C34878D82A}">
                    <a16:rowId xmlns:a16="http://schemas.microsoft.com/office/drawing/2014/main" val="10000"/>
                  </a:ext>
                </a:extLst>
              </a:tr>
              <a:tr h="274320">
                <a:tc>
                  <a:txBody>
                    <a:bodyPr/>
                    <a:lstStyle/>
                    <a:p>
                      <a:pPr marL="0" indent="0">
                        <a:buNone/>
                      </a:pPr>
                      <a:r>
                        <a:rPr lang="en-US" sz="850" dirty="0">
                          <a:solidFill>
                            <a:srgbClr val="E8EEF4"/>
                          </a:solidFill>
                        </a:rPr>
                        <a:t>Rules Only (current)</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tc>
                  <a:txBody>
                    <a:bodyPr/>
                    <a:lstStyle/>
                    <a:p>
                      <a:pPr marL="0" indent="0" algn="ctr">
                        <a:buNone/>
                      </a:pPr>
                      <a:r>
                        <a:rPr lang="en-US" sz="850" dirty="0">
                          <a:solidFill>
                            <a:srgbClr val="E8EEF4"/>
                          </a:solidFill>
                        </a:rPr>
                        <a:t>~40%</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tc>
                  <a:txBody>
                    <a:bodyPr/>
                    <a:lstStyle/>
                    <a:p>
                      <a:pPr marL="0" indent="0" algn="ctr">
                        <a:buNone/>
                      </a:pPr>
                      <a:r>
                        <a:rPr lang="en-US" sz="850" dirty="0">
                          <a:solidFill>
                            <a:srgbClr val="E8EEF4"/>
                          </a:solidFill>
                        </a:rPr>
                        <a:t>Many false alarms</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tc>
                  <a:txBody>
                    <a:bodyPr/>
                    <a:lstStyle/>
                    <a:p>
                      <a:pPr marL="0" indent="0" algn="ctr">
                        <a:buNone/>
                      </a:pPr>
                      <a:r>
                        <a:rPr lang="en-US" sz="850" dirty="0">
                          <a:solidFill>
                            <a:srgbClr val="8BA3B8"/>
                          </a:solidFill>
                        </a:rPr>
                        <a:t>Baseline</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extLst>
                  <a:ext uri="{0D108BD9-81ED-4DB2-BD59-A6C34878D82A}">
                    <a16:rowId xmlns:a16="http://schemas.microsoft.com/office/drawing/2014/main" val="10001"/>
                  </a:ext>
                </a:extLst>
              </a:tr>
              <a:tr h="274320">
                <a:tc>
                  <a:txBody>
                    <a:bodyPr/>
                    <a:lstStyle/>
                    <a:p>
                      <a:pPr marL="0" indent="0">
                        <a:buNone/>
                      </a:pPr>
                      <a:r>
                        <a:rPr lang="en-US" sz="850" dirty="0">
                          <a:solidFill>
                            <a:srgbClr val="E8EEF4"/>
                          </a:solidFill>
                        </a:rPr>
                        <a:t>Simple AI (Logistic)</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tc>
                  <a:txBody>
                    <a:bodyPr/>
                    <a:lstStyle/>
                    <a:p>
                      <a:pPr marL="0" indent="0" algn="ctr">
                        <a:buNone/>
                      </a:pPr>
                      <a:r>
                        <a:rPr lang="en-US" sz="850" dirty="0">
                          <a:solidFill>
                            <a:srgbClr val="E8EEF4"/>
                          </a:solidFill>
                        </a:rPr>
                        <a:t>~75%</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tc>
                  <a:txBody>
                    <a:bodyPr/>
                    <a:lstStyle/>
                    <a:p>
                      <a:pPr marL="0" indent="0" algn="ctr">
                        <a:buNone/>
                      </a:pPr>
                      <a:r>
                        <a:rPr lang="en-US" sz="850" dirty="0">
                          <a:solidFill>
                            <a:srgbClr val="E8EEF4"/>
                          </a:solidFill>
                        </a:rPr>
                        <a:t>Still many false alarms</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tc>
                  <a:txBody>
                    <a:bodyPr/>
                    <a:lstStyle/>
                    <a:p>
                      <a:pPr marL="0" indent="0" algn="ctr">
                        <a:buNone/>
                      </a:pPr>
                      <a:r>
                        <a:rPr lang="en-US" sz="850" dirty="0">
                          <a:solidFill>
                            <a:srgbClr val="8BA3B8"/>
                          </a:solidFill>
                        </a:rPr>
                        <a:t>Improvement</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extLst>
                  <a:ext uri="{0D108BD9-81ED-4DB2-BD59-A6C34878D82A}">
                    <a16:rowId xmlns:a16="http://schemas.microsoft.com/office/drawing/2014/main" val="10002"/>
                  </a:ext>
                </a:extLst>
              </a:tr>
              <a:tr h="274320">
                <a:tc>
                  <a:txBody>
                    <a:bodyPr/>
                    <a:lstStyle/>
                    <a:p>
                      <a:pPr marL="0" indent="0">
                        <a:buNone/>
                      </a:pPr>
                      <a:r>
                        <a:rPr lang="en-US" sz="850" dirty="0">
                          <a:solidFill>
                            <a:srgbClr val="E8EEF4"/>
                          </a:solidFill>
                        </a:rPr>
                        <a:t>Random Forest AI</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tc>
                  <a:txBody>
                    <a:bodyPr/>
                    <a:lstStyle/>
                    <a:p>
                      <a:pPr marL="0" indent="0" algn="ctr">
                        <a:buNone/>
                      </a:pPr>
                      <a:r>
                        <a:rPr lang="en-US" sz="850" dirty="0">
                          <a:solidFill>
                            <a:srgbClr val="E8EEF4"/>
                          </a:solidFill>
                        </a:rPr>
                        <a:t>~79%</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tc>
                  <a:txBody>
                    <a:bodyPr/>
                    <a:lstStyle/>
                    <a:p>
                      <a:pPr marL="0" indent="0" algn="ctr">
                        <a:buNone/>
                      </a:pPr>
                      <a:r>
                        <a:rPr lang="en-US" sz="850" dirty="0">
                          <a:solidFill>
                            <a:srgbClr val="E8EEF4"/>
                          </a:solidFill>
                        </a:rPr>
                        <a:t>Good precision</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tc>
                  <a:txBody>
                    <a:bodyPr/>
                    <a:lstStyle/>
                    <a:p>
                      <a:pPr marL="0" indent="0" algn="ctr">
                        <a:buNone/>
                      </a:pPr>
                      <a:r>
                        <a:rPr lang="en-US" sz="850" dirty="0">
                          <a:solidFill>
                            <a:srgbClr val="8BA3B8"/>
                          </a:solidFill>
                        </a:rPr>
                        <a:t>Strong</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extLst>
                  <a:ext uri="{0D108BD9-81ED-4DB2-BD59-A6C34878D82A}">
                    <a16:rowId xmlns:a16="http://schemas.microsoft.com/office/drawing/2014/main" val="10003"/>
                  </a:ext>
                </a:extLst>
              </a:tr>
              <a:tr h="274320">
                <a:tc>
                  <a:txBody>
                    <a:bodyPr/>
                    <a:lstStyle/>
                    <a:p>
                      <a:pPr marL="0" indent="0">
                        <a:buNone/>
                      </a:pPr>
                      <a:r>
                        <a:rPr lang="en-US" sz="850" b="1" dirty="0">
                          <a:solidFill>
                            <a:srgbClr val="F0C040"/>
                          </a:solidFill>
                        </a:rPr>
                        <a:t>XGBoost AI ★ Winner</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tc>
                  <a:txBody>
                    <a:bodyPr/>
                    <a:lstStyle/>
                    <a:p>
                      <a:pPr marL="0" indent="0" algn="ctr">
                        <a:buNone/>
                      </a:pPr>
                      <a:r>
                        <a:rPr lang="en-US" sz="850" b="1" dirty="0">
                          <a:solidFill>
                            <a:srgbClr val="1C9E6E"/>
                          </a:solidFill>
                        </a:rPr>
                        <a:t>~81%</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tc>
                  <a:txBody>
                    <a:bodyPr/>
                    <a:lstStyle/>
                    <a:p>
                      <a:pPr marL="0" indent="0" algn="ctr">
                        <a:buNone/>
                      </a:pPr>
                      <a:r>
                        <a:rPr lang="en-US" sz="850" dirty="0">
                          <a:solidFill>
                            <a:srgbClr val="E8EEF4"/>
                          </a:solidFill>
                        </a:rPr>
                        <a:t>Best precision</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tc>
                  <a:txBody>
                    <a:bodyPr/>
                    <a:lstStyle/>
                    <a:p>
                      <a:pPr marL="0" indent="0" algn="ctr">
                        <a:buNone/>
                      </a:pPr>
                      <a:r>
                        <a:rPr lang="en-US" sz="850" b="1" dirty="0">
                          <a:solidFill>
                            <a:srgbClr val="F0C040"/>
                          </a:solidFill>
                        </a:rPr>
                        <a:t>Recommended</a:t>
                      </a:r>
                      <a:endParaRPr lang="en-US" sz="85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extLst>
                  <a:ext uri="{0D108BD9-81ED-4DB2-BD59-A6C34878D82A}">
                    <a16:rowId xmlns:a16="http://schemas.microsoft.com/office/drawing/2014/main" val="10004"/>
                  </a:ext>
                </a:extLst>
              </a:tr>
            </a:tbl>
          </a:graphicData>
        </a:graphic>
      </p:graphicFrame>
      <p:sp>
        <p:nvSpPr>
          <p:cNvPr id="23" name="Shape 20"/>
          <p:cNvSpPr/>
          <p:nvPr/>
        </p:nvSpPr>
        <p:spPr>
          <a:xfrm>
            <a:off x="0" y="4892040"/>
            <a:ext cx="9144000" cy="251460"/>
          </a:xfrm>
          <a:prstGeom prst="rect">
            <a:avLst/>
          </a:prstGeom>
          <a:solidFill>
            <a:srgbClr val="112233"/>
          </a:solidFill>
          <a:ln w="12700">
            <a:solidFill>
              <a:srgbClr val="112233"/>
            </a:solidFill>
            <a:prstDash val="solid"/>
          </a:ln>
        </p:spPr>
        <p:txBody>
          <a:bodyPr/>
          <a:lstStyle/>
          <a:p>
            <a:endParaRPr lang="en-US"/>
          </a:p>
        </p:txBody>
      </p:sp>
      <p:sp>
        <p:nvSpPr>
          <p:cNvPr id="24" name="Text 21"/>
          <p:cNvSpPr/>
          <p:nvPr/>
        </p:nvSpPr>
        <p:spPr>
          <a:xfrm>
            <a:off x="365760" y="4892040"/>
            <a:ext cx="8412480" cy="251460"/>
          </a:xfrm>
          <a:prstGeom prst="rect">
            <a:avLst/>
          </a:prstGeom>
          <a:noFill/>
          <a:ln/>
        </p:spPr>
        <p:txBody>
          <a:bodyPr wrap="square" lIns="0" tIns="0" rIns="0" bIns="0" rtlCol="0" anchor="ctr"/>
          <a:lstStyle/>
          <a:p>
            <a:pPr marL="0" indent="0">
              <a:buNone/>
            </a:pPr>
            <a:r>
              <a:rPr lang="en-US" sz="750" dirty="0">
                <a:solidFill>
                  <a:srgbClr val="8BA3B8"/>
                </a:solidFill>
              </a:rPr>
              <a:t>Results from 5-fold cross-validation on 284,807 transactions  ·  Fraud-caught figures at default operating threshold  ·  ROI illustrative at $500 avg fraud value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0" y="0"/>
            <a:ext cx="8778240" cy="640080"/>
          </a:xfrm>
          <a:prstGeom prst="rect">
            <a:avLst/>
          </a:prstGeom>
          <a:noFill/>
          <a:ln/>
        </p:spPr>
        <p:txBody>
          <a:bodyPr wrap="square" lIns="0" tIns="0" rIns="0" bIns="0" rtlCol="0" anchor="ctr"/>
          <a:lstStyle/>
          <a:p>
            <a:pPr marL="0" indent="0" algn="r">
              <a:buNone/>
            </a:pPr>
            <a:r>
              <a:rPr lang="en-US" sz="800" kern="0" spc="200" dirty="0">
                <a:solidFill>
                  <a:srgbClr val="FFFFFF"/>
                </a:solidFill>
              </a:rPr>
              <a:t>05  ·  RECOMMENDATIONS</a:t>
            </a:r>
            <a:endParaRPr lang="en-US" sz="800" dirty="0"/>
          </a:p>
        </p:txBody>
      </p:sp>
      <p:sp>
        <p:nvSpPr>
          <p:cNvPr id="4" name="Text 2"/>
          <p:cNvSpPr/>
          <p:nvPr/>
        </p:nvSpPr>
        <p:spPr>
          <a:xfrm>
            <a:off x="365760" y="0"/>
            <a:ext cx="6400800" cy="64008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Recommendations</a:t>
            </a:r>
            <a:endParaRPr lang="en-US" sz="1800" dirty="0"/>
          </a:p>
        </p:txBody>
      </p:sp>
      <p:sp>
        <p:nvSpPr>
          <p:cNvPr id="5" name="Text 3"/>
          <p:cNvSpPr/>
          <p:nvPr/>
        </p:nvSpPr>
        <p:spPr>
          <a:xfrm>
            <a:off x="320040" y="713232"/>
            <a:ext cx="8503920" cy="228600"/>
          </a:xfrm>
          <a:prstGeom prst="rect">
            <a:avLst/>
          </a:prstGeom>
          <a:noFill/>
          <a:ln/>
        </p:spPr>
        <p:txBody>
          <a:bodyPr wrap="square" lIns="0" tIns="0" rIns="0" bIns="0" rtlCol="0" anchor="ctr"/>
          <a:lstStyle/>
          <a:p>
            <a:pPr marL="0" indent="0">
              <a:buNone/>
            </a:pPr>
            <a:r>
              <a:rPr lang="en-US" sz="900" i="1" dirty="0">
                <a:solidFill>
                  <a:srgbClr val="8BA3B8"/>
                </a:solidFill>
              </a:rPr>
              <a:t>Three decisions we recommend leadership consider</a:t>
            </a:r>
            <a:endParaRPr lang="en-US" sz="900" dirty="0"/>
          </a:p>
        </p:txBody>
      </p:sp>
      <p:sp>
        <p:nvSpPr>
          <p:cNvPr id="6" name="Shape 4"/>
          <p:cNvSpPr/>
          <p:nvPr/>
        </p:nvSpPr>
        <p:spPr>
          <a:xfrm>
            <a:off x="320040" y="1005840"/>
            <a:ext cx="8503920" cy="111556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7" name="Shape 5"/>
          <p:cNvSpPr/>
          <p:nvPr/>
        </p:nvSpPr>
        <p:spPr>
          <a:xfrm>
            <a:off x="320040" y="1005840"/>
            <a:ext cx="73152" cy="1115568"/>
          </a:xfrm>
          <a:prstGeom prst="rect">
            <a:avLst/>
          </a:prstGeom>
          <a:solidFill>
            <a:srgbClr val="1C9E6E"/>
          </a:solidFill>
          <a:ln w="12700">
            <a:solidFill>
              <a:srgbClr val="1C9E6E"/>
            </a:solidFill>
            <a:prstDash val="solid"/>
          </a:ln>
        </p:spPr>
        <p:txBody>
          <a:bodyPr/>
          <a:lstStyle/>
          <a:p>
            <a:endParaRPr lang="en-US"/>
          </a:p>
        </p:txBody>
      </p:sp>
      <p:sp>
        <p:nvSpPr>
          <p:cNvPr id="8" name="Shape 6"/>
          <p:cNvSpPr/>
          <p:nvPr/>
        </p:nvSpPr>
        <p:spPr>
          <a:xfrm>
            <a:off x="320040" y="1005840"/>
            <a:ext cx="8503920" cy="50292"/>
          </a:xfrm>
          <a:prstGeom prst="rect">
            <a:avLst/>
          </a:prstGeom>
          <a:solidFill>
            <a:srgbClr val="1C9E6E"/>
          </a:solidFill>
          <a:ln w="12700">
            <a:solidFill>
              <a:srgbClr val="1C9E6E"/>
            </a:solidFill>
            <a:prstDash val="solid"/>
          </a:ln>
        </p:spPr>
        <p:txBody>
          <a:bodyPr/>
          <a:lstStyle/>
          <a:p>
            <a:endParaRPr lang="en-US"/>
          </a:p>
        </p:txBody>
      </p:sp>
      <p:sp>
        <p:nvSpPr>
          <p:cNvPr id="9" name="Shape 7"/>
          <p:cNvSpPr/>
          <p:nvPr/>
        </p:nvSpPr>
        <p:spPr>
          <a:xfrm>
            <a:off x="475488" y="1115568"/>
            <a:ext cx="914400" cy="219456"/>
          </a:xfrm>
          <a:prstGeom prst="rect">
            <a:avLst/>
          </a:prstGeom>
          <a:solidFill>
            <a:srgbClr val="1C9E6E"/>
          </a:solidFill>
          <a:ln w="12700">
            <a:solidFill>
              <a:srgbClr val="1C9E6E"/>
            </a:solidFill>
            <a:prstDash val="solid"/>
          </a:ln>
        </p:spPr>
        <p:txBody>
          <a:bodyPr/>
          <a:lstStyle/>
          <a:p>
            <a:endParaRPr lang="en-US"/>
          </a:p>
        </p:txBody>
      </p:sp>
      <p:sp>
        <p:nvSpPr>
          <p:cNvPr id="10" name="Text 8"/>
          <p:cNvSpPr/>
          <p:nvPr/>
        </p:nvSpPr>
        <p:spPr>
          <a:xfrm>
            <a:off x="475488" y="1115568"/>
            <a:ext cx="914400" cy="219456"/>
          </a:xfrm>
          <a:prstGeom prst="rect">
            <a:avLst/>
          </a:prstGeom>
          <a:noFill/>
          <a:ln/>
        </p:spPr>
        <p:txBody>
          <a:bodyPr wrap="square" lIns="0" tIns="0" rIns="0" bIns="0" rtlCol="0" anchor="ctr"/>
          <a:lstStyle/>
          <a:p>
            <a:pPr marL="0" indent="0" algn="ctr">
              <a:buNone/>
            </a:pPr>
            <a:r>
              <a:rPr lang="en-US" sz="750" b="1" dirty="0">
                <a:solidFill>
                  <a:srgbClr val="0D1B2A"/>
                </a:solidFill>
              </a:rPr>
              <a:t>DECISION 1</a:t>
            </a:r>
            <a:endParaRPr lang="en-US" sz="750" dirty="0"/>
          </a:p>
        </p:txBody>
      </p:sp>
      <p:sp>
        <p:nvSpPr>
          <p:cNvPr id="11" name="Shape 9"/>
          <p:cNvSpPr/>
          <p:nvPr/>
        </p:nvSpPr>
        <p:spPr>
          <a:xfrm>
            <a:off x="1481328" y="1115568"/>
            <a:ext cx="1005840" cy="219456"/>
          </a:xfrm>
          <a:prstGeom prst="rect">
            <a:avLst/>
          </a:prstGeom>
          <a:solidFill>
            <a:srgbClr val="112233"/>
          </a:solidFill>
          <a:ln w="6350">
            <a:solidFill>
              <a:srgbClr val="1C9E6E"/>
            </a:solidFill>
            <a:prstDash val="solid"/>
          </a:ln>
        </p:spPr>
        <p:txBody>
          <a:bodyPr/>
          <a:lstStyle/>
          <a:p>
            <a:endParaRPr lang="en-US"/>
          </a:p>
        </p:txBody>
      </p:sp>
      <p:sp>
        <p:nvSpPr>
          <p:cNvPr id="12" name="Text 10"/>
          <p:cNvSpPr/>
          <p:nvPr/>
        </p:nvSpPr>
        <p:spPr>
          <a:xfrm>
            <a:off x="1481328" y="1115568"/>
            <a:ext cx="1005840" cy="219456"/>
          </a:xfrm>
          <a:prstGeom prst="rect">
            <a:avLst/>
          </a:prstGeom>
          <a:noFill/>
          <a:ln/>
        </p:spPr>
        <p:txBody>
          <a:bodyPr wrap="square" lIns="0" tIns="0" rIns="0" bIns="0" rtlCol="0" anchor="ctr"/>
          <a:lstStyle/>
          <a:p>
            <a:pPr marL="0" indent="0" algn="ctr">
              <a:buNone/>
            </a:pPr>
            <a:r>
              <a:rPr lang="en-US" sz="750" dirty="0">
                <a:solidFill>
                  <a:srgbClr val="E8EEF4"/>
                </a:solidFill>
              </a:rPr>
              <a:t>Immediate</a:t>
            </a:r>
            <a:endParaRPr lang="en-US" sz="750" dirty="0"/>
          </a:p>
        </p:txBody>
      </p:sp>
      <p:sp>
        <p:nvSpPr>
          <p:cNvPr id="13" name="Shape 11"/>
          <p:cNvSpPr/>
          <p:nvPr/>
        </p:nvSpPr>
        <p:spPr>
          <a:xfrm>
            <a:off x="2578608" y="1115568"/>
            <a:ext cx="1280160" cy="219456"/>
          </a:xfrm>
          <a:prstGeom prst="rect">
            <a:avLst/>
          </a:prstGeom>
          <a:solidFill>
            <a:srgbClr val="112233"/>
          </a:solidFill>
          <a:ln w="6350">
            <a:solidFill>
              <a:srgbClr val="1C9E6E"/>
            </a:solidFill>
            <a:prstDash val="solid"/>
          </a:ln>
        </p:spPr>
        <p:txBody>
          <a:bodyPr/>
          <a:lstStyle/>
          <a:p>
            <a:endParaRPr lang="en-US"/>
          </a:p>
        </p:txBody>
      </p:sp>
      <p:sp>
        <p:nvSpPr>
          <p:cNvPr id="14" name="Text 12"/>
          <p:cNvSpPr/>
          <p:nvPr/>
        </p:nvSpPr>
        <p:spPr>
          <a:xfrm>
            <a:off x="2578608" y="1115568"/>
            <a:ext cx="1280160" cy="219456"/>
          </a:xfrm>
          <a:prstGeom prst="rect">
            <a:avLst/>
          </a:prstGeom>
          <a:noFill/>
          <a:ln/>
        </p:spPr>
        <p:txBody>
          <a:bodyPr wrap="square" lIns="0" tIns="0" rIns="0" bIns="0" rtlCol="0" anchor="ctr"/>
          <a:lstStyle/>
          <a:p>
            <a:pPr marL="0" indent="0" algn="ctr">
              <a:buNone/>
            </a:pPr>
            <a:r>
              <a:rPr lang="en-US" sz="750" dirty="0">
                <a:solidFill>
                  <a:srgbClr val="E8EEF4"/>
                </a:solidFill>
              </a:rPr>
              <a:t>Technology + Risk</a:t>
            </a:r>
            <a:endParaRPr lang="en-US" sz="750" dirty="0"/>
          </a:p>
        </p:txBody>
      </p:sp>
      <p:sp>
        <p:nvSpPr>
          <p:cNvPr id="15" name="Text 13"/>
          <p:cNvSpPr/>
          <p:nvPr/>
        </p:nvSpPr>
        <p:spPr>
          <a:xfrm>
            <a:off x="3977640" y="1097280"/>
            <a:ext cx="4663440" cy="256032"/>
          </a:xfrm>
          <a:prstGeom prst="rect">
            <a:avLst/>
          </a:prstGeom>
          <a:noFill/>
          <a:ln/>
        </p:spPr>
        <p:txBody>
          <a:bodyPr wrap="square" lIns="0" tIns="0" rIns="0" bIns="0" rtlCol="0" anchor="ctr"/>
          <a:lstStyle/>
          <a:p>
            <a:pPr marL="0" indent="0">
              <a:buNone/>
            </a:pPr>
            <a:r>
              <a:rPr lang="en-US" sz="1050" b="1" dirty="0">
                <a:solidFill>
                  <a:srgbClr val="FFFFFF"/>
                </a:solidFill>
              </a:rPr>
              <a:t>Approve the AI model for a controlled pilot</a:t>
            </a:r>
            <a:endParaRPr lang="en-US" sz="1050" dirty="0"/>
          </a:p>
        </p:txBody>
      </p:sp>
      <p:sp>
        <p:nvSpPr>
          <p:cNvPr id="16" name="Text 14"/>
          <p:cNvSpPr/>
          <p:nvPr/>
        </p:nvSpPr>
        <p:spPr>
          <a:xfrm>
            <a:off x="475488" y="1408176"/>
            <a:ext cx="4754880" cy="640080"/>
          </a:xfrm>
          <a:prstGeom prst="rect">
            <a:avLst/>
          </a:prstGeom>
          <a:noFill/>
          <a:ln/>
        </p:spPr>
        <p:txBody>
          <a:bodyPr wrap="square" lIns="0" tIns="0" rIns="0" bIns="0" rtlCol="0" anchor="ctr"/>
          <a:lstStyle/>
          <a:p>
            <a:pPr marL="0" indent="0">
              <a:buNone/>
            </a:pPr>
            <a:r>
              <a:rPr lang="en-US" sz="850" dirty="0">
                <a:solidFill>
                  <a:srgbClr val="E8EEF4"/>
                </a:solidFill>
              </a:rPr>
              <a:t>The XGBoost model has demonstrated it can detect 81% of fraud — double the current rules-only system — while keeping false alerts manageable. Running a controlled A/B pilot against the current system is low-risk and high-upside.</a:t>
            </a:r>
            <a:endParaRPr lang="en-US" sz="850" dirty="0"/>
          </a:p>
        </p:txBody>
      </p:sp>
      <p:sp>
        <p:nvSpPr>
          <p:cNvPr id="17" name="Shape 15"/>
          <p:cNvSpPr/>
          <p:nvPr/>
        </p:nvSpPr>
        <p:spPr>
          <a:xfrm>
            <a:off x="5349240" y="1389888"/>
            <a:ext cx="3337560" cy="667512"/>
          </a:xfrm>
          <a:prstGeom prst="rect">
            <a:avLst/>
          </a:prstGeom>
          <a:solidFill>
            <a:srgbClr val="1C9E6E">
              <a:alpha val="12000"/>
            </a:srgbClr>
          </a:solidFill>
          <a:ln w="6350">
            <a:solidFill>
              <a:srgbClr val="1C9E6E"/>
            </a:solidFill>
            <a:prstDash val="solid"/>
          </a:ln>
        </p:spPr>
        <p:txBody>
          <a:bodyPr/>
          <a:lstStyle/>
          <a:p>
            <a:endParaRPr lang="en-US"/>
          </a:p>
        </p:txBody>
      </p:sp>
      <p:sp>
        <p:nvSpPr>
          <p:cNvPr id="18" name="Text 16"/>
          <p:cNvSpPr/>
          <p:nvPr/>
        </p:nvSpPr>
        <p:spPr>
          <a:xfrm>
            <a:off x="5458968" y="1417320"/>
            <a:ext cx="3154680" cy="164592"/>
          </a:xfrm>
          <a:prstGeom prst="rect">
            <a:avLst/>
          </a:prstGeom>
          <a:noFill/>
          <a:ln/>
        </p:spPr>
        <p:txBody>
          <a:bodyPr wrap="square" lIns="0" tIns="0" rIns="0" bIns="0" rtlCol="0" anchor="ctr"/>
          <a:lstStyle/>
          <a:p>
            <a:pPr marL="0" indent="0">
              <a:buNone/>
            </a:pPr>
            <a:r>
              <a:rPr lang="en-US" sz="650" b="1" kern="0" spc="100" dirty="0">
                <a:solidFill>
                  <a:srgbClr val="1C9E6E"/>
                </a:solidFill>
              </a:rPr>
              <a:t>RECOMMENDED ACTION</a:t>
            </a:r>
            <a:endParaRPr lang="en-US" sz="650" dirty="0"/>
          </a:p>
        </p:txBody>
      </p:sp>
      <p:sp>
        <p:nvSpPr>
          <p:cNvPr id="19" name="Text 17"/>
          <p:cNvSpPr/>
          <p:nvPr/>
        </p:nvSpPr>
        <p:spPr>
          <a:xfrm>
            <a:off x="5458968" y="1581912"/>
            <a:ext cx="3154680" cy="429768"/>
          </a:xfrm>
          <a:prstGeom prst="rect">
            <a:avLst/>
          </a:prstGeom>
          <a:noFill/>
          <a:ln/>
        </p:spPr>
        <p:txBody>
          <a:bodyPr wrap="square" lIns="0" tIns="0" rIns="0" bIns="0" rtlCol="0" anchor="ctr"/>
          <a:lstStyle/>
          <a:p>
            <a:pPr marL="0" indent="0">
              <a:buNone/>
            </a:pPr>
            <a:r>
              <a:rPr lang="en-US" sz="800" dirty="0">
                <a:solidFill>
                  <a:srgbClr val="FFFFFF"/>
                </a:solidFill>
              </a:rPr>
              <a:t>Authorise a 90-day live pilot on a defined transaction segment to validate real-world performance before full rollout.</a:t>
            </a:r>
            <a:endParaRPr lang="en-US" sz="800" dirty="0"/>
          </a:p>
        </p:txBody>
      </p:sp>
      <p:sp>
        <p:nvSpPr>
          <p:cNvPr id="20" name="Shape 18"/>
          <p:cNvSpPr/>
          <p:nvPr/>
        </p:nvSpPr>
        <p:spPr>
          <a:xfrm>
            <a:off x="320040" y="2267712"/>
            <a:ext cx="8503920" cy="111556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21" name="Shape 19"/>
          <p:cNvSpPr/>
          <p:nvPr/>
        </p:nvSpPr>
        <p:spPr>
          <a:xfrm>
            <a:off x="320040" y="2267712"/>
            <a:ext cx="73152" cy="1115568"/>
          </a:xfrm>
          <a:prstGeom prst="rect">
            <a:avLst/>
          </a:prstGeom>
          <a:solidFill>
            <a:srgbClr val="2A9FC4"/>
          </a:solidFill>
          <a:ln w="12700">
            <a:solidFill>
              <a:srgbClr val="2A9FC4"/>
            </a:solidFill>
            <a:prstDash val="solid"/>
          </a:ln>
        </p:spPr>
        <p:txBody>
          <a:bodyPr/>
          <a:lstStyle/>
          <a:p>
            <a:endParaRPr lang="en-US"/>
          </a:p>
        </p:txBody>
      </p:sp>
      <p:sp>
        <p:nvSpPr>
          <p:cNvPr id="22" name="Shape 20"/>
          <p:cNvSpPr/>
          <p:nvPr/>
        </p:nvSpPr>
        <p:spPr>
          <a:xfrm>
            <a:off x="320040" y="2267712"/>
            <a:ext cx="8503920" cy="50292"/>
          </a:xfrm>
          <a:prstGeom prst="rect">
            <a:avLst/>
          </a:prstGeom>
          <a:solidFill>
            <a:srgbClr val="2A9FC4"/>
          </a:solidFill>
          <a:ln w="12700">
            <a:solidFill>
              <a:srgbClr val="2A9FC4"/>
            </a:solidFill>
            <a:prstDash val="solid"/>
          </a:ln>
        </p:spPr>
        <p:txBody>
          <a:bodyPr/>
          <a:lstStyle/>
          <a:p>
            <a:endParaRPr lang="en-US"/>
          </a:p>
        </p:txBody>
      </p:sp>
      <p:sp>
        <p:nvSpPr>
          <p:cNvPr id="23" name="Shape 21"/>
          <p:cNvSpPr/>
          <p:nvPr/>
        </p:nvSpPr>
        <p:spPr>
          <a:xfrm>
            <a:off x="475488" y="2377440"/>
            <a:ext cx="914400" cy="219456"/>
          </a:xfrm>
          <a:prstGeom prst="rect">
            <a:avLst/>
          </a:prstGeom>
          <a:solidFill>
            <a:srgbClr val="2A9FC4"/>
          </a:solidFill>
          <a:ln w="12700">
            <a:solidFill>
              <a:srgbClr val="2A9FC4"/>
            </a:solidFill>
            <a:prstDash val="solid"/>
          </a:ln>
        </p:spPr>
        <p:txBody>
          <a:bodyPr/>
          <a:lstStyle/>
          <a:p>
            <a:endParaRPr lang="en-US"/>
          </a:p>
        </p:txBody>
      </p:sp>
      <p:sp>
        <p:nvSpPr>
          <p:cNvPr id="24" name="Text 22"/>
          <p:cNvSpPr/>
          <p:nvPr/>
        </p:nvSpPr>
        <p:spPr>
          <a:xfrm>
            <a:off x="475488" y="2377440"/>
            <a:ext cx="914400" cy="219456"/>
          </a:xfrm>
          <a:prstGeom prst="rect">
            <a:avLst/>
          </a:prstGeom>
          <a:noFill/>
          <a:ln/>
        </p:spPr>
        <p:txBody>
          <a:bodyPr wrap="square" lIns="0" tIns="0" rIns="0" bIns="0" rtlCol="0" anchor="ctr"/>
          <a:lstStyle/>
          <a:p>
            <a:pPr marL="0" indent="0" algn="ctr">
              <a:buNone/>
            </a:pPr>
            <a:r>
              <a:rPr lang="en-US" sz="750" b="1" dirty="0">
                <a:solidFill>
                  <a:srgbClr val="0D1B2A"/>
                </a:solidFill>
              </a:rPr>
              <a:t>DECISION 2</a:t>
            </a:r>
            <a:endParaRPr lang="en-US" sz="750" dirty="0"/>
          </a:p>
        </p:txBody>
      </p:sp>
      <p:sp>
        <p:nvSpPr>
          <p:cNvPr id="25" name="Shape 23"/>
          <p:cNvSpPr/>
          <p:nvPr/>
        </p:nvSpPr>
        <p:spPr>
          <a:xfrm>
            <a:off x="1481328" y="2377440"/>
            <a:ext cx="1005840" cy="219456"/>
          </a:xfrm>
          <a:prstGeom prst="rect">
            <a:avLst/>
          </a:prstGeom>
          <a:solidFill>
            <a:srgbClr val="112233"/>
          </a:solidFill>
          <a:ln w="6350">
            <a:solidFill>
              <a:srgbClr val="2A9FC4"/>
            </a:solidFill>
            <a:prstDash val="solid"/>
          </a:ln>
        </p:spPr>
        <p:txBody>
          <a:bodyPr/>
          <a:lstStyle/>
          <a:p>
            <a:endParaRPr lang="en-US"/>
          </a:p>
        </p:txBody>
      </p:sp>
      <p:sp>
        <p:nvSpPr>
          <p:cNvPr id="26" name="Text 24"/>
          <p:cNvSpPr/>
          <p:nvPr/>
        </p:nvSpPr>
        <p:spPr>
          <a:xfrm>
            <a:off x="1481328" y="2377440"/>
            <a:ext cx="1005840" cy="219456"/>
          </a:xfrm>
          <a:prstGeom prst="rect">
            <a:avLst/>
          </a:prstGeom>
          <a:noFill/>
          <a:ln/>
        </p:spPr>
        <p:txBody>
          <a:bodyPr wrap="square" lIns="0" tIns="0" rIns="0" bIns="0" rtlCol="0" anchor="ctr"/>
          <a:lstStyle/>
          <a:p>
            <a:pPr marL="0" indent="0" algn="ctr">
              <a:buNone/>
            </a:pPr>
            <a:r>
              <a:rPr lang="en-US" sz="750" dirty="0">
                <a:solidFill>
                  <a:srgbClr val="E8EEF4"/>
                </a:solidFill>
              </a:rPr>
              <a:t>Before Pilot Launch</a:t>
            </a:r>
            <a:endParaRPr lang="en-US" sz="750" dirty="0"/>
          </a:p>
        </p:txBody>
      </p:sp>
      <p:sp>
        <p:nvSpPr>
          <p:cNvPr id="27" name="Shape 25"/>
          <p:cNvSpPr/>
          <p:nvPr/>
        </p:nvSpPr>
        <p:spPr>
          <a:xfrm>
            <a:off x="2578608" y="2377440"/>
            <a:ext cx="1280160" cy="219456"/>
          </a:xfrm>
          <a:prstGeom prst="rect">
            <a:avLst/>
          </a:prstGeom>
          <a:solidFill>
            <a:srgbClr val="112233"/>
          </a:solidFill>
          <a:ln w="6350">
            <a:solidFill>
              <a:srgbClr val="2A9FC4"/>
            </a:solidFill>
            <a:prstDash val="solid"/>
          </a:ln>
        </p:spPr>
        <p:txBody>
          <a:bodyPr/>
          <a:lstStyle/>
          <a:p>
            <a:endParaRPr lang="en-US"/>
          </a:p>
        </p:txBody>
      </p:sp>
      <p:sp>
        <p:nvSpPr>
          <p:cNvPr id="28" name="Text 26"/>
          <p:cNvSpPr/>
          <p:nvPr/>
        </p:nvSpPr>
        <p:spPr>
          <a:xfrm>
            <a:off x="2578608" y="2377440"/>
            <a:ext cx="1280160" cy="219456"/>
          </a:xfrm>
          <a:prstGeom prst="rect">
            <a:avLst/>
          </a:prstGeom>
          <a:noFill/>
          <a:ln/>
        </p:spPr>
        <p:txBody>
          <a:bodyPr wrap="square" lIns="0" tIns="0" rIns="0" bIns="0" rtlCol="0" anchor="ctr"/>
          <a:lstStyle/>
          <a:p>
            <a:pPr marL="0" indent="0" algn="ctr">
              <a:buNone/>
            </a:pPr>
            <a:r>
              <a:rPr lang="en-US" sz="750" dirty="0">
                <a:solidFill>
                  <a:srgbClr val="E8EEF4"/>
                </a:solidFill>
              </a:rPr>
              <a:t>Technology</a:t>
            </a:r>
            <a:endParaRPr lang="en-US" sz="750" dirty="0"/>
          </a:p>
        </p:txBody>
      </p:sp>
      <p:sp>
        <p:nvSpPr>
          <p:cNvPr id="29" name="Text 27"/>
          <p:cNvSpPr/>
          <p:nvPr/>
        </p:nvSpPr>
        <p:spPr>
          <a:xfrm>
            <a:off x="3977640" y="2359152"/>
            <a:ext cx="4663440" cy="256032"/>
          </a:xfrm>
          <a:prstGeom prst="rect">
            <a:avLst/>
          </a:prstGeom>
          <a:noFill/>
          <a:ln/>
        </p:spPr>
        <p:txBody>
          <a:bodyPr wrap="square" lIns="0" tIns="0" rIns="0" bIns="0" rtlCol="0" anchor="ctr"/>
          <a:lstStyle/>
          <a:p>
            <a:pPr marL="0" indent="0">
              <a:buNone/>
            </a:pPr>
            <a:r>
              <a:rPr lang="en-US" sz="1050" b="1" dirty="0">
                <a:solidFill>
                  <a:srgbClr val="FFFFFF"/>
                </a:solidFill>
              </a:rPr>
              <a:t>Resolve the technical quality issues first</a:t>
            </a:r>
            <a:endParaRPr lang="en-US" sz="1050" dirty="0"/>
          </a:p>
        </p:txBody>
      </p:sp>
      <p:sp>
        <p:nvSpPr>
          <p:cNvPr id="30" name="Text 28"/>
          <p:cNvSpPr/>
          <p:nvPr/>
        </p:nvSpPr>
        <p:spPr>
          <a:xfrm>
            <a:off x="475488" y="2670048"/>
            <a:ext cx="4754880" cy="640080"/>
          </a:xfrm>
          <a:prstGeom prst="rect">
            <a:avLst/>
          </a:prstGeom>
          <a:noFill/>
          <a:ln/>
        </p:spPr>
        <p:txBody>
          <a:bodyPr wrap="square" lIns="0" tIns="0" rIns="0" bIns="0" rtlCol="0" anchor="ctr"/>
          <a:lstStyle/>
          <a:p>
            <a:pPr marL="0" indent="0">
              <a:buNone/>
            </a:pPr>
            <a:r>
              <a:rPr lang="en-US" sz="850" dirty="0">
                <a:solidFill>
                  <a:srgbClr val="E8EEF4"/>
                </a:solidFill>
              </a:rPr>
              <a:t>Our analysis found three data-handling issues in the prototype that may have made the model look slightly better than it truly is. These must be fixed before piloting to ensure what we measure in production is accurate and trustworthy.</a:t>
            </a:r>
            <a:endParaRPr lang="en-US" sz="850" dirty="0"/>
          </a:p>
        </p:txBody>
      </p:sp>
      <p:sp>
        <p:nvSpPr>
          <p:cNvPr id="31" name="Shape 29"/>
          <p:cNvSpPr/>
          <p:nvPr/>
        </p:nvSpPr>
        <p:spPr>
          <a:xfrm>
            <a:off x="5349240" y="2651760"/>
            <a:ext cx="3337560" cy="667512"/>
          </a:xfrm>
          <a:prstGeom prst="rect">
            <a:avLst/>
          </a:prstGeom>
          <a:solidFill>
            <a:srgbClr val="2A9FC4">
              <a:alpha val="12000"/>
            </a:srgbClr>
          </a:solidFill>
          <a:ln w="6350">
            <a:solidFill>
              <a:srgbClr val="2A9FC4"/>
            </a:solidFill>
            <a:prstDash val="solid"/>
          </a:ln>
        </p:spPr>
        <p:txBody>
          <a:bodyPr/>
          <a:lstStyle/>
          <a:p>
            <a:endParaRPr lang="en-US"/>
          </a:p>
        </p:txBody>
      </p:sp>
      <p:sp>
        <p:nvSpPr>
          <p:cNvPr id="32" name="Text 30"/>
          <p:cNvSpPr/>
          <p:nvPr/>
        </p:nvSpPr>
        <p:spPr>
          <a:xfrm>
            <a:off x="5458968" y="2679192"/>
            <a:ext cx="3154680" cy="164592"/>
          </a:xfrm>
          <a:prstGeom prst="rect">
            <a:avLst/>
          </a:prstGeom>
          <a:noFill/>
          <a:ln/>
        </p:spPr>
        <p:txBody>
          <a:bodyPr wrap="square" lIns="0" tIns="0" rIns="0" bIns="0" rtlCol="0" anchor="ctr"/>
          <a:lstStyle/>
          <a:p>
            <a:pPr marL="0" indent="0">
              <a:buNone/>
            </a:pPr>
            <a:r>
              <a:rPr lang="en-US" sz="650" b="1" kern="0" spc="100" dirty="0">
                <a:solidFill>
                  <a:srgbClr val="2A9FC4"/>
                </a:solidFill>
              </a:rPr>
              <a:t>RECOMMENDED ACTION</a:t>
            </a:r>
            <a:endParaRPr lang="en-US" sz="650" dirty="0"/>
          </a:p>
        </p:txBody>
      </p:sp>
      <p:sp>
        <p:nvSpPr>
          <p:cNvPr id="33" name="Text 31"/>
          <p:cNvSpPr/>
          <p:nvPr/>
        </p:nvSpPr>
        <p:spPr>
          <a:xfrm>
            <a:off x="5458968" y="2843784"/>
            <a:ext cx="3154680" cy="429768"/>
          </a:xfrm>
          <a:prstGeom prst="rect">
            <a:avLst/>
          </a:prstGeom>
          <a:noFill/>
          <a:ln/>
        </p:spPr>
        <p:txBody>
          <a:bodyPr wrap="square" lIns="0" tIns="0" rIns="0" bIns="0" rtlCol="0" anchor="ctr"/>
          <a:lstStyle/>
          <a:p>
            <a:pPr marL="0" indent="0">
              <a:buNone/>
            </a:pPr>
            <a:r>
              <a:rPr lang="en-US" sz="800" dirty="0">
                <a:solidFill>
                  <a:srgbClr val="FFFFFF"/>
                </a:solidFill>
              </a:rPr>
              <a:t>Task the data science team with a 3-week hardening sprint. Require a clean technical sign-off before any live deployment.</a:t>
            </a:r>
            <a:endParaRPr lang="en-US" sz="800" dirty="0"/>
          </a:p>
        </p:txBody>
      </p:sp>
      <p:sp>
        <p:nvSpPr>
          <p:cNvPr id="34" name="Shape 32"/>
          <p:cNvSpPr/>
          <p:nvPr/>
        </p:nvSpPr>
        <p:spPr>
          <a:xfrm>
            <a:off x="320040" y="3529584"/>
            <a:ext cx="8503920" cy="111556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35" name="Shape 33"/>
          <p:cNvSpPr/>
          <p:nvPr/>
        </p:nvSpPr>
        <p:spPr>
          <a:xfrm>
            <a:off x="320040" y="3529584"/>
            <a:ext cx="73152" cy="1115568"/>
          </a:xfrm>
          <a:prstGeom prst="rect">
            <a:avLst/>
          </a:prstGeom>
          <a:solidFill>
            <a:srgbClr val="E67E22"/>
          </a:solidFill>
          <a:ln w="12700">
            <a:solidFill>
              <a:srgbClr val="E67E22"/>
            </a:solidFill>
            <a:prstDash val="solid"/>
          </a:ln>
        </p:spPr>
        <p:txBody>
          <a:bodyPr/>
          <a:lstStyle/>
          <a:p>
            <a:endParaRPr lang="en-US"/>
          </a:p>
        </p:txBody>
      </p:sp>
      <p:sp>
        <p:nvSpPr>
          <p:cNvPr id="36" name="Shape 34"/>
          <p:cNvSpPr/>
          <p:nvPr/>
        </p:nvSpPr>
        <p:spPr>
          <a:xfrm>
            <a:off x="320040" y="3529584"/>
            <a:ext cx="8503920" cy="50292"/>
          </a:xfrm>
          <a:prstGeom prst="rect">
            <a:avLst/>
          </a:prstGeom>
          <a:solidFill>
            <a:srgbClr val="E67E22"/>
          </a:solidFill>
          <a:ln w="12700">
            <a:solidFill>
              <a:srgbClr val="E67E22"/>
            </a:solidFill>
            <a:prstDash val="solid"/>
          </a:ln>
        </p:spPr>
        <p:txBody>
          <a:bodyPr/>
          <a:lstStyle/>
          <a:p>
            <a:endParaRPr lang="en-US"/>
          </a:p>
        </p:txBody>
      </p:sp>
      <p:sp>
        <p:nvSpPr>
          <p:cNvPr id="37" name="Shape 35"/>
          <p:cNvSpPr/>
          <p:nvPr/>
        </p:nvSpPr>
        <p:spPr>
          <a:xfrm>
            <a:off x="475488" y="3639312"/>
            <a:ext cx="914400" cy="219456"/>
          </a:xfrm>
          <a:prstGeom prst="rect">
            <a:avLst/>
          </a:prstGeom>
          <a:solidFill>
            <a:srgbClr val="E67E22"/>
          </a:solidFill>
          <a:ln w="12700">
            <a:solidFill>
              <a:srgbClr val="E67E22"/>
            </a:solidFill>
            <a:prstDash val="solid"/>
          </a:ln>
        </p:spPr>
        <p:txBody>
          <a:bodyPr/>
          <a:lstStyle/>
          <a:p>
            <a:endParaRPr lang="en-US"/>
          </a:p>
        </p:txBody>
      </p:sp>
      <p:sp>
        <p:nvSpPr>
          <p:cNvPr id="38" name="Text 36"/>
          <p:cNvSpPr/>
          <p:nvPr/>
        </p:nvSpPr>
        <p:spPr>
          <a:xfrm>
            <a:off x="475488" y="3639312"/>
            <a:ext cx="914400" cy="219456"/>
          </a:xfrm>
          <a:prstGeom prst="rect">
            <a:avLst/>
          </a:prstGeom>
          <a:noFill/>
          <a:ln/>
        </p:spPr>
        <p:txBody>
          <a:bodyPr wrap="square" lIns="0" tIns="0" rIns="0" bIns="0" rtlCol="0" anchor="ctr"/>
          <a:lstStyle/>
          <a:p>
            <a:pPr marL="0" indent="0" algn="ctr">
              <a:buNone/>
            </a:pPr>
            <a:r>
              <a:rPr lang="en-US" sz="750" b="1" dirty="0">
                <a:solidFill>
                  <a:srgbClr val="0D1B2A"/>
                </a:solidFill>
              </a:rPr>
              <a:t>DECISION 3</a:t>
            </a:r>
            <a:endParaRPr lang="en-US" sz="750" dirty="0"/>
          </a:p>
        </p:txBody>
      </p:sp>
      <p:sp>
        <p:nvSpPr>
          <p:cNvPr id="39" name="Shape 37"/>
          <p:cNvSpPr/>
          <p:nvPr/>
        </p:nvSpPr>
        <p:spPr>
          <a:xfrm>
            <a:off x="1481328" y="3639312"/>
            <a:ext cx="1005840" cy="219456"/>
          </a:xfrm>
          <a:prstGeom prst="rect">
            <a:avLst/>
          </a:prstGeom>
          <a:solidFill>
            <a:srgbClr val="112233"/>
          </a:solidFill>
          <a:ln w="6350">
            <a:solidFill>
              <a:srgbClr val="E67E22"/>
            </a:solidFill>
            <a:prstDash val="solid"/>
          </a:ln>
        </p:spPr>
        <p:txBody>
          <a:bodyPr/>
          <a:lstStyle/>
          <a:p>
            <a:endParaRPr lang="en-US"/>
          </a:p>
        </p:txBody>
      </p:sp>
      <p:sp>
        <p:nvSpPr>
          <p:cNvPr id="40" name="Text 38"/>
          <p:cNvSpPr/>
          <p:nvPr/>
        </p:nvSpPr>
        <p:spPr>
          <a:xfrm>
            <a:off x="1481328" y="3639312"/>
            <a:ext cx="1005840" cy="219456"/>
          </a:xfrm>
          <a:prstGeom prst="rect">
            <a:avLst/>
          </a:prstGeom>
          <a:noFill/>
          <a:ln/>
        </p:spPr>
        <p:txBody>
          <a:bodyPr wrap="square" lIns="0" tIns="0" rIns="0" bIns="0" rtlCol="0" anchor="ctr"/>
          <a:lstStyle/>
          <a:p>
            <a:pPr marL="0" indent="0" algn="ctr">
              <a:buNone/>
            </a:pPr>
            <a:r>
              <a:rPr lang="en-US" sz="750" dirty="0">
                <a:solidFill>
                  <a:srgbClr val="E8EEF4"/>
                </a:solidFill>
              </a:rPr>
              <a:t>During Pilot</a:t>
            </a:r>
            <a:endParaRPr lang="en-US" sz="750" dirty="0"/>
          </a:p>
        </p:txBody>
      </p:sp>
      <p:sp>
        <p:nvSpPr>
          <p:cNvPr id="41" name="Shape 39"/>
          <p:cNvSpPr/>
          <p:nvPr/>
        </p:nvSpPr>
        <p:spPr>
          <a:xfrm>
            <a:off x="2578608" y="3639312"/>
            <a:ext cx="1280160" cy="219456"/>
          </a:xfrm>
          <a:prstGeom prst="rect">
            <a:avLst/>
          </a:prstGeom>
          <a:solidFill>
            <a:srgbClr val="112233"/>
          </a:solidFill>
          <a:ln w="6350">
            <a:solidFill>
              <a:srgbClr val="E67E22"/>
            </a:solidFill>
            <a:prstDash val="solid"/>
          </a:ln>
        </p:spPr>
        <p:txBody>
          <a:bodyPr/>
          <a:lstStyle/>
          <a:p>
            <a:endParaRPr lang="en-US"/>
          </a:p>
        </p:txBody>
      </p:sp>
      <p:sp>
        <p:nvSpPr>
          <p:cNvPr id="42" name="Text 40"/>
          <p:cNvSpPr/>
          <p:nvPr/>
        </p:nvSpPr>
        <p:spPr>
          <a:xfrm>
            <a:off x="2578608" y="3639312"/>
            <a:ext cx="1280160" cy="219456"/>
          </a:xfrm>
          <a:prstGeom prst="rect">
            <a:avLst/>
          </a:prstGeom>
          <a:noFill/>
          <a:ln/>
        </p:spPr>
        <p:txBody>
          <a:bodyPr wrap="square" lIns="0" tIns="0" rIns="0" bIns="0" rtlCol="0" anchor="ctr"/>
          <a:lstStyle/>
          <a:p>
            <a:pPr marL="0" indent="0" algn="ctr">
              <a:buNone/>
            </a:pPr>
            <a:r>
              <a:rPr lang="en-US" sz="750" dirty="0">
                <a:solidFill>
                  <a:srgbClr val="E8EEF4"/>
                </a:solidFill>
              </a:rPr>
              <a:t>Risk + Operations</a:t>
            </a:r>
            <a:endParaRPr lang="en-US" sz="750" dirty="0"/>
          </a:p>
        </p:txBody>
      </p:sp>
      <p:sp>
        <p:nvSpPr>
          <p:cNvPr id="43" name="Text 41"/>
          <p:cNvSpPr/>
          <p:nvPr/>
        </p:nvSpPr>
        <p:spPr>
          <a:xfrm>
            <a:off x="3977640" y="3621024"/>
            <a:ext cx="4663440" cy="256032"/>
          </a:xfrm>
          <a:prstGeom prst="rect">
            <a:avLst/>
          </a:prstGeom>
          <a:noFill/>
          <a:ln/>
        </p:spPr>
        <p:txBody>
          <a:bodyPr wrap="square" lIns="0" tIns="0" rIns="0" bIns="0" rtlCol="0" anchor="ctr"/>
          <a:lstStyle/>
          <a:p>
            <a:pPr marL="0" indent="0">
              <a:buNone/>
            </a:pPr>
            <a:r>
              <a:rPr lang="en-US" sz="1050" b="1" dirty="0">
                <a:solidFill>
                  <a:srgbClr val="FFFFFF"/>
                </a:solidFill>
              </a:rPr>
              <a:t>Define the business rules for acting on fraud scores</a:t>
            </a:r>
            <a:endParaRPr lang="en-US" sz="1050" dirty="0"/>
          </a:p>
        </p:txBody>
      </p:sp>
      <p:sp>
        <p:nvSpPr>
          <p:cNvPr id="44" name="Text 42"/>
          <p:cNvSpPr/>
          <p:nvPr/>
        </p:nvSpPr>
        <p:spPr>
          <a:xfrm>
            <a:off x="475488" y="3931920"/>
            <a:ext cx="4754880" cy="640080"/>
          </a:xfrm>
          <a:prstGeom prst="rect">
            <a:avLst/>
          </a:prstGeom>
          <a:noFill/>
          <a:ln/>
        </p:spPr>
        <p:txBody>
          <a:bodyPr wrap="square" lIns="0" tIns="0" rIns="0" bIns="0" rtlCol="0" anchor="ctr"/>
          <a:lstStyle/>
          <a:p>
            <a:pPr marL="0" indent="0">
              <a:buNone/>
            </a:pPr>
            <a:r>
              <a:rPr lang="en-US" sz="850" dirty="0">
                <a:solidFill>
                  <a:srgbClr val="E8EEF4"/>
                </a:solidFill>
              </a:rPr>
              <a:t>The model provides a risk score — the bank decides what to do with it. Setting the right threshold (what score triggers a decline vs. a review vs. an approve) is a business decision that balances fraud prevention against customer friction.</a:t>
            </a:r>
            <a:endParaRPr lang="en-US" sz="850" dirty="0"/>
          </a:p>
        </p:txBody>
      </p:sp>
      <p:sp>
        <p:nvSpPr>
          <p:cNvPr id="45" name="Shape 43"/>
          <p:cNvSpPr/>
          <p:nvPr/>
        </p:nvSpPr>
        <p:spPr>
          <a:xfrm>
            <a:off x="5349240" y="3913632"/>
            <a:ext cx="3337560" cy="667512"/>
          </a:xfrm>
          <a:prstGeom prst="rect">
            <a:avLst/>
          </a:prstGeom>
          <a:solidFill>
            <a:srgbClr val="E67E22">
              <a:alpha val="12000"/>
            </a:srgbClr>
          </a:solidFill>
          <a:ln w="6350">
            <a:solidFill>
              <a:srgbClr val="E67E22"/>
            </a:solidFill>
            <a:prstDash val="solid"/>
          </a:ln>
        </p:spPr>
        <p:txBody>
          <a:bodyPr/>
          <a:lstStyle/>
          <a:p>
            <a:endParaRPr lang="en-US"/>
          </a:p>
        </p:txBody>
      </p:sp>
      <p:sp>
        <p:nvSpPr>
          <p:cNvPr id="46" name="Text 44"/>
          <p:cNvSpPr/>
          <p:nvPr/>
        </p:nvSpPr>
        <p:spPr>
          <a:xfrm>
            <a:off x="5458968" y="3941064"/>
            <a:ext cx="3154680" cy="164592"/>
          </a:xfrm>
          <a:prstGeom prst="rect">
            <a:avLst/>
          </a:prstGeom>
          <a:noFill/>
          <a:ln/>
        </p:spPr>
        <p:txBody>
          <a:bodyPr wrap="square" lIns="0" tIns="0" rIns="0" bIns="0" rtlCol="0" anchor="ctr"/>
          <a:lstStyle/>
          <a:p>
            <a:pPr marL="0" indent="0">
              <a:buNone/>
            </a:pPr>
            <a:r>
              <a:rPr lang="en-US" sz="650" b="1" kern="0" spc="100" dirty="0">
                <a:solidFill>
                  <a:srgbClr val="E67E22"/>
                </a:solidFill>
              </a:rPr>
              <a:t>RECOMMENDED ACTION</a:t>
            </a:r>
            <a:endParaRPr lang="en-US" sz="650" dirty="0"/>
          </a:p>
        </p:txBody>
      </p:sp>
      <p:sp>
        <p:nvSpPr>
          <p:cNvPr id="47" name="Text 45"/>
          <p:cNvSpPr/>
          <p:nvPr/>
        </p:nvSpPr>
        <p:spPr>
          <a:xfrm>
            <a:off x="5458968" y="4105656"/>
            <a:ext cx="3154680" cy="429768"/>
          </a:xfrm>
          <a:prstGeom prst="rect">
            <a:avLst/>
          </a:prstGeom>
          <a:noFill/>
          <a:ln/>
        </p:spPr>
        <p:txBody>
          <a:bodyPr wrap="square" lIns="0" tIns="0" rIns="0" bIns="0" rtlCol="0" anchor="ctr"/>
          <a:lstStyle/>
          <a:p>
            <a:pPr marL="0" indent="0">
              <a:buNone/>
            </a:pPr>
            <a:r>
              <a:rPr lang="en-US" sz="800" dirty="0">
                <a:solidFill>
                  <a:srgbClr val="FFFFFF"/>
                </a:solidFill>
              </a:rPr>
              <a:t>Convene a working group (Risk, Operations, Customer Experience) to agree the operating thresholds before go-live.</a:t>
            </a:r>
            <a:endParaRPr lang="en-US" sz="800" dirty="0"/>
          </a:p>
        </p:txBody>
      </p:sp>
      <p:sp>
        <p:nvSpPr>
          <p:cNvPr id="48" name="Shape 46"/>
          <p:cNvSpPr/>
          <p:nvPr/>
        </p:nvSpPr>
        <p:spPr>
          <a:xfrm>
            <a:off x="0" y="4892040"/>
            <a:ext cx="9144000" cy="251460"/>
          </a:xfrm>
          <a:prstGeom prst="rect">
            <a:avLst/>
          </a:prstGeom>
          <a:solidFill>
            <a:srgbClr val="112233"/>
          </a:solidFill>
          <a:ln w="12700">
            <a:solidFill>
              <a:srgbClr val="112233"/>
            </a:solidFill>
            <a:prstDash val="solid"/>
          </a:ln>
        </p:spPr>
        <p:txBody>
          <a:bodyPr/>
          <a:lstStyle/>
          <a:p>
            <a:endParaRPr lang="en-US"/>
          </a:p>
        </p:txBody>
      </p:sp>
      <p:sp>
        <p:nvSpPr>
          <p:cNvPr id="49" name="Text 47"/>
          <p:cNvSpPr/>
          <p:nvPr/>
        </p:nvSpPr>
        <p:spPr>
          <a:xfrm>
            <a:off x="365760" y="4892040"/>
            <a:ext cx="8412480" cy="251460"/>
          </a:xfrm>
          <a:prstGeom prst="rect">
            <a:avLst/>
          </a:prstGeom>
          <a:noFill/>
          <a:ln/>
        </p:spPr>
        <p:txBody>
          <a:bodyPr wrap="square" lIns="0" tIns="0" rIns="0" bIns="0" rtlCol="0" anchor="ctr"/>
          <a:lstStyle/>
          <a:p>
            <a:pPr marL="0" indent="0">
              <a:buNone/>
            </a:pPr>
            <a:r>
              <a:rPr lang="en-US" sz="750" dirty="0">
                <a:solidFill>
                  <a:srgbClr val="8BA3B8"/>
                </a:solidFill>
              </a:rPr>
              <a:t>Recommendations based on model performance, technical review, and operational feasibility assessment</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0" y="0"/>
            <a:ext cx="8778240" cy="640080"/>
          </a:xfrm>
          <a:prstGeom prst="rect">
            <a:avLst/>
          </a:prstGeom>
          <a:noFill/>
          <a:ln/>
        </p:spPr>
        <p:txBody>
          <a:bodyPr wrap="square" lIns="0" tIns="0" rIns="0" bIns="0" rtlCol="0" anchor="ctr"/>
          <a:lstStyle/>
          <a:p>
            <a:pPr marL="0" indent="0" algn="r">
              <a:buNone/>
            </a:pPr>
            <a:r>
              <a:rPr lang="en-US" sz="800" kern="0" spc="200" dirty="0">
                <a:solidFill>
                  <a:srgbClr val="FFFFFF"/>
                </a:solidFill>
              </a:rPr>
              <a:t>06  ·  RISKS &amp; CONSIDERATIONS</a:t>
            </a:r>
            <a:endParaRPr lang="en-US" sz="800" dirty="0"/>
          </a:p>
        </p:txBody>
      </p:sp>
      <p:sp>
        <p:nvSpPr>
          <p:cNvPr id="4" name="Text 2"/>
          <p:cNvSpPr/>
          <p:nvPr/>
        </p:nvSpPr>
        <p:spPr>
          <a:xfrm>
            <a:off x="365760" y="0"/>
            <a:ext cx="6400800" cy="64008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Risks &amp; Considerations</a:t>
            </a:r>
            <a:endParaRPr lang="en-US" sz="1800" dirty="0"/>
          </a:p>
        </p:txBody>
      </p:sp>
      <p:sp>
        <p:nvSpPr>
          <p:cNvPr id="5" name="Text 3"/>
          <p:cNvSpPr/>
          <p:nvPr/>
        </p:nvSpPr>
        <p:spPr>
          <a:xfrm>
            <a:off x="320040" y="713232"/>
            <a:ext cx="8503920" cy="228600"/>
          </a:xfrm>
          <a:prstGeom prst="rect">
            <a:avLst/>
          </a:prstGeom>
          <a:noFill/>
          <a:ln/>
        </p:spPr>
        <p:txBody>
          <a:bodyPr wrap="square" lIns="0" tIns="0" rIns="0" bIns="0" rtlCol="0" anchor="ctr"/>
          <a:lstStyle/>
          <a:p>
            <a:pPr marL="0" indent="0">
              <a:buNone/>
            </a:pPr>
            <a:r>
              <a:rPr lang="en-US" sz="900" i="1" dirty="0">
                <a:solidFill>
                  <a:srgbClr val="8BA3B8"/>
                </a:solidFill>
              </a:rPr>
              <a:t>Known risks and how we propose to manage them</a:t>
            </a:r>
            <a:endParaRPr lang="en-US" sz="900" dirty="0"/>
          </a:p>
        </p:txBody>
      </p:sp>
      <p:sp>
        <p:nvSpPr>
          <p:cNvPr id="6" name="Shape 4"/>
          <p:cNvSpPr/>
          <p:nvPr/>
        </p:nvSpPr>
        <p:spPr>
          <a:xfrm>
            <a:off x="320040" y="987552"/>
            <a:ext cx="2761488" cy="274320"/>
          </a:xfrm>
          <a:prstGeom prst="rect">
            <a:avLst/>
          </a:prstGeom>
          <a:solidFill>
            <a:srgbClr val="C0392B"/>
          </a:solidFill>
          <a:ln w="12700">
            <a:solidFill>
              <a:srgbClr val="C0392B"/>
            </a:solidFill>
            <a:prstDash val="solid"/>
          </a:ln>
        </p:spPr>
        <p:txBody>
          <a:bodyPr/>
          <a:lstStyle/>
          <a:p>
            <a:endParaRPr lang="en-US"/>
          </a:p>
        </p:txBody>
      </p:sp>
      <p:sp>
        <p:nvSpPr>
          <p:cNvPr id="7" name="Text 5"/>
          <p:cNvSpPr/>
          <p:nvPr/>
        </p:nvSpPr>
        <p:spPr>
          <a:xfrm>
            <a:off x="320040" y="987552"/>
            <a:ext cx="2761488" cy="274320"/>
          </a:xfrm>
          <a:prstGeom prst="rect">
            <a:avLst/>
          </a:prstGeom>
          <a:noFill/>
          <a:ln/>
        </p:spPr>
        <p:txBody>
          <a:bodyPr wrap="square" lIns="0" tIns="0" rIns="0" bIns="0" rtlCol="0" anchor="ctr"/>
          <a:lstStyle/>
          <a:p>
            <a:pPr marL="0" indent="0" algn="ctr">
              <a:buNone/>
            </a:pPr>
            <a:r>
              <a:rPr lang="en-US" sz="850" b="1" dirty="0">
                <a:solidFill>
                  <a:srgbClr val="0D1B2A"/>
                </a:solidFill>
              </a:rPr>
              <a:t>HIGH PRIORITY</a:t>
            </a:r>
            <a:endParaRPr lang="en-US" sz="850" dirty="0"/>
          </a:p>
        </p:txBody>
      </p:sp>
      <p:sp>
        <p:nvSpPr>
          <p:cNvPr id="8" name="Shape 6"/>
          <p:cNvSpPr/>
          <p:nvPr/>
        </p:nvSpPr>
        <p:spPr>
          <a:xfrm>
            <a:off x="3264408" y="987552"/>
            <a:ext cx="2761488" cy="274320"/>
          </a:xfrm>
          <a:prstGeom prst="rect">
            <a:avLst/>
          </a:prstGeom>
          <a:solidFill>
            <a:srgbClr val="E67E22"/>
          </a:solidFill>
          <a:ln w="12700">
            <a:solidFill>
              <a:srgbClr val="E67E22"/>
            </a:solidFill>
            <a:prstDash val="solid"/>
          </a:ln>
        </p:spPr>
        <p:txBody>
          <a:bodyPr/>
          <a:lstStyle/>
          <a:p>
            <a:endParaRPr lang="en-US"/>
          </a:p>
        </p:txBody>
      </p:sp>
      <p:sp>
        <p:nvSpPr>
          <p:cNvPr id="9" name="Text 7"/>
          <p:cNvSpPr/>
          <p:nvPr/>
        </p:nvSpPr>
        <p:spPr>
          <a:xfrm>
            <a:off x="3264408" y="987552"/>
            <a:ext cx="2761488" cy="274320"/>
          </a:xfrm>
          <a:prstGeom prst="rect">
            <a:avLst/>
          </a:prstGeom>
          <a:noFill/>
          <a:ln/>
        </p:spPr>
        <p:txBody>
          <a:bodyPr wrap="square" lIns="0" tIns="0" rIns="0" bIns="0" rtlCol="0" anchor="ctr"/>
          <a:lstStyle/>
          <a:p>
            <a:pPr marL="0" indent="0" algn="ctr">
              <a:buNone/>
            </a:pPr>
            <a:r>
              <a:rPr lang="en-US" sz="850" b="1" dirty="0">
                <a:solidFill>
                  <a:srgbClr val="0D1B2A"/>
                </a:solidFill>
              </a:rPr>
              <a:t>MEDIUM PRIORITY</a:t>
            </a:r>
            <a:endParaRPr lang="en-US" sz="850" dirty="0"/>
          </a:p>
        </p:txBody>
      </p:sp>
      <p:sp>
        <p:nvSpPr>
          <p:cNvPr id="10" name="Shape 8"/>
          <p:cNvSpPr/>
          <p:nvPr/>
        </p:nvSpPr>
        <p:spPr>
          <a:xfrm>
            <a:off x="6208776" y="987552"/>
            <a:ext cx="2761488" cy="274320"/>
          </a:xfrm>
          <a:prstGeom prst="rect">
            <a:avLst/>
          </a:prstGeom>
          <a:solidFill>
            <a:srgbClr val="2A9FC4"/>
          </a:solidFill>
          <a:ln w="12700">
            <a:solidFill>
              <a:srgbClr val="2A9FC4"/>
            </a:solidFill>
            <a:prstDash val="solid"/>
          </a:ln>
        </p:spPr>
        <p:txBody>
          <a:bodyPr/>
          <a:lstStyle/>
          <a:p>
            <a:endParaRPr lang="en-US"/>
          </a:p>
        </p:txBody>
      </p:sp>
      <p:sp>
        <p:nvSpPr>
          <p:cNvPr id="11" name="Text 9"/>
          <p:cNvSpPr/>
          <p:nvPr/>
        </p:nvSpPr>
        <p:spPr>
          <a:xfrm>
            <a:off x="6208776" y="987552"/>
            <a:ext cx="2761488" cy="274320"/>
          </a:xfrm>
          <a:prstGeom prst="rect">
            <a:avLst/>
          </a:prstGeom>
          <a:noFill/>
          <a:ln/>
        </p:spPr>
        <p:txBody>
          <a:bodyPr wrap="square" lIns="0" tIns="0" rIns="0" bIns="0" rtlCol="0" anchor="ctr"/>
          <a:lstStyle/>
          <a:p>
            <a:pPr marL="0" indent="0" algn="ctr">
              <a:buNone/>
            </a:pPr>
            <a:r>
              <a:rPr lang="en-US" sz="850" b="1" dirty="0">
                <a:solidFill>
                  <a:srgbClr val="0D1B2A"/>
                </a:solidFill>
              </a:rPr>
              <a:t>LOW PRIORITY</a:t>
            </a:r>
            <a:endParaRPr lang="en-US" sz="850" dirty="0"/>
          </a:p>
        </p:txBody>
      </p:sp>
      <p:sp>
        <p:nvSpPr>
          <p:cNvPr id="12" name="Shape 10"/>
          <p:cNvSpPr/>
          <p:nvPr/>
        </p:nvSpPr>
        <p:spPr>
          <a:xfrm>
            <a:off x="320040" y="1316736"/>
            <a:ext cx="2761488" cy="166420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13" name="Text 11"/>
          <p:cNvSpPr/>
          <p:nvPr/>
        </p:nvSpPr>
        <p:spPr>
          <a:xfrm>
            <a:off x="429768" y="1408176"/>
            <a:ext cx="2560320" cy="256032"/>
          </a:xfrm>
          <a:prstGeom prst="rect">
            <a:avLst/>
          </a:prstGeom>
          <a:noFill/>
          <a:ln/>
        </p:spPr>
        <p:txBody>
          <a:bodyPr wrap="square" lIns="0" tIns="0" rIns="0" bIns="0" rtlCol="0" anchor="ctr"/>
          <a:lstStyle/>
          <a:p>
            <a:pPr marL="0" indent="0">
              <a:buNone/>
            </a:pPr>
            <a:r>
              <a:rPr lang="en-US" sz="950" b="1" dirty="0">
                <a:solidFill>
                  <a:srgbClr val="FFFFFF"/>
                </a:solidFill>
              </a:rPr>
              <a:t>Model metrics may be optimistic</a:t>
            </a:r>
            <a:endParaRPr lang="en-US" sz="950" dirty="0"/>
          </a:p>
        </p:txBody>
      </p:sp>
      <p:sp>
        <p:nvSpPr>
          <p:cNvPr id="14" name="Text 12"/>
          <p:cNvSpPr/>
          <p:nvPr/>
        </p:nvSpPr>
        <p:spPr>
          <a:xfrm>
            <a:off x="429768" y="1700784"/>
            <a:ext cx="2560320" cy="658368"/>
          </a:xfrm>
          <a:prstGeom prst="rect">
            <a:avLst/>
          </a:prstGeom>
          <a:noFill/>
          <a:ln/>
        </p:spPr>
        <p:txBody>
          <a:bodyPr wrap="square" lIns="0" tIns="0" rIns="0" bIns="0" rtlCol="0" anchor="ctr"/>
          <a:lstStyle/>
          <a:p>
            <a:pPr marL="0" indent="0">
              <a:buNone/>
            </a:pPr>
            <a:r>
              <a:rPr lang="en-US" sz="850" dirty="0">
                <a:solidFill>
                  <a:srgbClr val="E8EEF4"/>
                </a:solidFill>
              </a:rPr>
              <a:t>A technical issue in the prototype means the model may have been measured against data it had already seen. Real-world performance could differ.</a:t>
            </a:r>
            <a:endParaRPr lang="en-US" sz="850" dirty="0"/>
          </a:p>
        </p:txBody>
      </p:sp>
      <p:sp>
        <p:nvSpPr>
          <p:cNvPr id="15" name="Shape 13"/>
          <p:cNvSpPr/>
          <p:nvPr/>
        </p:nvSpPr>
        <p:spPr>
          <a:xfrm>
            <a:off x="393192" y="2395728"/>
            <a:ext cx="2633472" cy="530352"/>
          </a:xfrm>
          <a:prstGeom prst="rect">
            <a:avLst/>
          </a:prstGeom>
          <a:solidFill>
            <a:srgbClr val="C0392B">
              <a:alpha val="12000"/>
            </a:srgbClr>
          </a:solidFill>
          <a:ln w="6350">
            <a:solidFill>
              <a:srgbClr val="C0392B"/>
            </a:solidFill>
            <a:prstDash val="solid"/>
          </a:ln>
        </p:spPr>
        <p:txBody>
          <a:bodyPr/>
          <a:lstStyle/>
          <a:p>
            <a:endParaRPr lang="en-US"/>
          </a:p>
        </p:txBody>
      </p:sp>
      <p:sp>
        <p:nvSpPr>
          <p:cNvPr id="16" name="Text 14"/>
          <p:cNvSpPr/>
          <p:nvPr/>
        </p:nvSpPr>
        <p:spPr>
          <a:xfrm>
            <a:off x="457200" y="2423160"/>
            <a:ext cx="2560320" cy="146304"/>
          </a:xfrm>
          <a:prstGeom prst="rect">
            <a:avLst/>
          </a:prstGeom>
          <a:noFill/>
          <a:ln/>
        </p:spPr>
        <p:txBody>
          <a:bodyPr wrap="square" lIns="0" tIns="0" rIns="0" bIns="0" rtlCol="0" anchor="ctr"/>
          <a:lstStyle/>
          <a:p>
            <a:pPr marL="0" indent="0">
              <a:buNone/>
            </a:pPr>
            <a:r>
              <a:rPr lang="en-US" sz="650" b="1" kern="0" spc="100" dirty="0">
                <a:solidFill>
                  <a:srgbClr val="C0392B"/>
                </a:solidFill>
              </a:rPr>
              <a:t>MITIGATION</a:t>
            </a:r>
            <a:endParaRPr lang="en-US" sz="650" dirty="0"/>
          </a:p>
        </p:txBody>
      </p:sp>
      <p:sp>
        <p:nvSpPr>
          <p:cNvPr id="17" name="Text 15"/>
          <p:cNvSpPr/>
          <p:nvPr/>
        </p:nvSpPr>
        <p:spPr>
          <a:xfrm>
            <a:off x="457200" y="2569464"/>
            <a:ext cx="2560320" cy="320040"/>
          </a:xfrm>
          <a:prstGeom prst="rect">
            <a:avLst/>
          </a:prstGeom>
          <a:noFill/>
          <a:ln/>
        </p:spPr>
        <p:txBody>
          <a:bodyPr wrap="square" lIns="0" tIns="0" rIns="0" bIns="0" rtlCol="0" anchor="ctr"/>
          <a:lstStyle/>
          <a:p>
            <a:pPr marL="0" indent="0">
              <a:buNone/>
            </a:pPr>
            <a:r>
              <a:rPr lang="en-US" sz="800" dirty="0">
                <a:solidFill>
                  <a:srgbClr val="FFFFFF"/>
                </a:solidFill>
              </a:rPr>
              <a:t>Fix before pilot. Require a clean technical audit.</a:t>
            </a:r>
            <a:endParaRPr lang="en-US" sz="800" dirty="0"/>
          </a:p>
        </p:txBody>
      </p:sp>
      <p:sp>
        <p:nvSpPr>
          <p:cNvPr id="18" name="Shape 16"/>
          <p:cNvSpPr/>
          <p:nvPr/>
        </p:nvSpPr>
        <p:spPr>
          <a:xfrm>
            <a:off x="320040" y="3145536"/>
            <a:ext cx="2761488" cy="166420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19" name="Text 17"/>
          <p:cNvSpPr/>
          <p:nvPr/>
        </p:nvSpPr>
        <p:spPr>
          <a:xfrm>
            <a:off x="429768" y="3236976"/>
            <a:ext cx="2560320" cy="256032"/>
          </a:xfrm>
          <a:prstGeom prst="rect">
            <a:avLst/>
          </a:prstGeom>
          <a:noFill/>
          <a:ln/>
        </p:spPr>
        <p:txBody>
          <a:bodyPr wrap="square" lIns="0" tIns="0" rIns="0" bIns="0" rtlCol="0" anchor="ctr"/>
          <a:lstStyle/>
          <a:p>
            <a:pPr marL="0" indent="0">
              <a:buNone/>
            </a:pPr>
            <a:r>
              <a:rPr lang="en-US" sz="950" b="1" dirty="0">
                <a:solidFill>
                  <a:srgbClr val="FFFFFF"/>
                </a:solidFill>
              </a:rPr>
              <a:t>Fraud patterns change over time</a:t>
            </a:r>
            <a:endParaRPr lang="en-US" sz="950" dirty="0"/>
          </a:p>
        </p:txBody>
      </p:sp>
      <p:sp>
        <p:nvSpPr>
          <p:cNvPr id="20" name="Text 18"/>
          <p:cNvSpPr/>
          <p:nvPr/>
        </p:nvSpPr>
        <p:spPr>
          <a:xfrm>
            <a:off x="429768" y="3529584"/>
            <a:ext cx="2560320" cy="658368"/>
          </a:xfrm>
          <a:prstGeom prst="rect">
            <a:avLst/>
          </a:prstGeom>
          <a:noFill/>
          <a:ln/>
        </p:spPr>
        <p:txBody>
          <a:bodyPr wrap="square" lIns="0" tIns="0" rIns="0" bIns="0" rtlCol="0" anchor="ctr"/>
          <a:lstStyle/>
          <a:p>
            <a:pPr marL="0" indent="0">
              <a:buNone/>
            </a:pPr>
            <a:r>
              <a:rPr lang="en-US" sz="850" dirty="0">
                <a:solidFill>
                  <a:srgbClr val="E8EEF4"/>
                </a:solidFill>
              </a:rPr>
              <a:t>Fraudsters adapt. A model trained on 2013 data may miss new attack methods. Without regular updating, accuracy will decline.</a:t>
            </a:r>
            <a:endParaRPr lang="en-US" sz="850" dirty="0"/>
          </a:p>
        </p:txBody>
      </p:sp>
      <p:sp>
        <p:nvSpPr>
          <p:cNvPr id="21" name="Shape 19"/>
          <p:cNvSpPr/>
          <p:nvPr/>
        </p:nvSpPr>
        <p:spPr>
          <a:xfrm>
            <a:off x="393192" y="4224528"/>
            <a:ext cx="2633472" cy="530352"/>
          </a:xfrm>
          <a:prstGeom prst="rect">
            <a:avLst/>
          </a:prstGeom>
          <a:solidFill>
            <a:srgbClr val="C0392B">
              <a:alpha val="12000"/>
            </a:srgbClr>
          </a:solidFill>
          <a:ln w="6350">
            <a:solidFill>
              <a:srgbClr val="C0392B"/>
            </a:solidFill>
            <a:prstDash val="solid"/>
          </a:ln>
        </p:spPr>
        <p:txBody>
          <a:bodyPr/>
          <a:lstStyle/>
          <a:p>
            <a:endParaRPr lang="en-US"/>
          </a:p>
        </p:txBody>
      </p:sp>
      <p:sp>
        <p:nvSpPr>
          <p:cNvPr id="22" name="Text 20"/>
          <p:cNvSpPr/>
          <p:nvPr/>
        </p:nvSpPr>
        <p:spPr>
          <a:xfrm>
            <a:off x="457200" y="4251960"/>
            <a:ext cx="2560320" cy="146304"/>
          </a:xfrm>
          <a:prstGeom prst="rect">
            <a:avLst/>
          </a:prstGeom>
          <a:noFill/>
          <a:ln/>
        </p:spPr>
        <p:txBody>
          <a:bodyPr wrap="square" lIns="0" tIns="0" rIns="0" bIns="0" rtlCol="0" anchor="ctr"/>
          <a:lstStyle/>
          <a:p>
            <a:pPr marL="0" indent="0">
              <a:buNone/>
            </a:pPr>
            <a:r>
              <a:rPr lang="en-US" sz="650" b="1" kern="0" spc="100" dirty="0">
                <a:solidFill>
                  <a:srgbClr val="C0392B"/>
                </a:solidFill>
              </a:rPr>
              <a:t>MITIGATION</a:t>
            </a:r>
            <a:endParaRPr lang="en-US" sz="650" dirty="0"/>
          </a:p>
        </p:txBody>
      </p:sp>
      <p:sp>
        <p:nvSpPr>
          <p:cNvPr id="23" name="Text 21"/>
          <p:cNvSpPr/>
          <p:nvPr/>
        </p:nvSpPr>
        <p:spPr>
          <a:xfrm>
            <a:off x="457200" y="4398264"/>
            <a:ext cx="2560320" cy="320040"/>
          </a:xfrm>
          <a:prstGeom prst="rect">
            <a:avLst/>
          </a:prstGeom>
          <a:noFill/>
          <a:ln/>
        </p:spPr>
        <p:txBody>
          <a:bodyPr wrap="square" lIns="0" tIns="0" rIns="0" bIns="0" rtlCol="0" anchor="ctr"/>
          <a:lstStyle/>
          <a:p>
            <a:pPr marL="0" indent="0">
              <a:buNone/>
            </a:pPr>
            <a:r>
              <a:rPr lang="en-US" sz="800" dirty="0">
                <a:solidFill>
                  <a:srgbClr val="FFFFFF"/>
                </a:solidFill>
              </a:rPr>
              <a:t>Commit to quarterly model refresh as standard practice.</a:t>
            </a:r>
            <a:endParaRPr lang="en-US" sz="800" dirty="0"/>
          </a:p>
        </p:txBody>
      </p:sp>
      <p:sp>
        <p:nvSpPr>
          <p:cNvPr id="24" name="Shape 22"/>
          <p:cNvSpPr/>
          <p:nvPr/>
        </p:nvSpPr>
        <p:spPr>
          <a:xfrm>
            <a:off x="3264408" y="1316736"/>
            <a:ext cx="2761488" cy="166420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25" name="Text 23"/>
          <p:cNvSpPr/>
          <p:nvPr/>
        </p:nvSpPr>
        <p:spPr>
          <a:xfrm>
            <a:off x="3374136" y="1408176"/>
            <a:ext cx="2560320" cy="256032"/>
          </a:xfrm>
          <a:prstGeom prst="rect">
            <a:avLst/>
          </a:prstGeom>
          <a:noFill/>
          <a:ln/>
        </p:spPr>
        <p:txBody>
          <a:bodyPr wrap="square" lIns="0" tIns="0" rIns="0" bIns="0" rtlCol="0" anchor="ctr"/>
          <a:lstStyle/>
          <a:p>
            <a:pPr marL="0" indent="0">
              <a:buNone/>
            </a:pPr>
            <a:r>
              <a:rPr lang="en-US" sz="950" b="1" dirty="0">
                <a:solidFill>
                  <a:srgbClr val="FFFFFF"/>
                </a:solidFill>
              </a:rPr>
              <a:t>Wrong threshold = wrong outcomes</a:t>
            </a:r>
            <a:endParaRPr lang="en-US" sz="950" dirty="0"/>
          </a:p>
        </p:txBody>
      </p:sp>
      <p:sp>
        <p:nvSpPr>
          <p:cNvPr id="26" name="Text 24"/>
          <p:cNvSpPr/>
          <p:nvPr/>
        </p:nvSpPr>
        <p:spPr>
          <a:xfrm>
            <a:off x="3374136" y="1700784"/>
            <a:ext cx="2560320" cy="658368"/>
          </a:xfrm>
          <a:prstGeom prst="rect">
            <a:avLst/>
          </a:prstGeom>
          <a:noFill/>
          <a:ln/>
        </p:spPr>
        <p:txBody>
          <a:bodyPr wrap="square" lIns="0" tIns="0" rIns="0" bIns="0" rtlCol="0" anchor="ctr"/>
          <a:lstStyle/>
          <a:p>
            <a:pPr marL="0" indent="0">
              <a:buNone/>
            </a:pPr>
            <a:r>
              <a:rPr lang="en-US" sz="850" dirty="0">
                <a:solidFill>
                  <a:srgbClr val="E8EEF4"/>
                </a:solidFill>
              </a:rPr>
              <a:t>If the 'flag for review' threshold is set too aggressively, the bank declines too many legitimate customers. Too lenient and fraud slips through.</a:t>
            </a:r>
            <a:endParaRPr lang="en-US" sz="850" dirty="0"/>
          </a:p>
        </p:txBody>
      </p:sp>
      <p:sp>
        <p:nvSpPr>
          <p:cNvPr id="27" name="Shape 25"/>
          <p:cNvSpPr/>
          <p:nvPr/>
        </p:nvSpPr>
        <p:spPr>
          <a:xfrm>
            <a:off x="3337560" y="2395728"/>
            <a:ext cx="2633472" cy="530352"/>
          </a:xfrm>
          <a:prstGeom prst="rect">
            <a:avLst/>
          </a:prstGeom>
          <a:solidFill>
            <a:srgbClr val="E67E22">
              <a:alpha val="12000"/>
            </a:srgbClr>
          </a:solidFill>
          <a:ln w="6350">
            <a:solidFill>
              <a:srgbClr val="E67E22"/>
            </a:solidFill>
            <a:prstDash val="solid"/>
          </a:ln>
        </p:spPr>
        <p:txBody>
          <a:bodyPr/>
          <a:lstStyle/>
          <a:p>
            <a:endParaRPr lang="en-US"/>
          </a:p>
        </p:txBody>
      </p:sp>
      <p:sp>
        <p:nvSpPr>
          <p:cNvPr id="28" name="Text 26"/>
          <p:cNvSpPr/>
          <p:nvPr/>
        </p:nvSpPr>
        <p:spPr>
          <a:xfrm>
            <a:off x="3401568" y="2423160"/>
            <a:ext cx="2560320" cy="146304"/>
          </a:xfrm>
          <a:prstGeom prst="rect">
            <a:avLst/>
          </a:prstGeom>
          <a:noFill/>
          <a:ln/>
        </p:spPr>
        <p:txBody>
          <a:bodyPr wrap="square" lIns="0" tIns="0" rIns="0" bIns="0" rtlCol="0" anchor="ctr"/>
          <a:lstStyle/>
          <a:p>
            <a:pPr marL="0" indent="0">
              <a:buNone/>
            </a:pPr>
            <a:r>
              <a:rPr lang="en-US" sz="650" b="1" kern="0" spc="100" dirty="0">
                <a:solidFill>
                  <a:srgbClr val="E67E22"/>
                </a:solidFill>
              </a:rPr>
              <a:t>MITIGATION</a:t>
            </a:r>
            <a:endParaRPr lang="en-US" sz="650" dirty="0"/>
          </a:p>
        </p:txBody>
      </p:sp>
      <p:sp>
        <p:nvSpPr>
          <p:cNvPr id="29" name="Text 27"/>
          <p:cNvSpPr/>
          <p:nvPr/>
        </p:nvSpPr>
        <p:spPr>
          <a:xfrm>
            <a:off x="3401568" y="2569464"/>
            <a:ext cx="2560320" cy="320040"/>
          </a:xfrm>
          <a:prstGeom prst="rect">
            <a:avLst/>
          </a:prstGeom>
          <a:noFill/>
          <a:ln/>
        </p:spPr>
        <p:txBody>
          <a:bodyPr wrap="square" lIns="0" tIns="0" rIns="0" bIns="0" rtlCol="0" anchor="ctr"/>
          <a:lstStyle/>
          <a:p>
            <a:pPr marL="0" indent="0">
              <a:buNone/>
            </a:pPr>
            <a:r>
              <a:rPr lang="en-US" sz="800" dirty="0">
                <a:solidFill>
                  <a:srgbClr val="FFFFFF"/>
                </a:solidFill>
              </a:rPr>
              <a:t>Business stakeholders must agree thresholds before go-live.</a:t>
            </a:r>
            <a:endParaRPr lang="en-US" sz="800" dirty="0"/>
          </a:p>
        </p:txBody>
      </p:sp>
      <p:sp>
        <p:nvSpPr>
          <p:cNvPr id="30" name="Shape 28"/>
          <p:cNvSpPr/>
          <p:nvPr/>
        </p:nvSpPr>
        <p:spPr>
          <a:xfrm>
            <a:off x="3264408" y="3145536"/>
            <a:ext cx="2761488" cy="166420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31" name="Text 29"/>
          <p:cNvSpPr/>
          <p:nvPr/>
        </p:nvSpPr>
        <p:spPr>
          <a:xfrm>
            <a:off x="3374136" y="3236976"/>
            <a:ext cx="2560320" cy="256032"/>
          </a:xfrm>
          <a:prstGeom prst="rect">
            <a:avLst/>
          </a:prstGeom>
          <a:noFill/>
          <a:ln/>
        </p:spPr>
        <p:txBody>
          <a:bodyPr wrap="square" lIns="0" tIns="0" rIns="0" bIns="0" rtlCol="0" anchor="ctr"/>
          <a:lstStyle/>
          <a:p>
            <a:pPr marL="0" indent="0">
              <a:buNone/>
            </a:pPr>
            <a:r>
              <a:rPr lang="en-US" sz="950" b="1" dirty="0">
                <a:solidFill>
                  <a:srgbClr val="FFFFFF"/>
                </a:solidFill>
              </a:rPr>
              <a:t>Analyst capacity for alerts</a:t>
            </a:r>
            <a:endParaRPr lang="en-US" sz="950" dirty="0"/>
          </a:p>
        </p:txBody>
      </p:sp>
      <p:sp>
        <p:nvSpPr>
          <p:cNvPr id="32" name="Text 30"/>
          <p:cNvSpPr/>
          <p:nvPr/>
        </p:nvSpPr>
        <p:spPr>
          <a:xfrm>
            <a:off x="3374136" y="3529584"/>
            <a:ext cx="2560320" cy="658368"/>
          </a:xfrm>
          <a:prstGeom prst="rect">
            <a:avLst/>
          </a:prstGeom>
          <a:noFill/>
          <a:ln/>
        </p:spPr>
        <p:txBody>
          <a:bodyPr wrap="square" lIns="0" tIns="0" rIns="0" bIns="0" rtlCol="0" anchor="ctr"/>
          <a:lstStyle/>
          <a:p>
            <a:pPr marL="0" indent="0">
              <a:buNone/>
            </a:pPr>
            <a:r>
              <a:rPr lang="en-US" sz="850" dirty="0">
                <a:solidFill>
                  <a:srgbClr val="E8EEF4"/>
                </a:solidFill>
              </a:rPr>
              <a:t>Improving fraud detection means more alerts to review. Operations must be resourced to handle the increased volume effectively.</a:t>
            </a:r>
            <a:endParaRPr lang="en-US" sz="850" dirty="0"/>
          </a:p>
        </p:txBody>
      </p:sp>
      <p:sp>
        <p:nvSpPr>
          <p:cNvPr id="33" name="Shape 31"/>
          <p:cNvSpPr/>
          <p:nvPr/>
        </p:nvSpPr>
        <p:spPr>
          <a:xfrm>
            <a:off x="3337560" y="4224528"/>
            <a:ext cx="2633472" cy="530352"/>
          </a:xfrm>
          <a:prstGeom prst="rect">
            <a:avLst/>
          </a:prstGeom>
          <a:solidFill>
            <a:srgbClr val="E67E22">
              <a:alpha val="12000"/>
            </a:srgbClr>
          </a:solidFill>
          <a:ln w="6350">
            <a:solidFill>
              <a:srgbClr val="E67E22"/>
            </a:solidFill>
            <a:prstDash val="solid"/>
          </a:ln>
        </p:spPr>
        <p:txBody>
          <a:bodyPr/>
          <a:lstStyle/>
          <a:p>
            <a:endParaRPr lang="en-US"/>
          </a:p>
        </p:txBody>
      </p:sp>
      <p:sp>
        <p:nvSpPr>
          <p:cNvPr id="34" name="Text 32"/>
          <p:cNvSpPr/>
          <p:nvPr/>
        </p:nvSpPr>
        <p:spPr>
          <a:xfrm>
            <a:off x="3401568" y="4251960"/>
            <a:ext cx="2560320" cy="146304"/>
          </a:xfrm>
          <a:prstGeom prst="rect">
            <a:avLst/>
          </a:prstGeom>
          <a:noFill/>
          <a:ln/>
        </p:spPr>
        <p:txBody>
          <a:bodyPr wrap="square" lIns="0" tIns="0" rIns="0" bIns="0" rtlCol="0" anchor="ctr"/>
          <a:lstStyle/>
          <a:p>
            <a:pPr marL="0" indent="0">
              <a:buNone/>
            </a:pPr>
            <a:r>
              <a:rPr lang="en-US" sz="650" b="1" kern="0" spc="100" dirty="0">
                <a:solidFill>
                  <a:srgbClr val="E67E22"/>
                </a:solidFill>
              </a:rPr>
              <a:t>MITIGATION</a:t>
            </a:r>
            <a:endParaRPr lang="en-US" sz="650" dirty="0"/>
          </a:p>
        </p:txBody>
      </p:sp>
      <p:sp>
        <p:nvSpPr>
          <p:cNvPr id="35" name="Text 33"/>
          <p:cNvSpPr/>
          <p:nvPr/>
        </p:nvSpPr>
        <p:spPr>
          <a:xfrm>
            <a:off x="3401568" y="4398264"/>
            <a:ext cx="2560320" cy="320040"/>
          </a:xfrm>
          <a:prstGeom prst="rect">
            <a:avLst/>
          </a:prstGeom>
          <a:noFill/>
          <a:ln/>
        </p:spPr>
        <p:txBody>
          <a:bodyPr wrap="square" lIns="0" tIns="0" rIns="0" bIns="0" rtlCol="0" anchor="ctr"/>
          <a:lstStyle/>
          <a:p>
            <a:pPr marL="0" indent="0">
              <a:buNone/>
            </a:pPr>
            <a:r>
              <a:rPr lang="en-US" sz="800" dirty="0">
                <a:solidFill>
                  <a:srgbClr val="FFFFFF"/>
                </a:solidFill>
              </a:rPr>
              <a:t>Model the expected alert volume and plan staffing before launch.</a:t>
            </a:r>
            <a:endParaRPr lang="en-US" sz="800" dirty="0"/>
          </a:p>
        </p:txBody>
      </p:sp>
      <p:sp>
        <p:nvSpPr>
          <p:cNvPr id="36" name="Shape 34"/>
          <p:cNvSpPr/>
          <p:nvPr/>
        </p:nvSpPr>
        <p:spPr>
          <a:xfrm>
            <a:off x="6208776" y="1316736"/>
            <a:ext cx="2761488" cy="166420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37" name="Text 35"/>
          <p:cNvSpPr/>
          <p:nvPr/>
        </p:nvSpPr>
        <p:spPr>
          <a:xfrm>
            <a:off x="6318504" y="1408176"/>
            <a:ext cx="2560320" cy="256032"/>
          </a:xfrm>
          <a:prstGeom prst="rect">
            <a:avLst/>
          </a:prstGeom>
          <a:noFill/>
          <a:ln/>
        </p:spPr>
        <p:txBody>
          <a:bodyPr wrap="square" lIns="0" tIns="0" rIns="0" bIns="0" rtlCol="0" anchor="ctr"/>
          <a:lstStyle/>
          <a:p>
            <a:pPr marL="0" indent="0">
              <a:buNone/>
            </a:pPr>
            <a:r>
              <a:rPr lang="en-US" sz="950" b="1" dirty="0">
                <a:solidFill>
                  <a:srgbClr val="FFFFFF"/>
                </a:solidFill>
              </a:rPr>
              <a:t>Cannot audit for demographic bias</a:t>
            </a:r>
            <a:endParaRPr lang="en-US" sz="950" dirty="0"/>
          </a:p>
        </p:txBody>
      </p:sp>
      <p:sp>
        <p:nvSpPr>
          <p:cNvPr id="38" name="Text 36"/>
          <p:cNvSpPr/>
          <p:nvPr/>
        </p:nvSpPr>
        <p:spPr>
          <a:xfrm>
            <a:off x="6318504" y="1700784"/>
            <a:ext cx="2560320" cy="658368"/>
          </a:xfrm>
          <a:prstGeom prst="rect">
            <a:avLst/>
          </a:prstGeom>
          <a:noFill/>
          <a:ln/>
        </p:spPr>
        <p:txBody>
          <a:bodyPr wrap="square" lIns="0" tIns="0" rIns="0" bIns="0" rtlCol="0" anchor="ctr"/>
          <a:lstStyle/>
          <a:p>
            <a:pPr marL="0" indent="0">
              <a:buNone/>
            </a:pPr>
            <a:r>
              <a:rPr lang="en-US" sz="850" dirty="0">
                <a:solidFill>
                  <a:srgbClr val="E8EEF4"/>
                </a:solidFill>
              </a:rPr>
              <a:t>Transaction data is anonymised. We cannot verify whether the model performs equally across customer groups — a regulatory and reputational consideration.</a:t>
            </a:r>
            <a:endParaRPr lang="en-US" sz="850" dirty="0"/>
          </a:p>
        </p:txBody>
      </p:sp>
      <p:sp>
        <p:nvSpPr>
          <p:cNvPr id="39" name="Shape 37"/>
          <p:cNvSpPr/>
          <p:nvPr/>
        </p:nvSpPr>
        <p:spPr>
          <a:xfrm>
            <a:off x="6281928" y="2395728"/>
            <a:ext cx="2633472" cy="530352"/>
          </a:xfrm>
          <a:prstGeom prst="rect">
            <a:avLst/>
          </a:prstGeom>
          <a:solidFill>
            <a:srgbClr val="2A9FC4">
              <a:alpha val="12000"/>
            </a:srgbClr>
          </a:solidFill>
          <a:ln w="6350">
            <a:solidFill>
              <a:srgbClr val="2A9FC4"/>
            </a:solidFill>
            <a:prstDash val="solid"/>
          </a:ln>
        </p:spPr>
        <p:txBody>
          <a:bodyPr/>
          <a:lstStyle/>
          <a:p>
            <a:endParaRPr lang="en-US"/>
          </a:p>
        </p:txBody>
      </p:sp>
      <p:sp>
        <p:nvSpPr>
          <p:cNvPr id="40" name="Text 38"/>
          <p:cNvSpPr/>
          <p:nvPr/>
        </p:nvSpPr>
        <p:spPr>
          <a:xfrm>
            <a:off x="6345936" y="2423160"/>
            <a:ext cx="2560320" cy="146304"/>
          </a:xfrm>
          <a:prstGeom prst="rect">
            <a:avLst/>
          </a:prstGeom>
          <a:noFill/>
          <a:ln/>
        </p:spPr>
        <p:txBody>
          <a:bodyPr wrap="square" lIns="0" tIns="0" rIns="0" bIns="0" rtlCol="0" anchor="ctr"/>
          <a:lstStyle/>
          <a:p>
            <a:pPr marL="0" indent="0">
              <a:buNone/>
            </a:pPr>
            <a:r>
              <a:rPr lang="en-US" sz="650" b="1" kern="0" spc="100" dirty="0">
                <a:solidFill>
                  <a:srgbClr val="2A9FC4"/>
                </a:solidFill>
              </a:rPr>
              <a:t>MITIGATION</a:t>
            </a:r>
            <a:endParaRPr lang="en-US" sz="650" dirty="0"/>
          </a:p>
        </p:txBody>
      </p:sp>
      <p:sp>
        <p:nvSpPr>
          <p:cNvPr id="41" name="Text 39"/>
          <p:cNvSpPr/>
          <p:nvPr/>
        </p:nvSpPr>
        <p:spPr>
          <a:xfrm>
            <a:off x="6345936" y="2569464"/>
            <a:ext cx="2560320" cy="320040"/>
          </a:xfrm>
          <a:prstGeom prst="rect">
            <a:avLst/>
          </a:prstGeom>
          <a:noFill/>
          <a:ln/>
        </p:spPr>
        <p:txBody>
          <a:bodyPr wrap="square" lIns="0" tIns="0" rIns="0" bIns="0" rtlCol="0" anchor="ctr"/>
          <a:lstStyle/>
          <a:p>
            <a:pPr marL="0" indent="0">
              <a:buNone/>
            </a:pPr>
            <a:r>
              <a:rPr lang="en-US" sz="800" dirty="0">
                <a:solidFill>
                  <a:srgbClr val="FFFFFF"/>
                </a:solidFill>
              </a:rPr>
              <a:t>Obtain richer data for bias testing before any broad rollout.</a:t>
            </a:r>
            <a:endParaRPr lang="en-US" sz="800" dirty="0"/>
          </a:p>
        </p:txBody>
      </p:sp>
      <p:sp>
        <p:nvSpPr>
          <p:cNvPr id="42" name="Shape 40"/>
          <p:cNvSpPr/>
          <p:nvPr/>
        </p:nvSpPr>
        <p:spPr>
          <a:xfrm>
            <a:off x="6208776" y="3145536"/>
            <a:ext cx="2761488" cy="1664208"/>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43" name="Text 41"/>
          <p:cNvSpPr/>
          <p:nvPr/>
        </p:nvSpPr>
        <p:spPr>
          <a:xfrm>
            <a:off x="6318504" y="3236976"/>
            <a:ext cx="2560320" cy="256032"/>
          </a:xfrm>
          <a:prstGeom prst="rect">
            <a:avLst/>
          </a:prstGeom>
          <a:noFill/>
          <a:ln/>
        </p:spPr>
        <p:txBody>
          <a:bodyPr wrap="square" lIns="0" tIns="0" rIns="0" bIns="0" rtlCol="0" anchor="ctr"/>
          <a:lstStyle/>
          <a:p>
            <a:pPr marL="0" indent="0">
              <a:buNone/>
            </a:pPr>
            <a:r>
              <a:rPr lang="en-US" sz="950" b="1" dirty="0">
                <a:solidFill>
                  <a:srgbClr val="FFFFFF"/>
                </a:solidFill>
              </a:rPr>
              <a:t>Explaining individual decisions</a:t>
            </a:r>
            <a:endParaRPr lang="en-US" sz="950" dirty="0"/>
          </a:p>
        </p:txBody>
      </p:sp>
      <p:sp>
        <p:nvSpPr>
          <p:cNvPr id="44" name="Text 42"/>
          <p:cNvSpPr/>
          <p:nvPr/>
        </p:nvSpPr>
        <p:spPr>
          <a:xfrm>
            <a:off x="6318504" y="3529584"/>
            <a:ext cx="2560320" cy="658368"/>
          </a:xfrm>
          <a:prstGeom prst="rect">
            <a:avLst/>
          </a:prstGeom>
          <a:noFill/>
          <a:ln/>
        </p:spPr>
        <p:txBody>
          <a:bodyPr wrap="square" lIns="0" tIns="0" rIns="0" bIns="0" rtlCol="0" anchor="ctr"/>
          <a:lstStyle/>
          <a:p>
            <a:pPr marL="0" indent="0">
              <a:buNone/>
            </a:pPr>
            <a:r>
              <a:rPr lang="en-US" sz="850" dirty="0">
                <a:solidFill>
                  <a:srgbClr val="E8EEF4"/>
                </a:solidFill>
              </a:rPr>
              <a:t>Some regulators and customers may ask why a transaction was declined. The AI's reasoning can be explained at a summary level but not always in simple per-case terms.</a:t>
            </a:r>
            <a:endParaRPr lang="en-US" sz="850" dirty="0"/>
          </a:p>
        </p:txBody>
      </p:sp>
      <p:sp>
        <p:nvSpPr>
          <p:cNvPr id="45" name="Shape 43"/>
          <p:cNvSpPr/>
          <p:nvPr/>
        </p:nvSpPr>
        <p:spPr>
          <a:xfrm>
            <a:off x="6281928" y="4224528"/>
            <a:ext cx="2633472" cy="530352"/>
          </a:xfrm>
          <a:prstGeom prst="rect">
            <a:avLst/>
          </a:prstGeom>
          <a:solidFill>
            <a:srgbClr val="2A9FC4">
              <a:alpha val="12000"/>
            </a:srgbClr>
          </a:solidFill>
          <a:ln w="6350">
            <a:solidFill>
              <a:srgbClr val="2A9FC4"/>
            </a:solidFill>
            <a:prstDash val="solid"/>
          </a:ln>
        </p:spPr>
        <p:txBody>
          <a:bodyPr/>
          <a:lstStyle/>
          <a:p>
            <a:endParaRPr lang="en-US"/>
          </a:p>
        </p:txBody>
      </p:sp>
      <p:sp>
        <p:nvSpPr>
          <p:cNvPr id="46" name="Text 44"/>
          <p:cNvSpPr/>
          <p:nvPr/>
        </p:nvSpPr>
        <p:spPr>
          <a:xfrm>
            <a:off x="6345936" y="4251960"/>
            <a:ext cx="2560320" cy="146304"/>
          </a:xfrm>
          <a:prstGeom prst="rect">
            <a:avLst/>
          </a:prstGeom>
          <a:noFill/>
          <a:ln/>
        </p:spPr>
        <p:txBody>
          <a:bodyPr wrap="square" lIns="0" tIns="0" rIns="0" bIns="0" rtlCol="0" anchor="ctr"/>
          <a:lstStyle/>
          <a:p>
            <a:pPr marL="0" indent="0">
              <a:buNone/>
            </a:pPr>
            <a:r>
              <a:rPr lang="en-US" sz="650" b="1" kern="0" spc="100" dirty="0">
                <a:solidFill>
                  <a:srgbClr val="2A9FC4"/>
                </a:solidFill>
              </a:rPr>
              <a:t>MITIGATION</a:t>
            </a:r>
            <a:endParaRPr lang="en-US" sz="650" dirty="0"/>
          </a:p>
        </p:txBody>
      </p:sp>
      <p:sp>
        <p:nvSpPr>
          <p:cNvPr id="47" name="Text 45"/>
          <p:cNvSpPr/>
          <p:nvPr/>
        </p:nvSpPr>
        <p:spPr>
          <a:xfrm>
            <a:off x="6345936" y="4398264"/>
            <a:ext cx="2560320" cy="320040"/>
          </a:xfrm>
          <a:prstGeom prst="rect">
            <a:avLst/>
          </a:prstGeom>
          <a:noFill/>
          <a:ln/>
        </p:spPr>
        <p:txBody>
          <a:bodyPr wrap="square" lIns="0" tIns="0" rIns="0" bIns="0" rtlCol="0" anchor="ctr"/>
          <a:lstStyle/>
          <a:p>
            <a:pPr marL="0" indent="0">
              <a:buNone/>
            </a:pPr>
            <a:r>
              <a:rPr lang="en-US" sz="800" dirty="0">
                <a:solidFill>
                  <a:srgbClr val="FFFFFF"/>
                </a:solidFill>
              </a:rPr>
              <a:t>Prepare a plain-language explanation framework for customer queries.</a:t>
            </a:r>
            <a:endParaRPr lang="en-US" sz="800" dirty="0"/>
          </a:p>
        </p:txBody>
      </p:sp>
      <p:sp>
        <p:nvSpPr>
          <p:cNvPr id="48" name="Shape 46"/>
          <p:cNvSpPr/>
          <p:nvPr/>
        </p:nvSpPr>
        <p:spPr>
          <a:xfrm>
            <a:off x="0" y="4892040"/>
            <a:ext cx="9144000" cy="251460"/>
          </a:xfrm>
          <a:prstGeom prst="rect">
            <a:avLst/>
          </a:prstGeom>
          <a:solidFill>
            <a:srgbClr val="112233"/>
          </a:solidFill>
          <a:ln w="12700">
            <a:solidFill>
              <a:srgbClr val="112233"/>
            </a:solidFill>
            <a:prstDash val="solid"/>
          </a:ln>
        </p:spPr>
        <p:txBody>
          <a:bodyPr/>
          <a:lstStyle/>
          <a:p>
            <a:endParaRPr lang="en-US"/>
          </a:p>
        </p:txBody>
      </p:sp>
      <p:sp>
        <p:nvSpPr>
          <p:cNvPr id="49" name="Text 47"/>
          <p:cNvSpPr/>
          <p:nvPr/>
        </p:nvSpPr>
        <p:spPr>
          <a:xfrm>
            <a:off x="365760" y="4892040"/>
            <a:ext cx="8412480" cy="251460"/>
          </a:xfrm>
          <a:prstGeom prst="rect">
            <a:avLst/>
          </a:prstGeom>
          <a:noFill/>
          <a:ln/>
        </p:spPr>
        <p:txBody>
          <a:bodyPr wrap="square" lIns="0" tIns="0" rIns="0" bIns="0" rtlCol="0" anchor="ctr"/>
          <a:lstStyle/>
          <a:p>
            <a:pPr marL="0" indent="0">
              <a:buNone/>
            </a:pPr>
            <a:r>
              <a:rPr lang="en-US" sz="750" dirty="0">
                <a:solidFill>
                  <a:srgbClr val="8BA3B8"/>
                </a:solidFill>
              </a:rPr>
              <a:t>Risk assessment based on technical audit (§5c), bias review (§5b), and operational feasibility analysis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0" y="0"/>
            <a:ext cx="8778240" cy="640080"/>
          </a:xfrm>
          <a:prstGeom prst="rect">
            <a:avLst/>
          </a:prstGeom>
          <a:noFill/>
          <a:ln/>
        </p:spPr>
        <p:txBody>
          <a:bodyPr wrap="square" lIns="0" tIns="0" rIns="0" bIns="0" rtlCol="0" anchor="ctr"/>
          <a:lstStyle/>
          <a:p>
            <a:pPr marL="0" indent="0" algn="r">
              <a:buNone/>
            </a:pPr>
            <a:r>
              <a:rPr lang="en-US" sz="800" kern="0" spc="200" dirty="0">
                <a:solidFill>
                  <a:srgbClr val="FFFFFF"/>
                </a:solidFill>
              </a:rPr>
              <a:t>07  ·  NEXT STEPS &amp; ROI PROJECTION</a:t>
            </a:r>
            <a:endParaRPr lang="en-US" sz="800" dirty="0"/>
          </a:p>
        </p:txBody>
      </p:sp>
      <p:sp>
        <p:nvSpPr>
          <p:cNvPr id="4" name="Text 2"/>
          <p:cNvSpPr/>
          <p:nvPr/>
        </p:nvSpPr>
        <p:spPr>
          <a:xfrm>
            <a:off x="365760" y="0"/>
            <a:ext cx="6400800" cy="64008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Next Steps &amp; ROI Projection</a:t>
            </a:r>
            <a:endParaRPr lang="en-US" sz="1800" dirty="0"/>
          </a:p>
        </p:txBody>
      </p:sp>
      <p:sp>
        <p:nvSpPr>
          <p:cNvPr id="5" name="Text 3"/>
          <p:cNvSpPr/>
          <p:nvPr/>
        </p:nvSpPr>
        <p:spPr>
          <a:xfrm>
            <a:off x="320040" y="713232"/>
            <a:ext cx="8503920" cy="228600"/>
          </a:xfrm>
          <a:prstGeom prst="rect">
            <a:avLst/>
          </a:prstGeom>
          <a:noFill/>
          <a:ln/>
        </p:spPr>
        <p:txBody>
          <a:bodyPr wrap="square" lIns="0" tIns="0" rIns="0" bIns="0" rtlCol="0" anchor="ctr"/>
          <a:lstStyle/>
          <a:p>
            <a:pPr marL="0" indent="0">
              <a:buNone/>
            </a:pPr>
            <a:r>
              <a:rPr lang="en-US" sz="900" i="1" dirty="0">
                <a:solidFill>
                  <a:srgbClr val="8BA3B8"/>
                </a:solidFill>
              </a:rPr>
              <a:t>A phased path to deployment and the financial case for moving forward</a:t>
            </a:r>
            <a:endParaRPr lang="en-US" sz="900" dirty="0"/>
          </a:p>
        </p:txBody>
      </p:sp>
      <p:sp>
        <p:nvSpPr>
          <p:cNvPr id="6" name="Text 4"/>
          <p:cNvSpPr/>
          <p:nvPr/>
        </p:nvSpPr>
        <p:spPr>
          <a:xfrm>
            <a:off x="320040" y="1005840"/>
            <a:ext cx="4663440" cy="219456"/>
          </a:xfrm>
          <a:prstGeom prst="rect">
            <a:avLst/>
          </a:prstGeom>
          <a:noFill/>
          <a:ln/>
        </p:spPr>
        <p:txBody>
          <a:bodyPr wrap="square" lIns="0" tIns="0" rIns="0" bIns="0" rtlCol="0" anchor="ctr"/>
          <a:lstStyle/>
          <a:p>
            <a:pPr marL="0" indent="0">
              <a:buNone/>
            </a:pPr>
            <a:r>
              <a:rPr lang="en-US" sz="850" b="1" kern="0" spc="100" dirty="0">
                <a:solidFill>
                  <a:srgbClr val="2A9FC4"/>
                </a:solidFill>
              </a:rPr>
              <a:t>DELIVERY PLAN</a:t>
            </a:r>
            <a:endParaRPr lang="en-US" sz="850" dirty="0"/>
          </a:p>
        </p:txBody>
      </p:sp>
      <p:sp>
        <p:nvSpPr>
          <p:cNvPr id="7" name="Shape 5"/>
          <p:cNvSpPr/>
          <p:nvPr/>
        </p:nvSpPr>
        <p:spPr>
          <a:xfrm>
            <a:off x="320040" y="1261872"/>
            <a:ext cx="4663440" cy="1060704"/>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8" name="Shape 6"/>
          <p:cNvSpPr/>
          <p:nvPr/>
        </p:nvSpPr>
        <p:spPr>
          <a:xfrm>
            <a:off x="320040" y="1261872"/>
            <a:ext cx="64008" cy="1060704"/>
          </a:xfrm>
          <a:prstGeom prst="rect">
            <a:avLst/>
          </a:prstGeom>
          <a:solidFill>
            <a:srgbClr val="1C9E6E"/>
          </a:solidFill>
          <a:ln w="12700">
            <a:solidFill>
              <a:srgbClr val="1C9E6E"/>
            </a:solidFill>
            <a:prstDash val="solid"/>
          </a:ln>
        </p:spPr>
        <p:txBody>
          <a:bodyPr/>
          <a:lstStyle/>
          <a:p>
            <a:endParaRPr lang="en-US"/>
          </a:p>
        </p:txBody>
      </p:sp>
      <p:sp>
        <p:nvSpPr>
          <p:cNvPr id="9" name="Shape 7"/>
          <p:cNvSpPr/>
          <p:nvPr/>
        </p:nvSpPr>
        <p:spPr>
          <a:xfrm>
            <a:off x="475488" y="1353312"/>
            <a:ext cx="731520" cy="219456"/>
          </a:xfrm>
          <a:prstGeom prst="rect">
            <a:avLst/>
          </a:prstGeom>
          <a:solidFill>
            <a:srgbClr val="1C9E6E"/>
          </a:solidFill>
          <a:ln w="12700">
            <a:solidFill>
              <a:srgbClr val="1C9E6E"/>
            </a:solidFill>
            <a:prstDash val="solid"/>
          </a:ln>
        </p:spPr>
        <p:txBody>
          <a:bodyPr/>
          <a:lstStyle/>
          <a:p>
            <a:endParaRPr lang="en-US"/>
          </a:p>
        </p:txBody>
      </p:sp>
      <p:sp>
        <p:nvSpPr>
          <p:cNvPr id="10" name="Text 8"/>
          <p:cNvSpPr/>
          <p:nvPr/>
        </p:nvSpPr>
        <p:spPr>
          <a:xfrm>
            <a:off x="475488" y="1353312"/>
            <a:ext cx="731520" cy="219456"/>
          </a:xfrm>
          <a:prstGeom prst="rect">
            <a:avLst/>
          </a:prstGeom>
          <a:noFill/>
          <a:ln/>
        </p:spPr>
        <p:txBody>
          <a:bodyPr wrap="square" lIns="0" tIns="0" rIns="0" bIns="0" rtlCol="0" anchor="ctr"/>
          <a:lstStyle/>
          <a:p>
            <a:pPr marL="0" indent="0" algn="ctr">
              <a:buNone/>
            </a:pPr>
            <a:r>
              <a:rPr lang="en-US" sz="750" b="1" dirty="0">
                <a:solidFill>
                  <a:srgbClr val="0D1B2A"/>
                </a:solidFill>
              </a:rPr>
              <a:t>Phase 1</a:t>
            </a:r>
            <a:endParaRPr lang="en-US" sz="750" dirty="0"/>
          </a:p>
        </p:txBody>
      </p:sp>
      <p:sp>
        <p:nvSpPr>
          <p:cNvPr id="11" name="Text 9"/>
          <p:cNvSpPr/>
          <p:nvPr/>
        </p:nvSpPr>
        <p:spPr>
          <a:xfrm>
            <a:off x="1280160" y="1353312"/>
            <a:ext cx="1005840" cy="219456"/>
          </a:xfrm>
          <a:prstGeom prst="rect">
            <a:avLst/>
          </a:prstGeom>
          <a:noFill/>
          <a:ln/>
        </p:spPr>
        <p:txBody>
          <a:bodyPr wrap="square" lIns="0" tIns="0" rIns="0" bIns="0" rtlCol="0" anchor="ctr"/>
          <a:lstStyle/>
          <a:p>
            <a:pPr marL="0" indent="0">
              <a:buNone/>
            </a:pPr>
            <a:r>
              <a:rPr lang="en-US" sz="750" i="1" dirty="0">
                <a:solidFill>
                  <a:srgbClr val="8BA3B8"/>
                </a:solidFill>
              </a:rPr>
              <a:t>Weeks 1–3</a:t>
            </a:r>
            <a:endParaRPr lang="en-US" sz="750" dirty="0"/>
          </a:p>
        </p:txBody>
      </p:sp>
      <p:sp>
        <p:nvSpPr>
          <p:cNvPr id="12" name="Text 10"/>
          <p:cNvSpPr/>
          <p:nvPr/>
        </p:nvSpPr>
        <p:spPr>
          <a:xfrm>
            <a:off x="2377440" y="1353312"/>
            <a:ext cx="2487168" cy="219456"/>
          </a:xfrm>
          <a:prstGeom prst="rect">
            <a:avLst/>
          </a:prstGeom>
          <a:noFill/>
          <a:ln/>
        </p:spPr>
        <p:txBody>
          <a:bodyPr wrap="square" lIns="0" tIns="0" rIns="0" bIns="0" rtlCol="0" anchor="ctr"/>
          <a:lstStyle/>
          <a:p>
            <a:pPr marL="0" indent="0">
              <a:buNone/>
            </a:pPr>
            <a:r>
              <a:rPr lang="en-US" sz="1000" b="1" dirty="0">
                <a:solidFill>
                  <a:srgbClr val="FFFFFF"/>
                </a:solidFill>
              </a:rPr>
              <a:t>Fix &amp; Verify</a:t>
            </a:r>
            <a:endParaRPr lang="en-US" sz="1000" dirty="0"/>
          </a:p>
        </p:txBody>
      </p:sp>
      <p:sp>
        <p:nvSpPr>
          <p:cNvPr id="13" name="Text 11"/>
          <p:cNvSpPr/>
          <p:nvPr/>
        </p:nvSpPr>
        <p:spPr>
          <a:xfrm>
            <a:off x="475488" y="1627632"/>
            <a:ext cx="4434840" cy="219456"/>
          </a:xfrm>
          <a:prstGeom prst="rect">
            <a:avLst/>
          </a:prstGeom>
          <a:noFill/>
          <a:ln/>
        </p:spPr>
        <p:txBody>
          <a:bodyPr wrap="square" lIns="0" tIns="0" rIns="0" bIns="0" rtlCol="0" anchor="ctr"/>
          <a:lstStyle/>
          <a:p>
            <a:pPr marL="0" indent="0">
              <a:buNone/>
            </a:pPr>
            <a:r>
              <a:rPr lang="en-US" sz="850" b="1" dirty="0">
                <a:solidFill>
                  <a:srgbClr val="1C9E6E"/>
                </a:solidFill>
              </a:rPr>
              <a:t>•  </a:t>
            </a:r>
            <a:r>
              <a:rPr lang="en-US" sz="850" dirty="0">
                <a:solidFill>
                  <a:srgbClr val="E8EEF4"/>
                </a:solidFill>
              </a:rPr>
              <a:t>Fix the 3 technical issues identified in the prototype</a:t>
            </a:r>
            <a:endParaRPr lang="en-US" sz="850" dirty="0"/>
          </a:p>
        </p:txBody>
      </p:sp>
      <p:sp>
        <p:nvSpPr>
          <p:cNvPr id="14" name="Text 12"/>
          <p:cNvSpPr/>
          <p:nvPr/>
        </p:nvSpPr>
        <p:spPr>
          <a:xfrm>
            <a:off x="475488" y="1865376"/>
            <a:ext cx="4434840" cy="219456"/>
          </a:xfrm>
          <a:prstGeom prst="rect">
            <a:avLst/>
          </a:prstGeom>
          <a:noFill/>
          <a:ln/>
        </p:spPr>
        <p:txBody>
          <a:bodyPr wrap="square" lIns="0" tIns="0" rIns="0" bIns="0" rtlCol="0" anchor="ctr"/>
          <a:lstStyle/>
          <a:p>
            <a:pPr marL="0" indent="0">
              <a:buNone/>
            </a:pPr>
            <a:r>
              <a:rPr lang="en-US" sz="850" b="1" dirty="0">
                <a:solidFill>
                  <a:srgbClr val="1C9E6E"/>
                </a:solidFill>
              </a:rPr>
              <a:t>•  </a:t>
            </a:r>
            <a:r>
              <a:rPr lang="en-US" sz="850" dirty="0">
                <a:solidFill>
                  <a:srgbClr val="E8EEF4"/>
                </a:solidFill>
              </a:rPr>
              <a:t>Re-measure performance with clean, trustworthy metrics</a:t>
            </a:r>
            <a:endParaRPr lang="en-US" sz="850" dirty="0"/>
          </a:p>
        </p:txBody>
      </p:sp>
      <p:sp>
        <p:nvSpPr>
          <p:cNvPr id="15" name="Text 13"/>
          <p:cNvSpPr/>
          <p:nvPr/>
        </p:nvSpPr>
        <p:spPr>
          <a:xfrm>
            <a:off x="475488" y="2103120"/>
            <a:ext cx="4434840" cy="219456"/>
          </a:xfrm>
          <a:prstGeom prst="rect">
            <a:avLst/>
          </a:prstGeom>
          <a:noFill/>
          <a:ln/>
        </p:spPr>
        <p:txBody>
          <a:bodyPr wrap="square" lIns="0" tIns="0" rIns="0" bIns="0" rtlCol="0" anchor="ctr"/>
          <a:lstStyle/>
          <a:p>
            <a:pPr marL="0" indent="0">
              <a:buNone/>
            </a:pPr>
            <a:r>
              <a:rPr lang="en-US" sz="850" b="1" dirty="0">
                <a:solidFill>
                  <a:srgbClr val="1C9E6E"/>
                </a:solidFill>
              </a:rPr>
              <a:t>•  </a:t>
            </a:r>
            <a:r>
              <a:rPr lang="en-US" sz="850" dirty="0">
                <a:solidFill>
                  <a:srgbClr val="E8EEF4"/>
                </a:solidFill>
              </a:rPr>
              <a:t>Get independent sign-off from Risk and Technology</a:t>
            </a:r>
            <a:endParaRPr lang="en-US" sz="850" dirty="0"/>
          </a:p>
        </p:txBody>
      </p:sp>
      <p:sp>
        <p:nvSpPr>
          <p:cNvPr id="16" name="Shape 14"/>
          <p:cNvSpPr/>
          <p:nvPr/>
        </p:nvSpPr>
        <p:spPr>
          <a:xfrm>
            <a:off x="320040" y="2450592"/>
            <a:ext cx="4663440" cy="1060704"/>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17" name="Shape 15"/>
          <p:cNvSpPr/>
          <p:nvPr/>
        </p:nvSpPr>
        <p:spPr>
          <a:xfrm>
            <a:off x="320040" y="2450592"/>
            <a:ext cx="64008" cy="1060704"/>
          </a:xfrm>
          <a:prstGeom prst="rect">
            <a:avLst/>
          </a:prstGeom>
          <a:solidFill>
            <a:srgbClr val="2A9FC4"/>
          </a:solidFill>
          <a:ln w="12700">
            <a:solidFill>
              <a:srgbClr val="2A9FC4"/>
            </a:solidFill>
            <a:prstDash val="solid"/>
          </a:ln>
        </p:spPr>
        <p:txBody>
          <a:bodyPr/>
          <a:lstStyle/>
          <a:p>
            <a:endParaRPr lang="en-US"/>
          </a:p>
        </p:txBody>
      </p:sp>
      <p:sp>
        <p:nvSpPr>
          <p:cNvPr id="18" name="Shape 16"/>
          <p:cNvSpPr/>
          <p:nvPr/>
        </p:nvSpPr>
        <p:spPr>
          <a:xfrm>
            <a:off x="475488" y="2542032"/>
            <a:ext cx="731520" cy="219456"/>
          </a:xfrm>
          <a:prstGeom prst="rect">
            <a:avLst/>
          </a:prstGeom>
          <a:solidFill>
            <a:srgbClr val="2A9FC4"/>
          </a:solidFill>
          <a:ln w="12700">
            <a:solidFill>
              <a:srgbClr val="2A9FC4"/>
            </a:solidFill>
            <a:prstDash val="solid"/>
          </a:ln>
        </p:spPr>
        <p:txBody>
          <a:bodyPr/>
          <a:lstStyle/>
          <a:p>
            <a:endParaRPr lang="en-US"/>
          </a:p>
        </p:txBody>
      </p:sp>
      <p:sp>
        <p:nvSpPr>
          <p:cNvPr id="19" name="Text 17"/>
          <p:cNvSpPr/>
          <p:nvPr/>
        </p:nvSpPr>
        <p:spPr>
          <a:xfrm>
            <a:off x="475488" y="2542032"/>
            <a:ext cx="731520" cy="219456"/>
          </a:xfrm>
          <a:prstGeom prst="rect">
            <a:avLst/>
          </a:prstGeom>
          <a:noFill/>
          <a:ln/>
        </p:spPr>
        <p:txBody>
          <a:bodyPr wrap="square" lIns="0" tIns="0" rIns="0" bIns="0" rtlCol="0" anchor="ctr"/>
          <a:lstStyle/>
          <a:p>
            <a:pPr marL="0" indent="0" algn="ctr">
              <a:buNone/>
            </a:pPr>
            <a:r>
              <a:rPr lang="en-US" sz="750" b="1" dirty="0">
                <a:solidFill>
                  <a:srgbClr val="0D1B2A"/>
                </a:solidFill>
              </a:rPr>
              <a:t>Phase 2</a:t>
            </a:r>
            <a:endParaRPr lang="en-US" sz="750" dirty="0"/>
          </a:p>
        </p:txBody>
      </p:sp>
      <p:sp>
        <p:nvSpPr>
          <p:cNvPr id="20" name="Text 18"/>
          <p:cNvSpPr/>
          <p:nvPr/>
        </p:nvSpPr>
        <p:spPr>
          <a:xfrm>
            <a:off x="1280160" y="2542032"/>
            <a:ext cx="1005840" cy="219456"/>
          </a:xfrm>
          <a:prstGeom prst="rect">
            <a:avLst/>
          </a:prstGeom>
          <a:noFill/>
          <a:ln/>
        </p:spPr>
        <p:txBody>
          <a:bodyPr wrap="square" lIns="0" tIns="0" rIns="0" bIns="0" rtlCol="0" anchor="ctr"/>
          <a:lstStyle/>
          <a:p>
            <a:pPr marL="0" indent="0">
              <a:buNone/>
            </a:pPr>
            <a:r>
              <a:rPr lang="en-US" sz="750" i="1" dirty="0">
                <a:solidFill>
                  <a:srgbClr val="8BA3B8"/>
                </a:solidFill>
              </a:rPr>
              <a:t>Weeks 4–6</a:t>
            </a:r>
            <a:endParaRPr lang="en-US" sz="750" dirty="0"/>
          </a:p>
        </p:txBody>
      </p:sp>
      <p:sp>
        <p:nvSpPr>
          <p:cNvPr id="21" name="Text 19"/>
          <p:cNvSpPr/>
          <p:nvPr/>
        </p:nvSpPr>
        <p:spPr>
          <a:xfrm>
            <a:off x="2377440" y="2542032"/>
            <a:ext cx="2487168" cy="219456"/>
          </a:xfrm>
          <a:prstGeom prst="rect">
            <a:avLst/>
          </a:prstGeom>
          <a:noFill/>
          <a:ln/>
        </p:spPr>
        <p:txBody>
          <a:bodyPr wrap="square" lIns="0" tIns="0" rIns="0" bIns="0" rtlCol="0" anchor="ctr"/>
          <a:lstStyle/>
          <a:p>
            <a:pPr marL="0" indent="0">
              <a:buNone/>
            </a:pPr>
            <a:r>
              <a:rPr lang="en-US" sz="1000" b="1" dirty="0">
                <a:solidFill>
                  <a:srgbClr val="FFFFFF"/>
                </a:solidFill>
              </a:rPr>
              <a:t>Tune &amp; Test</a:t>
            </a:r>
            <a:endParaRPr lang="en-US" sz="1000" dirty="0"/>
          </a:p>
        </p:txBody>
      </p:sp>
      <p:sp>
        <p:nvSpPr>
          <p:cNvPr id="22" name="Text 20"/>
          <p:cNvSpPr/>
          <p:nvPr/>
        </p:nvSpPr>
        <p:spPr>
          <a:xfrm>
            <a:off x="475488" y="2816352"/>
            <a:ext cx="4434840" cy="219456"/>
          </a:xfrm>
          <a:prstGeom prst="rect">
            <a:avLst/>
          </a:prstGeom>
          <a:noFill/>
          <a:ln/>
        </p:spPr>
        <p:txBody>
          <a:bodyPr wrap="square" lIns="0" tIns="0" rIns="0" bIns="0" rtlCol="0" anchor="ctr"/>
          <a:lstStyle/>
          <a:p>
            <a:pPr marL="0" indent="0">
              <a:buNone/>
            </a:pPr>
            <a:r>
              <a:rPr lang="en-US" sz="850" b="1" dirty="0">
                <a:solidFill>
                  <a:srgbClr val="2A9FC4"/>
                </a:solidFill>
              </a:rPr>
              <a:t>•  </a:t>
            </a:r>
            <a:r>
              <a:rPr lang="en-US" sz="850" dirty="0">
                <a:solidFill>
                  <a:srgbClr val="E8EEF4"/>
                </a:solidFill>
              </a:rPr>
              <a:t>Agree the fraud-score thresholds with Risk and Operations</a:t>
            </a:r>
            <a:endParaRPr lang="en-US" sz="850" dirty="0"/>
          </a:p>
        </p:txBody>
      </p:sp>
      <p:sp>
        <p:nvSpPr>
          <p:cNvPr id="23" name="Text 21"/>
          <p:cNvSpPr/>
          <p:nvPr/>
        </p:nvSpPr>
        <p:spPr>
          <a:xfrm>
            <a:off x="475488" y="3054096"/>
            <a:ext cx="4434840" cy="219456"/>
          </a:xfrm>
          <a:prstGeom prst="rect">
            <a:avLst/>
          </a:prstGeom>
          <a:noFill/>
          <a:ln/>
        </p:spPr>
        <p:txBody>
          <a:bodyPr wrap="square" lIns="0" tIns="0" rIns="0" bIns="0" rtlCol="0" anchor="ctr"/>
          <a:lstStyle/>
          <a:p>
            <a:pPr marL="0" indent="0">
              <a:buNone/>
            </a:pPr>
            <a:r>
              <a:rPr lang="en-US" sz="850" b="1" dirty="0">
                <a:solidFill>
                  <a:srgbClr val="2A9FC4"/>
                </a:solidFill>
              </a:rPr>
              <a:t>•  </a:t>
            </a:r>
            <a:r>
              <a:rPr lang="en-US" sz="850" dirty="0">
                <a:solidFill>
                  <a:srgbClr val="E8EEF4"/>
                </a:solidFill>
              </a:rPr>
              <a:t>Run the model in shadow mode alongside current systems</a:t>
            </a:r>
            <a:endParaRPr lang="en-US" sz="850" dirty="0"/>
          </a:p>
        </p:txBody>
      </p:sp>
      <p:sp>
        <p:nvSpPr>
          <p:cNvPr id="24" name="Text 22"/>
          <p:cNvSpPr/>
          <p:nvPr/>
        </p:nvSpPr>
        <p:spPr>
          <a:xfrm>
            <a:off x="475488" y="3291840"/>
            <a:ext cx="4434840" cy="219456"/>
          </a:xfrm>
          <a:prstGeom prst="rect">
            <a:avLst/>
          </a:prstGeom>
          <a:noFill/>
          <a:ln/>
        </p:spPr>
        <p:txBody>
          <a:bodyPr wrap="square" lIns="0" tIns="0" rIns="0" bIns="0" rtlCol="0" anchor="ctr"/>
          <a:lstStyle/>
          <a:p>
            <a:pPr marL="0" indent="0">
              <a:buNone/>
            </a:pPr>
            <a:r>
              <a:rPr lang="en-US" sz="850" b="1" dirty="0">
                <a:solidFill>
                  <a:srgbClr val="2A9FC4"/>
                </a:solidFill>
              </a:rPr>
              <a:t>•  </a:t>
            </a:r>
            <a:r>
              <a:rPr lang="en-US" sz="850" dirty="0">
                <a:solidFill>
                  <a:srgbClr val="E8EEF4"/>
                </a:solidFill>
              </a:rPr>
              <a:t>Measure impact on fraud caught vs. false-alert rate</a:t>
            </a:r>
            <a:endParaRPr lang="en-US" sz="850" dirty="0"/>
          </a:p>
        </p:txBody>
      </p:sp>
      <p:sp>
        <p:nvSpPr>
          <p:cNvPr id="25" name="Shape 23"/>
          <p:cNvSpPr/>
          <p:nvPr/>
        </p:nvSpPr>
        <p:spPr>
          <a:xfrm>
            <a:off x="320040" y="3639312"/>
            <a:ext cx="4663440" cy="1060704"/>
          </a:xfrm>
          <a:prstGeom prst="rect">
            <a:avLst/>
          </a:prstGeom>
          <a:solidFill>
            <a:srgbClr val="162A3D"/>
          </a:solidFill>
          <a:ln w="12700">
            <a:solidFill>
              <a:srgbClr val="112233"/>
            </a:solidFill>
            <a:prstDash val="solid"/>
          </a:ln>
          <a:effectLst>
            <a:outerShdw blurRad="127000" dist="38100" dir="8100000" algn="bl" rotWithShape="0">
              <a:srgbClr val="000000">
                <a:alpha val="28000"/>
              </a:srgbClr>
            </a:outerShdw>
          </a:effectLst>
        </p:spPr>
        <p:txBody>
          <a:bodyPr/>
          <a:lstStyle/>
          <a:p>
            <a:endParaRPr lang="en-US"/>
          </a:p>
        </p:txBody>
      </p:sp>
      <p:sp>
        <p:nvSpPr>
          <p:cNvPr id="26" name="Shape 24"/>
          <p:cNvSpPr/>
          <p:nvPr/>
        </p:nvSpPr>
        <p:spPr>
          <a:xfrm>
            <a:off x="320040" y="3639312"/>
            <a:ext cx="64008" cy="1060704"/>
          </a:xfrm>
          <a:prstGeom prst="rect">
            <a:avLst/>
          </a:prstGeom>
          <a:solidFill>
            <a:srgbClr val="E67E22"/>
          </a:solidFill>
          <a:ln w="12700">
            <a:solidFill>
              <a:srgbClr val="E67E22"/>
            </a:solidFill>
            <a:prstDash val="solid"/>
          </a:ln>
        </p:spPr>
        <p:txBody>
          <a:bodyPr/>
          <a:lstStyle/>
          <a:p>
            <a:endParaRPr lang="en-US"/>
          </a:p>
        </p:txBody>
      </p:sp>
      <p:sp>
        <p:nvSpPr>
          <p:cNvPr id="27" name="Shape 25"/>
          <p:cNvSpPr/>
          <p:nvPr/>
        </p:nvSpPr>
        <p:spPr>
          <a:xfrm>
            <a:off x="475488" y="3730752"/>
            <a:ext cx="731520" cy="219456"/>
          </a:xfrm>
          <a:prstGeom prst="rect">
            <a:avLst/>
          </a:prstGeom>
          <a:solidFill>
            <a:srgbClr val="E67E22"/>
          </a:solidFill>
          <a:ln w="12700">
            <a:solidFill>
              <a:srgbClr val="E67E22"/>
            </a:solidFill>
            <a:prstDash val="solid"/>
          </a:ln>
        </p:spPr>
        <p:txBody>
          <a:bodyPr/>
          <a:lstStyle/>
          <a:p>
            <a:endParaRPr lang="en-US"/>
          </a:p>
        </p:txBody>
      </p:sp>
      <p:sp>
        <p:nvSpPr>
          <p:cNvPr id="28" name="Text 26"/>
          <p:cNvSpPr/>
          <p:nvPr/>
        </p:nvSpPr>
        <p:spPr>
          <a:xfrm>
            <a:off x="475488" y="3730752"/>
            <a:ext cx="731520" cy="219456"/>
          </a:xfrm>
          <a:prstGeom prst="rect">
            <a:avLst/>
          </a:prstGeom>
          <a:noFill/>
          <a:ln/>
        </p:spPr>
        <p:txBody>
          <a:bodyPr wrap="square" lIns="0" tIns="0" rIns="0" bIns="0" rtlCol="0" anchor="ctr"/>
          <a:lstStyle/>
          <a:p>
            <a:pPr marL="0" indent="0" algn="ctr">
              <a:buNone/>
            </a:pPr>
            <a:r>
              <a:rPr lang="en-US" sz="750" b="1" dirty="0">
                <a:solidFill>
                  <a:srgbClr val="0D1B2A"/>
                </a:solidFill>
              </a:rPr>
              <a:t>Phase 3</a:t>
            </a:r>
            <a:endParaRPr lang="en-US" sz="750" dirty="0"/>
          </a:p>
        </p:txBody>
      </p:sp>
      <p:sp>
        <p:nvSpPr>
          <p:cNvPr id="29" name="Text 27"/>
          <p:cNvSpPr/>
          <p:nvPr/>
        </p:nvSpPr>
        <p:spPr>
          <a:xfrm>
            <a:off x="1280160" y="3730752"/>
            <a:ext cx="1005840" cy="219456"/>
          </a:xfrm>
          <a:prstGeom prst="rect">
            <a:avLst/>
          </a:prstGeom>
          <a:noFill/>
          <a:ln/>
        </p:spPr>
        <p:txBody>
          <a:bodyPr wrap="square" lIns="0" tIns="0" rIns="0" bIns="0" rtlCol="0" anchor="ctr"/>
          <a:lstStyle/>
          <a:p>
            <a:pPr marL="0" indent="0">
              <a:buNone/>
            </a:pPr>
            <a:r>
              <a:rPr lang="en-US" sz="750" i="1" dirty="0">
                <a:solidFill>
                  <a:srgbClr val="8BA3B8"/>
                </a:solidFill>
              </a:rPr>
              <a:t>Weeks 7–10</a:t>
            </a:r>
            <a:endParaRPr lang="en-US" sz="750" dirty="0"/>
          </a:p>
        </p:txBody>
      </p:sp>
      <p:sp>
        <p:nvSpPr>
          <p:cNvPr id="30" name="Text 28"/>
          <p:cNvSpPr/>
          <p:nvPr/>
        </p:nvSpPr>
        <p:spPr>
          <a:xfrm>
            <a:off x="2377440" y="3730752"/>
            <a:ext cx="2487168" cy="219456"/>
          </a:xfrm>
          <a:prstGeom prst="rect">
            <a:avLst/>
          </a:prstGeom>
          <a:noFill/>
          <a:ln/>
        </p:spPr>
        <p:txBody>
          <a:bodyPr wrap="square" lIns="0" tIns="0" rIns="0" bIns="0" rtlCol="0" anchor="ctr"/>
          <a:lstStyle/>
          <a:p>
            <a:pPr marL="0" indent="0">
              <a:buNone/>
            </a:pPr>
            <a:r>
              <a:rPr lang="en-US" sz="1000" b="1" dirty="0">
                <a:solidFill>
                  <a:srgbClr val="FFFFFF"/>
                </a:solidFill>
              </a:rPr>
              <a:t>Pilot Live</a:t>
            </a:r>
            <a:endParaRPr lang="en-US" sz="1000" dirty="0"/>
          </a:p>
        </p:txBody>
      </p:sp>
      <p:sp>
        <p:nvSpPr>
          <p:cNvPr id="31" name="Text 29"/>
          <p:cNvSpPr/>
          <p:nvPr/>
        </p:nvSpPr>
        <p:spPr>
          <a:xfrm>
            <a:off x="475488" y="4005072"/>
            <a:ext cx="4434840" cy="219456"/>
          </a:xfrm>
          <a:prstGeom prst="rect">
            <a:avLst/>
          </a:prstGeom>
          <a:noFill/>
          <a:ln/>
        </p:spPr>
        <p:txBody>
          <a:bodyPr wrap="square" lIns="0" tIns="0" rIns="0" bIns="0" rtlCol="0" anchor="ctr"/>
          <a:lstStyle/>
          <a:p>
            <a:pPr marL="0" indent="0">
              <a:buNone/>
            </a:pPr>
            <a:r>
              <a:rPr lang="en-US" sz="850" b="1" dirty="0">
                <a:solidFill>
                  <a:srgbClr val="E67E22"/>
                </a:solidFill>
              </a:rPr>
              <a:t>•  </a:t>
            </a:r>
            <a:r>
              <a:rPr lang="en-US" sz="850" dirty="0">
                <a:solidFill>
                  <a:srgbClr val="E8EEF4"/>
                </a:solidFill>
              </a:rPr>
              <a:t>Deploy on a defined transaction segment (A/B test)</a:t>
            </a:r>
            <a:endParaRPr lang="en-US" sz="850" dirty="0"/>
          </a:p>
        </p:txBody>
      </p:sp>
      <p:sp>
        <p:nvSpPr>
          <p:cNvPr id="32" name="Text 30"/>
          <p:cNvSpPr/>
          <p:nvPr/>
        </p:nvSpPr>
        <p:spPr>
          <a:xfrm>
            <a:off x="475488" y="4242816"/>
            <a:ext cx="4434840" cy="219456"/>
          </a:xfrm>
          <a:prstGeom prst="rect">
            <a:avLst/>
          </a:prstGeom>
          <a:noFill/>
          <a:ln/>
        </p:spPr>
        <p:txBody>
          <a:bodyPr wrap="square" lIns="0" tIns="0" rIns="0" bIns="0" rtlCol="0" anchor="ctr"/>
          <a:lstStyle/>
          <a:p>
            <a:pPr marL="0" indent="0">
              <a:buNone/>
            </a:pPr>
            <a:r>
              <a:rPr lang="en-US" sz="850" b="1" dirty="0">
                <a:solidFill>
                  <a:srgbClr val="E67E22"/>
                </a:solidFill>
              </a:rPr>
              <a:t>•  </a:t>
            </a:r>
            <a:r>
              <a:rPr lang="en-US" sz="850" dirty="0">
                <a:solidFill>
                  <a:srgbClr val="E8EEF4"/>
                </a:solidFill>
              </a:rPr>
              <a:t>Compare real fraud caught vs. current rules-only baseline</a:t>
            </a:r>
            <a:endParaRPr lang="en-US" sz="850" dirty="0"/>
          </a:p>
        </p:txBody>
      </p:sp>
      <p:sp>
        <p:nvSpPr>
          <p:cNvPr id="33" name="Text 31"/>
          <p:cNvSpPr/>
          <p:nvPr/>
        </p:nvSpPr>
        <p:spPr>
          <a:xfrm>
            <a:off x="475488" y="4480560"/>
            <a:ext cx="4434840" cy="219456"/>
          </a:xfrm>
          <a:prstGeom prst="rect">
            <a:avLst/>
          </a:prstGeom>
          <a:noFill/>
          <a:ln/>
        </p:spPr>
        <p:txBody>
          <a:bodyPr wrap="square" lIns="0" tIns="0" rIns="0" bIns="0" rtlCol="0" anchor="ctr"/>
          <a:lstStyle/>
          <a:p>
            <a:pPr marL="0" indent="0">
              <a:buNone/>
            </a:pPr>
            <a:r>
              <a:rPr lang="en-US" sz="850" b="1" dirty="0">
                <a:solidFill>
                  <a:srgbClr val="E67E22"/>
                </a:solidFill>
              </a:rPr>
              <a:t>•  </a:t>
            </a:r>
            <a:r>
              <a:rPr lang="en-US" sz="850" dirty="0">
                <a:solidFill>
                  <a:srgbClr val="E8EEF4"/>
                </a:solidFill>
              </a:rPr>
              <a:t>Report results to leadership at 90-day review</a:t>
            </a:r>
            <a:endParaRPr lang="en-US" sz="850" dirty="0"/>
          </a:p>
        </p:txBody>
      </p:sp>
      <p:sp>
        <p:nvSpPr>
          <p:cNvPr id="34" name="Text 32"/>
          <p:cNvSpPr/>
          <p:nvPr/>
        </p:nvSpPr>
        <p:spPr>
          <a:xfrm>
            <a:off x="5257800" y="1005840"/>
            <a:ext cx="3566160" cy="219456"/>
          </a:xfrm>
          <a:prstGeom prst="rect">
            <a:avLst/>
          </a:prstGeom>
          <a:noFill/>
          <a:ln/>
        </p:spPr>
        <p:txBody>
          <a:bodyPr wrap="square" lIns="0" tIns="0" rIns="0" bIns="0" rtlCol="0" anchor="ctr"/>
          <a:lstStyle/>
          <a:p>
            <a:pPr marL="0" indent="0">
              <a:buNone/>
            </a:pPr>
            <a:r>
              <a:rPr lang="en-US" sz="850" b="1" kern="0" spc="100" dirty="0">
                <a:solidFill>
                  <a:srgbClr val="2A9FC4"/>
                </a:solidFill>
              </a:rPr>
              <a:t>THE FINANCIAL CASE</a:t>
            </a:r>
            <a:endParaRPr lang="en-US" sz="8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257800" y="1261872"/>
          <a:ext cx="3566160" cy="1097280"/>
        </p:xfrm>
        <a:graphic>
          <a:graphicData uri="http://schemas.openxmlformats.org/drawingml/2006/table">
            <a:tbl>
              <a:tblPr/>
              <a:tblGrid>
                <a:gridCol w="14630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274320">
                <a:tc>
                  <a:txBody>
                    <a:bodyPr/>
                    <a:lstStyle/>
                    <a:p>
                      <a:pPr marL="0" indent="0">
                        <a:buNone/>
                      </a:pPr>
                      <a:r>
                        <a:rPr lang="en-US" sz="800" b="1" dirty="0">
                          <a:solidFill>
                            <a:srgbClr val="FFFFFF"/>
                          </a:solidFill>
                        </a:rPr>
                        <a:t>Scenario</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A3550"/>
                    </a:solidFill>
                  </a:tcPr>
                </a:tc>
                <a:tc>
                  <a:txBody>
                    <a:bodyPr/>
                    <a:lstStyle/>
                    <a:p>
                      <a:pPr marL="0" indent="0" algn="ctr">
                        <a:buNone/>
                      </a:pPr>
                      <a:r>
                        <a:rPr lang="en-US" sz="800" b="1" dirty="0">
                          <a:solidFill>
                            <a:srgbClr val="FFFFFF"/>
                          </a:solidFill>
                        </a:rPr>
                        <a:t>Fraud Stopped/yr</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A3550"/>
                    </a:solidFill>
                  </a:tcPr>
                </a:tc>
                <a:tc>
                  <a:txBody>
                    <a:bodyPr/>
                    <a:lstStyle/>
                    <a:p>
                      <a:pPr marL="0" indent="0" algn="ctr">
                        <a:buNone/>
                      </a:pPr>
                      <a:r>
                        <a:rPr lang="en-US" sz="800" b="1" dirty="0">
                          <a:solidFill>
                            <a:srgbClr val="FFFFFF"/>
                          </a:solidFill>
                        </a:rPr>
                        <a:t>Value Protected</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A3550"/>
                    </a:solidFill>
                  </a:tcPr>
                </a:tc>
                <a:extLst>
                  <a:ext uri="{0D108BD9-81ED-4DB2-BD59-A6C34878D82A}">
                    <a16:rowId xmlns:a16="http://schemas.microsoft.com/office/drawing/2014/main" val="10000"/>
                  </a:ext>
                </a:extLst>
              </a:tr>
              <a:tr h="274320">
                <a:tc>
                  <a:txBody>
                    <a:bodyPr/>
                    <a:lstStyle/>
                    <a:p>
                      <a:pPr marL="0" indent="0">
                        <a:buNone/>
                      </a:pPr>
                      <a:r>
                        <a:rPr lang="en-US" sz="800" dirty="0">
                          <a:solidFill>
                            <a:srgbClr val="8BA3B8"/>
                          </a:solidFill>
                        </a:rPr>
                        <a:t>Rules only (today)</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tc>
                  <a:txBody>
                    <a:bodyPr/>
                    <a:lstStyle/>
                    <a:p>
                      <a:pPr marL="0" indent="0" algn="ctr">
                        <a:buNone/>
                      </a:pPr>
                      <a:r>
                        <a:rPr lang="en-US" sz="800" dirty="0">
                          <a:solidFill>
                            <a:srgbClr val="8BA3B8"/>
                          </a:solidFill>
                        </a:rPr>
                        <a:t>~197 cases</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tc>
                  <a:txBody>
                    <a:bodyPr/>
                    <a:lstStyle/>
                    <a:p>
                      <a:pPr marL="0" indent="0" algn="ctr">
                        <a:buNone/>
                      </a:pPr>
                      <a:r>
                        <a:rPr lang="en-US" sz="800" dirty="0">
                          <a:solidFill>
                            <a:srgbClr val="8BA3B8"/>
                          </a:solidFill>
                        </a:rPr>
                        <a:t>$98,500</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extLst>
                  <a:ext uri="{0D108BD9-81ED-4DB2-BD59-A6C34878D82A}">
                    <a16:rowId xmlns:a16="http://schemas.microsoft.com/office/drawing/2014/main" val="10001"/>
                  </a:ext>
                </a:extLst>
              </a:tr>
              <a:tr h="274320">
                <a:tc>
                  <a:txBody>
                    <a:bodyPr/>
                    <a:lstStyle/>
                    <a:p>
                      <a:pPr marL="0" indent="0">
                        <a:buNone/>
                      </a:pPr>
                      <a:r>
                        <a:rPr lang="en-US" sz="800" dirty="0">
                          <a:solidFill>
                            <a:srgbClr val="E8EEF4"/>
                          </a:solidFill>
                        </a:rPr>
                        <a:t>AI Model (pilot)</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tc>
                  <a:txBody>
                    <a:bodyPr/>
                    <a:lstStyle/>
                    <a:p>
                      <a:pPr marL="0" indent="0" algn="ctr">
                        <a:buNone/>
                      </a:pPr>
                      <a:r>
                        <a:rPr lang="en-US" sz="800" dirty="0">
                          <a:solidFill>
                            <a:srgbClr val="E8EEF4"/>
                          </a:solidFill>
                        </a:rPr>
                        <a:t>~398 cases</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tc>
                  <a:txBody>
                    <a:bodyPr/>
                    <a:lstStyle/>
                    <a:p>
                      <a:pPr marL="0" indent="0" algn="ctr">
                        <a:buNone/>
                      </a:pPr>
                      <a:r>
                        <a:rPr lang="en-US" sz="800" dirty="0">
                          <a:solidFill>
                            <a:srgbClr val="E8EEF4"/>
                          </a:solidFill>
                        </a:rPr>
                        <a:t>$199,000</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62A3D"/>
                    </a:solidFill>
                  </a:tcPr>
                </a:tc>
                <a:extLst>
                  <a:ext uri="{0D108BD9-81ED-4DB2-BD59-A6C34878D82A}">
                    <a16:rowId xmlns:a16="http://schemas.microsoft.com/office/drawing/2014/main" val="10002"/>
                  </a:ext>
                </a:extLst>
              </a:tr>
              <a:tr h="274320">
                <a:tc>
                  <a:txBody>
                    <a:bodyPr/>
                    <a:lstStyle/>
                    <a:p>
                      <a:pPr marL="0" indent="0">
                        <a:buNone/>
                      </a:pPr>
                      <a:r>
                        <a:rPr lang="en-US" sz="800" b="1" dirty="0">
                          <a:solidFill>
                            <a:srgbClr val="F0C040"/>
                          </a:solidFill>
                        </a:rPr>
                        <a:t>Uplift from AI ★</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tc>
                  <a:txBody>
                    <a:bodyPr/>
                    <a:lstStyle/>
                    <a:p>
                      <a:pPr marL="0" indent="0" algn="ctr">
                        <a:buNone/>
                      </a:pPr>
                      <a:r>
                        <a:rPr lang="en-US" sz="800" b="1" dirty="0">
                          <a:solidFill>
                            <a:srgbClr val="1C9E6E"/>
                          </a:solidFill>
                        </a:rPr>
                        <a:t>+201 cases</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tc>
                  <a:txBody>
                    <a:bodyPr/>
                    <a:lstStyle/>
                    <a:p>
                      <a:pPr marL="0" indent="0" algn="ctr">
                        <a:buNone/>
                      </a:pPr>
                      <a:r>
                        <a:rPr lang="en-US" sz="800" b="1" dirty="0">
                          <a:solidFill>
                            <a:srgbClr val="1C9E6E"/>
                          </a:solidFill>
                        </a:rPr>
                        <a:t>+$100,500/yr</a:t>
                      </a:r>
                      <a:endParaRPr lang="en-US" sz="800" dirty="0"/>
                    </a:p>
                  </a:txBody>
                  <a:tcPr>
                    <a:lnL w="6350" cap="flat" cmpd="sng" algn="ctr">
                      <a:solidFill>
                        <a:srgbClr val="1A3550"/>
                      </a:solidFill>
                      <a:prstDash val="solid"/>
                      <a:round/>
                      <a:headEnd type="none" w="med" len="med"/>
                      <a:tailEnd type="none" w="med" len="med"/>
                    </a:lnL>
                    <a:lnR w="6350" cap="flat" cmpd="sng" algn="ctr">
                      <a:solidFill>
                        <a:srgbClr val="1A3550"/>
                      </a:solidFill>
                      <a:prstDash val="solid"/>
                      <a:round/>
                      <a:headEnd type="none" w="med" len="med"/>
                      <a:tailEnd type="none" w="med" len="med"/>
                    </a:lnR>
                    <a:lnT w="6350" cap="flat" cmpd="sng" algn="ctr">
                      <a:solidFill>
                        <a:srgbClr val="1A3550"/>
                      </a:solidFill>
                      <a:prstDash val="solid"/>
                      <a:round/>
                      <a:headEnd type="none" w="med" len="med"/>
                      <a:tailEnd type="none" w="med" len="med"/>
                    </a:lnT>
                    <a:lnB w="6350" cap="flat" cmpd="sng" algn="ctr">
                      <a:solidFill>
                        <a:srgbClr val="1A3550"/>
                      </a:solidFill>
                      <a:prstDash val="solid"/>
                      <a:round/>
                      <a:headEnd type="none" w="med" len="med"/>
                      <a:tailEnd type="none" w="med" len="med"/>
                    </a:lnB>
                    <a:solidFill>
                      <a:srgbClr val="112233"/>
                    </a:solidFill>
                  </a:tcPr>
                </a:tc>
                <a:extLst>
                  <a:ext uri="{0D108BD9-81ED-4DB2-BD59-A6C34878D82A}">
                    <a16:rowId xmlns:a16="http://schemas.microsoft.com/office/drawing/2014/main" val="10003"/>
                  </a:ext>
                </a:extLst>
              </a:tr>
            </a:tbl>
          </a:graphicData>
        </a:graphic>
      </p:graphicFrame>
      <p:sp>
        <p:nvSpPr>
          <p:cNvPr id="36" name="Text 33"/>
          <p:cNvSpPr/>
          <p:nvPr/>
        </p:nvSpPr>
        <p:spPr>
          <a:xfrm>
            <a:off x="5257800" y="2414016"/>
            <a:ext cx="3566160" cy="182880"/>
          </a:xfrm>
          <a:prstGeom prst="rect">
            <a:avLst/>
          </a:prstGeom>
          <a:noFill/>
          <a:ln/>
        </p:spPr>
        <p:txBody>
          <a:bodyPr wrap="square" lIns="0" tIns="0" rIns="0" bIns="0" rtlCol="0" anchor="ctr"/>
          <a:lstStyle/>
          <a:p>
            <a:pPr marL="0" indent="0">
              <a:buNone/>
            </a:pPr>
            <a:r>
              <a:rPr lang="en-US" sz="700" i="1" dirty="0">
                <a:solidFill>
                  <a:srgbClr val="8BA3B8"/>
                </a:solidFill>
              </a:rPr>
              <a:t>Based on $500 avg fraud value · 0.172% base fraud rate · illustrative</a:t>
            </a:r>
            <a:endParaRPr lang="en-US" sz="700" dirty="0"/>
          </a:p>
        </p:txBody>
      </p:sp>
      <p:sp>
        <p:nvSpPr>
          <p:cNvPr id="37" name="Shape 34"/>
          <p:cNvSpPr/>
          <p:nvPr/>
        </p:nvSpPr>
        <p:spPr>
          <a:xfrm>
            <a:off x="5257800" y="2651760"/>
            <a:ext cx="3566160" cy="1965960"/>
          </a:xfrm>
          <a:prstGeom prst="rect">
            <a:avLst/>
          </a:prstGeom>
          <a:solidFill>
            <a:srgbClr val="162A3D"/>
          </a:solidFill>
          <a:ln w="19050">
            <a:solidFill>
              <a:srgbClr val="1C9E6E"/>
            </a:solidFill>
            <a:prstDash val="solid"/>
          </a:ln>
          <a:effectLst>
            <a:outerShdw blurRad="127000" dist="38100" dir="8100000" algn="bl" rotWithShape="0">
              <a:srgbClr val="000000">
                <a:alpha val="28000"/>
              </a:srgbClr>
            </a:outerShdw>
          </a:effectLst>
        </p:spPr>
        <p:txBody>
          <a:bodyPr/>
          <a:lstStyle/>
          <a:p>
            <a:endParaRPr lang="en-US"/>
          </a:p>
        </p:txBody>
      </p:sp>
      <p:sp>
        <p:nvSpPr>
          <p:cNvPr id="38" name="Shape 35"/>
          <p:cNvSpPr/>
          <p:nvPr/>
        </p:nvSpPr>
        <p:spPr>
          <a:xfrm>
            <a:off x="5257800" y="2651760"/>
            <a:ext cx="3566160" cy="54864"/>
          </a:xfrm>
          <a:prstGeom prst="rect">
            <a:avLst/>
          </a:prstGeom>
          <a:solidFill>
            <a:srgbClr val="1C9E6E"/>
          </a:solidFill>
          <a:ln w="12700">
            <a:solidFill>
              <a:srgbClr val="1C9E6E"/>
            </a:solidFill>
            <a:prstDash val="solid"/>
          </a:ln>
        </p:spPr>
        <p:txBody>
          <a:bodyPr/>
          <a:lstStyle/>
          <a:p>
            <a:endParaRPr lang="en-US"/>
          </a:p>
        </p:txBody>
      </p:sp>
      <p:sp>
        <p:nvSpPr>
          <p:cNvPr id="39" name="Text 36"/>
          <p:cNvSpPr/>
          <p:nvPr/>
        </p:nvSpPr>
        <p:spPr>
          <a:xfrm>
            <a:off x="5394960" y="2743200"/>
            <a:ext cx="3291840" cy="219456"/>
          </a:xfrm>
          <a:prstGeom prst="rect">
            <a:avLst/>
          </a:prstGeom>
          <a:noFill/>
          <a:ln/>
        </p:spPr>
        <p:txBody>
          <a:bodyPr wrap="square" lIns="0" tIns="0" rIns="0" bIns="0" rtlCol="0" anchor="ctr"/>
          <a:lstStyle/>
          <a:p>
            <a:pPr marL="0" indent="0">
              <a:buNone/>
            </a:pPr>
            <a:r>
              <a:rPr lang="en-US" sz="850" b="1" kern="0" spc="200" dirty="0">
                <a:solidFill>
                  <a:srgbClr val="1C9E6E"/>
                </a:solidFill>
              </a:rPr>
              <a:t>THE ASK</a:t>
            </a:r>
            <a:endParaRPr lang="en-US" sz="850" dirty="0"/>
          </a:p>
        </p:txBody>
      </p:sp>
      <p:sp>
        <p:nvSpPr>
          <p:cNvPr id="40" name="Text 37"/>
          <p:cNvSpPr/>
          <p:nvPr/>
        </p:nvSpPr>
        <p:spPr>
          <a:xfrm>
            <a:off x="5394960" y="3017520"/>
            <a:ext cx="3291840" cy="384048"/>
          </a:xfrm>
          <a:prstGeom prst="rect">
            <a:avLst/>
          </a:prstGeom>
          <a:noFill/>
          <a:ln/>
        </p:spPr>
        <p:txBody>
          <a:bodyPr wrap="square" lIns="0" tIns="0" rIns="0" bIns="0" rtlCol="0" anchor="ctr"/>
          <a:lstStyle/>
          <a:p>
            <a:pPr marL="0" indent="0">
              <a:buNone/>
            </a:pPr>
            <a:r>
              <a:rPr lang="en-US" sz="850" dirty="0">
                <a:solidFill>
                  <a:srgbClr val="E8EEF4"/>
                </a:solidFill>
              </a:rPr>
              <a:t>✔  Approve the 90-day pilot on a defined transaction segment</a:t>
            </a:r>
            <a:endParaRPr lang="en-US" sz="850" dirty="0"/>
          </a:p>
        </p:txBody>
      </p:sp>
      <p:sp>
        <p:nvSpPr>
          <p:cNvPr id="41" name="Text 38"/>
          <p:cNvSpPr/>
          <p:nvPr/>
        </p:nvSpPr>
        <p:spPr>
          <a:xfrm>
            <a:off x="5394960" y="3456432"/>
            <a:ext cx="3291840" cy="384048"/>
          </a:xfrm>
          <a:prstGeom prst="rect">
            <a:avLst/>
          </a:prstGeom>
          <a:noFill/>
          <a:ln/>
        </p:spPr>
        <p:txBody>
          <a:bodyPr wrap="square" lIns="0" tIns="0" rIns="0" bIns="0" rtlCol="0" anchor="ctr"/>
          <a:lstStyle/>
          <a:p>
            <a:pPr marL="0" indent="0">
              <a:buNone/>
            </a:pPr>
            <a:r>
              <a:rPr lang="en-US" sz="850" dirty="0">
                <a:solidFill>
                  <a:srgbClr val="E8EEF4"/>
                </a:solidFill>
              </a:rPr>
              <a:t>✔  Authorise a 3-week technical hardening sprint (no new cost — existing team)</a:t>
            </a:r>
            <a:endParaRPr lang="en-US" sz="850" dirty="0"/>
          </a:p>
        </p:txBody>
      </p:sp>
      <p:sp>
        <p:nvSpPr>
          <p:cNvPr id="42" name="Text 39"/>
          <p:cNvSpPr/>
          <p:nvPr/>
        </p:nvSpPr>
        <p:spPr>
          <a:xfrm>
            <a:off x="5394960" y="3895344"/>
            <a:ext cx="3291840" cy="384048"/>
          </a:xfrm>
          <a:prstGeom prst="rect">
            <a:avLst/>
          </a:prstGeom>
          <a:noFill/>
          <a:ln/>
        </p:spPr>
        <p:txBody>
          <a:bodyPr wrap="square" lIns="0" tIns="0" rIns="0" bIns="0" rtlCol="0" anchor="ctr"/>
          <a:lstStyle/>
          <a:p>
            <a:pPr marL="0" indent="0">
              <a:buNone/>
            </a:pPr>
            <a:r>
              <a:rPr lang="en-US" sz="850" dirty="0">
                <a:solidFill>
                  <a:srgbClr val="E8EEF4"/>
                </a:solidFill>
              </a:rPr>
              <a:t>✔  Convene a Risk &amp; Operations working group to agree operating thresholds</a:t>
            </a:r>
            <a:endParaRPr lang="en-US" sz="850" dirty="0"/>
          </a:p>
        </p:txBody>
      </p:sp>
      <p:sp>
        <p:nvSpPr>
          <p:cNvPr id="43" name="Text 40"/>
          <p:cNvSpPr/>
          <p:nvPr/>
        </p:nvSpPr>
        <p:spPr>
          <a:xfrm>
            <a:off x="5394960" y="4370832"/>
            <a:ext cx="3291840" cy="182880"/>
          </a:xfrm>
          <a:prstGeom prst="rect">
            <a:avLst/>
          </a:prstGeom>
          <a:noFill/>
          <a:ln/>
        </p:spPr>
        <p:txBody>
          <a:bodyPr wrap="square" lIns="0" tIns="0" rIns="0" bIns="0" rtlCol="0" anchor="ctr"/>
          <a:lstStyle/>
          <a:p>
            <a:pPr marL="0" indent="0">
              <a:buNone/>
            </a:pPr>
            <a:r>
              <a:rPr lang="en-US" sz="750" i="1" dirty="0">
                <a:solidFill>
                  <a:srgbClr val="2A9FC4"/>
                </a:solidFill>
              </a:rPr>
              <a:t>Total expected investment: internal team time only for Phase 1–2</a:t>
            </a:r>
            <a:endParaRPr lang="en-US" sz="750" dirty="0"/>
          </a:p>
          <a:p>
            <a:pPr marL="0" indent="0">
              <a:buNone/>
            </a:pPr>
            <a:r>
              <a:rPr lang="en-US" sz="750" i="1" dirty="0">
                <a:solidFill>
                  <a:srgbClr val="2A9FC4"/>
                </a:solidFill>
              </a:rPr>
              <a:t>Expected return: +$100,500/yr additional fraud value protected</a:t>
            </a:r>
            <a:endParaRPr lang="en-US" sz="750" dirty="0"/>
          </a:p>
        </p:txBody>
      </p:sp>
      <p:sp>
        <p:nvSpPr>
          <p:cNvPr id="44" name="Shape 41"/>
          <p:cNvSpPr/>
          <p:nvPr/>
        </p:nvSpPr>
        <p:spPr>
          <a:xfrm>
            <a:off x="0" y="4892040"/>
            <a:ext cx="9144000" cy="251460"/>
          </a:xfrm>
          <a:prstGeom prst="rect">
            <a:avLst/>
          </a:prstGeom>
          <a:solidFill>
            <a:srgbClr val="112233"/>
          </a:solidFill>
          <a:ln w="12700">
            <a:solidFill>
              <a:srgbClr val="112233"/>
            </a:solidFill>
            <a:prstDash val="solid"/>
          </a:ln>
        </p:spPr>
        <p:txBody>
          <a:bodyPr/>
          <a:lstStyle/>
          <a:p>
            <a:endParaRPr lang="en-US"/>
          </a:p>
        </p:txBody>
      </p:sp>
      <p:sp>
        <p:nvSpPr>
          <p:cNvPr id="45" name="Text 42"/>
          <p:cNvSpPr/>
          <p:nvPr/>
        </p:nvSpPr>
        <p:spPr>
          <a:xfrm>
            <a:off x="365760" y="4892040"/>
            <a:ext cx="8412480" cy="251460"/>
          </a:xfrm>
          <a:prstGeom prst="rect">
            <a:avLst/>
          </a:prstGeom>
          <a:noFill/>
          <a:ln/>
        </p:spPr>
        <p:txBody>
          <a:bodyPr wrap="square" lIns="0" tIns="0" rIns="0" bIns="0" rtlCol="0" anchor="ctr"/>
          <a:lstStyle/>
          <a:p>
            <a:pPr marL="0" indent="0">
              <a:buNone/>
            </a:pPr>
            <a:r>
              <a:rPr lang="en-US" sz="750" dirty="0">
                <a:solidFill>
                  <a:srgbClr val="8BA3B8"/>
                </a:solidFill>
              </a:rPr>
              <a:t>ROI figures illustrative · actual value subject to threshold setting, FP rate, and operational costs · pilot will validate real-world performance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474720" y="0"/>
            <a:ext cx="5669280" cy="5143500"/>
          </a:xfrm>
          <a:prstGeom prst="rect">
            <a:avLst/>
          </a:prstGeom>
          <a:solidFill>
            <a:srgbClr val="1C7293"/>
          </a:solidFill>
          <a:ln w="12700">
            <a:solidFill>
              <a:srgbClr val="1C7293"/>
            </a:solidFill>
            <a:prstDash val="solid"/>
          </a:ln>
        </p:spPr>
        <p:txBody>
          <a:bodyPr/>
          <a:lstStyle/>
          <a:p>
            <a:endParaRPr lang="en-US"/>
          </a:p>
        </p:txBody>
      </p:sp>
      <p:sp>
        <p:nvSpPr>
          <p:cNvPr id="3" name="Shape 1"/>
          <p:cNvSpPr/>
          <p:nvPr/>
        </p:nvSpPr>
        <p:spPr>
          <a:xfrm>
            <a:off x="3474720" y="0"/>
            <a:ext cx="164592" cy="514350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365760" y="548640"/>
            <a:ext cx="2880360" cy="256032"/>
          </a:xfrm>
          <a:prstGeom prst="rect">
            <a:avLst/>
          </a:prstGeom>
          <a:noFill/>
          <a:ln/>
        </p:spPr>
        <p:txBody>
          <a:bodyPr wrap="square" lIns="0" tIns="0" rIns="0" bIns="0" rtlCol="0" anchor="ctr"/>
          <a:lstStyle/>
          <a:p>
            <a:pPr marL="0" indent="0">
              <a:buNone/>
            </a:pPr>
            <a:r>
              <a:rPr lang="en-US" sz="850" b="1" kern="0" spc="300" dirty="0">
                <a:solidFill>
                  <a:srgbClr val="2A9FC4"/>
                </a:solidFill>
              </a:rPr>
              <a:t>KEY TAKEAWAYS</a:t>
            </a:r>
            <a:endParaRPr lang="en-US" sz="850" dirty="0"/>
          </a:p>
        </p:txBody>
      </p:sp>
      <p:sp>
        <p:nvSpPr>
          <p:cNvPr id="5" name="Shape 3"/>
          <p:cNvSpPr/>
          <p:nvPr/>
        </p:nvSpPr>
        <p:spPr>
          <a:xfrm>
            <a:off x="365760" y="960120"/>
            <a:ext cx="329184" cy="329184"/>
          </a:xfrm>
          <a:prstGeom prst="ellipse">
            <a:avLst/>
          </a:prstGeom>
          <a:solidFill>
            <a:srgbClr val="F0C040"/>
          </a:solidFill>
          <a:ln w="12700">
            <a:solidFill>
              <a:srgbClr val="F0C040"/>
            </a:solidFill>
            <a:prstDash val="solid"/>
          </a:ln>
        </p:spPr>
        <p:txBody>
          <a:bodyPr/>
          <a:lstStyle/>
          <a:p>
            <a:endParaRPr lang="en-US"/>
          </a:p>
        </p:txBody>
      </p:sp>
      <p:sp>
        <p:nvSpPr>
          <p:cNvPr id="6" name="Text 4"/>
          <p:cNvSpPr/>
          <p:nvPr/>
        </p:nvSpPr>
        <p:spPr>
          <a:xfrm>
            <a:off x="365760" y="960120"/>
            <a:ext cx="329184" cy="329184"/>
          </a:xfrm>
          <a:prstGeom prst="rect">
            <a:avLst/>
          </a:prstGeom>
          <a:noFill/>
          <a:ln/>
        </p:spPr>
        <p:txBody>
          <a:bodyPr wrap="square" lIns="0" tIns="0" rIns="0" bIns="0" rtlCol="0" anchor="ctr"/>
          <a:lstStyle/>
          <a:p>
            <a:pPr marL="0" indent="0" algn="ctr">
              <a:buNone/>
            </a:pPr>
            <a:r>
              <a:rPr lang="en-US" sz="1100" b="1" dirty="0">
                <a:solidFill>
                  <a:srgbClr val="0D1B2A"/>
                </a:solidFill>
              </a:rPr>
              <a:t>★</a:t>
            </a:r>
            <a:endParaRPr lang="en-US" sz="1100" dirty="0"/>
          </a:p>
        </p:txBody>
      </p:sp>
      <p:sp>
        <p:nvSpPr>
          <p:cNvPr id="7" name="Text 5"/>
          <p:cNvSpPr/>
          <p:nvPr/>
        </p:nvSpPr>
        <p:spPr>
          <a:xfrm>
            <a:off x="786384" y="960120"/>
            <a:ext cx="2487168" cy="777240"/>
          </a:xfrm>
          <a:prstGeom prst="rect">
            <a:avLst/>
          </a:prstGeom>
          <a:noFill/>
          <a:ln/>
        </p:spPr>
        <p:txBody>
          <a:bodyPr wrap="square" lIns="0" tIns="0" rIns="0" bIns="0" rtlCol="0" anchor="ctr"/>
          <a:lstStyle/>
          <a:p>
            <a:pPr marL="0" indent="0">
              <a:buNone/>
            </a:pPr>
            <a:r>
              <a:rPr lang="en-US" sz="900" dirty="0">
                <a:solidFill>
                  <a:srgbClr val="E8EEF4"/>
                </a:solidFill>
              </a:rPr>
              <a:t>Catching 4 in 5 fraud cases — double today's rate — is achievable with AI scoring.</a:t>
            </a:r>
            <a:endParaRPr lang="en-US" sz="900" dirty="0"/>
          </a:p>
        </p:txBody>
      </p:sp>
      <p:sp>
        <p:nvSpPr>
          <p:cNvPr id="8" name="Shape 6"/>
          <p:cNvSpPr/>
          <p:nvPr/>
        </p:nvSpPr>
        <p:spPr>
          <a:xfrm>
            <a:off x="365760" y="1920240"/>
            <a:ext cx="329184" cy="329184"/>
          </a:xfrm>
          <a:prstGeom prst="ellipse">
            <a:avLst/>
          </a:prstGeom>
          <a:solidFill>
            <a:srgbClr val="1C9E6E"/>
          </a:solidFill>
          <a:ln w="12700">
            <a:solidFill>
              <a:srgbClr val="1C9E6E"/>
            </a:solidFill>
            <a:prstDash val="solid"/>
          </a:ln>
        </p:spPr>
        <p:txBody>
          <a:bodyPr/>
          <a:lstStyle/>
          <a:p>
            <a:endParaRPr lang="en-US"/>
          </a:p>
        </p:txBody>
      </p:sp>
      <p:sp>
        <p:nvSpPr>
          <p:cNvPr id="9" name="Text 7"/>
          <p:cNvSpPr/>
          <p:nvPr/>
        </p:nvSpPr>
        <p:spPr>
          <a:xfrm>
            <a:off x="365760" y="1920240"/>
            <a:ext cx="329184" cy="329184"/>
          </a:xfrm>
          <a:prstGeom prst="rect">
            <a:avLst/>
          </a:prstGeom>
          <a:noFill/>
          <a:ln/>
        </p:spPr>
        <p:txBody>
          <a:bodyPr wrap="square" lIns="0" tIns="0" rIns="0" bIns="0" rtlCol="0" anchor="ctr"/>
          <a:lstStyle/>
          <a:p>
            <a:pPr marL="0" indent="0" algn="ctr">
              <a:buNone/>
            </a:pPr>
            <a:r>
              <a:rPr lang="en-US" sz="1100" b="1" dirty="0">
                <a:solidFill>
                  <a:srgbClr val="0D1B2A"/>
                </a:solidFill>
              </a:rPr>
              <a:t>$</a:t>
            </a:r>
            <a:endParaRPr lang="en-US" sz="1100" dirty="0"/>
          </a:p>
        </p:txBody>
      </p:sp>
      <p:sp>
        <p:nvSpPr>
          <p:cNvPr id="10" name="Text 8"/>
          <p:cNvSpPr/>
          <p:nvPr/>
        </p:nvSpPr>
        <p:spPr>
          <a:xfrm>
            <a:off x="786384" y="1920240"/>
            <a:ext cx="2487168" cy="777240"/>
          </a:xfrm>
          <a:prstGeom prst="rect">
            <a:avLst/>
          </a:prstGeom>
          <a:noFill/>
          <a:ln/>
        </p:spPr>
        <p:txBody>
          <a:bodyPr wrap="square" lIns="0" tIns="0" rIns="0" bIns="0" rtlCol="0" anchor="ctr"/>
          <a:lstStyle/>
          <a:p>
            <a:pPr marL="0" indent="0">
              <a:buNone/>
            </a:pPr>
            <a:r>
              <a:rPr lang="en-US" sz="900" dirty="0">
                <a:solidFill>
                  <a:srgbClr val="E8EEF4"/>
                </a:solidFill>
              </a:rPr>
              <a:t>+$100,500/yr in additional fraud value protected vs. the rules-only baseline.</a:t>
            </a:r>
            <a:endParaRPr lang="en-US" sz="900" dirty="0"/>
          </a:p>
        </p:txBody>
      </p:sp>
      <p:sp>
        <p:nvSpPr>
          <p:cNvPr id="11" name="Shape 9"/>
          <p:cNvSpPr/>
          <p:nvPr/>
        </p:nvSpPr>
        <p:spPr>
          <a:xfrm>
            <a:off x="365760" y="2880360"/>
            <a:ext cx="329184" cy="329184"/>
          </a:xfrm>
          <a:prstGeom prst="ellipse">
            <a:avLst/>
          </a:prstGeom>
          <a:solidFill>
            <a:srgbClr val="C0392B"/>
          </a:solidFill>
          <a:ln w="12700">
            <a:solidFill>
              <a:srgbClr val="C0392B"/>
            </a:solidFill>
            <a:prstDash val="solid"/>
          </a:ln>
        </p:spPr>
        <p:txBody>
          <a:bodyPr/>
          <a:lstStyle/>
          <a:p>
            <a:endParaRPr lang="en-US"/>
          </a:p>
        </p:txBody>
      </p:sp>
      <p:sp>
        <p:nvSpPr>
          <p:cNvPr id="12" name="Text 10"/>
          <p:cNvSpPr/>
          <p:nvPr/>
        </p:nvSpPr>
        <p:spPr>
          <a:xfrm>
            <a:off x="365760" y="2880360"/>
            <a:ext cx="329184" cy="329184"/>
          </a:xfrm>
          <a:prstGeom prst="rect">
            <a:avLst/>
          </a:prstGeom>
          <a:noFill/>
          <a:ln/>
        </p:spPr>
        <p:txBody>
          <a:bodyPr wrap="square" lIns="0" tIns="0" rIns="0" bIns="0" rtlCol="0" anchor="ctr"/>
          <a:lstStyle/>
          <a:p>
            <a:pPr marL="0" indent="0" algn="ctr">
              <a:buNone/>
            </a:pPr>
            <a:r>
              <a:rPr lang="en-US" sz="1100" b="1" dirty="0">
                <a:solidFill>
                  <a:srgbClr val="0D1B2A"/>
                </a:solidFill>
              </a:rPr>
              <a:t>!</a:t>
            </a:r>
            <a:endParaRPr lang="en-US" sz="1100" dirty="0"/>
          </a:p>
        </p:txBody>
      </p:sp>
      <p:sp>
        <p:nvSpPr>
          <p:cNvPr id="13" name="Text 11"/>
          <p:cNvSpPr/>
          <p:nvPr/>
        </p:nvSpPr>
        <p:spPr>
          <a:xfrm>
            <a:off x="786384" y="2880360"/>
            <a:ext cx="2487168" cy="777240"/>
          </a:xfrm>
          <a:prstGeom prst="rect">
            <a:avLst/>
          </a:prstGeom>
          <a:noFill/>
          <a:ln/>
        </p:spPr>
        <p:txBody>
          <a:bodyPr wrap="square" lIns="0" tIns="0" rIns="0" bIns="0" rtlCol="0" anchor="ctr"/>
          <a:lstStyle/>
          <a:p>
            <a:pPr marL="0" indent="0">
              <a:buNone/>
            </a:pPr>
            <a:r>
              <a:rPr lang="en-US" sz="900" dirty="0">
                <a:solidFill>
                  <a:srgbClr val="E8EEF4"/>
                </a:solidFill>
              </a:rPr>
              <a:t>One technical fix is required before launch. Metrics are optimistic until resolved.</a:t>
            </a:r>
            <a:endParaRPr lang="en-US" sz="900" dirty="0"/>
          </a:p>
        </p:txBody>
      </p:sp>
      <p:sp>
        <p:nvSpPr>
          <p:cNvPr id="14" name="Shape 12"/>
          <p:cNvSpPr/>
          <p:nvPr/>
        </p:nvSpPr>
        <p:spPr>
          <a:xfrm>
            <a:off x="365760" y="3840480"/>
            <a:ext cx="329184" cy="329184"/>
          </a:xfrm>
          <a:prstGeom prst="ellipse">
            <a:avLst/>
          </a:prstGeom>
          <a:solidFill>
            <a:srgbClr val="2A9FC4"/>
          </a:solidFill>
          <a:ln w="12700">
            <a:solidFill>
              <a:srgbClr val="2A9FC4"/>
            </a:solidFill>
            <a:prstDash val="solid"/>
          </a:ln>
        </p:spPr>
        <p:txBody>
          <a:bodyPr/>
          <a:lstStyle/>
          <a:p>
            <a:endParaRPr lang="en-US"/>
          </a:p>
        </p:txBody>
      </p:sp>
      <p:sp>
        <p:nvSpPr>
          <p:cNvPr id="15" name="Text 13"/>
          <p:cNvSpPr/>
          <p:nvPr/>
        </p:nvSpPr>
        <p:spPr>
          <a:xfrm>
            <a:off x="365760" y="3840480"/>
            <a:ext cx="329184" cy="329184"/>
          </a:xfrm>
          <a:prstGeom prst="rect">
            <a:avLst/>
          </a:prstGeom>
          <a:noFill/>
          <a:ln/>
        </p:spPr>
        <p:txBody>
          <a:bodyPr wrap="square" lIns="0" tIns="0" rIns="0" bIns="0" rtlCol="0" anchor="ctr"/>
          <a:lstStyle/>
          <a:p>
            <a:pPr marL="0" indent="0" algn="ctr">
              <a:buNone/>
            </a:pPr>
            <a:r>
              <a:rPr lang="en-US" sz="1100" b="1" dirty="0">
                <a:solidFill>
                  <a:srgbClr val="0D1B2A"/>
                </a:solidFill>
              </a:rPr>
              <a:t>→</a:t>
            </a:r>
            <a:endParaRPr lang="en-US" sz="1100" dirty="0"/>
          </a:p>
        </p:txBody>
      </p:sp>
      <p:sp>
        <p:nvSpPr>
          <p:cNvPr id="16" name="Text 14"/>
          <p:cNvSpPr/>
          <p:nvPr/>
        </p:nvSpPr>
        <p:spPr>
          <a:xfrm>
            <a:off x="786384" y="3840480"/>
            <a:ext cx="2487168" cy="777240"/>
          </a:xfrm>
          <a:prstGeom prst="rect">
            <a:avLst/>
          </a:prstGeom>
          <a:noFill/>
          <a:ln/>
        </p:spPr>
        <p:txBody>
          <a:bodyPr wrap="square" lIns="0" tIns="0" rIns="0" bIns="0" rtlCol="0" anchor="ctr"/>
          <a:lstStyle/>
          <a:p>
            <a:pPr marL="0" indent="0">
              <a:buNone/>
            </a:pPr>
            <a:r>
              <a:rPr lang="en-US" sz="900" dirty="0">
                <a:solidFill>
                  <a:srgbClr val="E8EEF4"/>
                </a:solidFill>
              </a:rPr>
              <a:t>A 90-day live pilot is the lowest-risk path to validating real-world performance.</a:t>
            </a:r>
            <a:endParaRPr lang="en-US" sz="900" dirty="0"/>
          </a:p>
        </p:txBody>
      </p:sp>
      <p:sp>
        <p:nvSpPr>
          <p:cNvPr id="18" name="Text 16"/>
          <p:cNvSpPr/>
          <p:nvPr/>
        </p:nvSpPr>
        <p:spPr>
          <a:xfrm>
            <a:off x="3749040" y="1234440"/>
            <a:ext cx="5074920" cy="1005840"/>
          </a:xfrm>
          <a:prstGeom prst="rect">
            <a:avLst/>
          </a:prstGeom>
          <a:noFill/>
          <a:ln/>
        </p:spPr>
        <p:txBody>
          <a:bodyPr wrap="square" lIns="0" tIns="0" rIns="0" bIns="0" rtlCol="0" anchor="ctr"/>
          <a:lstStyle/>
          <a:p>
            <a:pPr marL="0" indent="0" algn="l">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19" name="Shape 17"/>
          <p:cNvSpPr/>
          <p:nvPr/>
        </p:nvSpPr>
        <p:spPr>
          <a:xfrm>
            <a:off x="3749040" y="2340864"/>
            <a:ext cx="4663440" cy="0"/>
          </a:xfrm>
          <a:prstGeom prst="line">
            <a:avLst/>
          </a:prstGeom>
          <a:noFill/>
          <a:ln w="15240">
            <a:solidFill>
              <a:srgbClr val="FFFFFF">
                <a:alpha val="60000"/>
              </a:srgbClr>
            </a:solidFill>
            <a:prstDash val="solid"/>
          </a:ln>
        </p:spPr>
        <p:txBody>
          <a:bodyPr/>
          <a:lstStyle/>
          <a:p>
            <a:endParaRPr lang="en-US"/>
          </a:p>
        </p:txBody>
      </p:sp>
      <p:sp>
        <p:nvSpPr>
          <p:cNvPr id="20" name="Text 18"/>
          <p:cNvSpPr/>
          <p:nvPr/>
        </p:nvSpPr>
        <p:spPr>
          <a:xfrm>
            <a:off x="3749040" y="2450592"/>
            <a:ext cx="5074920" cy="347472"/>
          </a:xfrm>
          <a:prstGeom prst="rect">
            <a:avLst/>
          </a:prstGeom>
          <a:noFill/>
          <a:ln/>
        </p:spPr>
        <p:txBody>
          <a:bodyPr wrap="square" lIns="0" tIns="0" rIns="0" bIns="0" rtlCol="0" anchor="ctr"/>
          <a:lstStyle/>
          <a:p>
            <a:pPr marL="0" indent="0" algn="l">
              <a:buNone/>
            </a:pPr>
            <a:r>
              <a:rPr lang="en-US" sz="1600" i="1" dirty="0">
                <a:solidFill>
                  <a:srgbClr val="FFFFFF">
                    <a:alpha val="80000"/>
                  </a:srgbClr>
                </a:solidFill>
              </a:rPr>
              <a:t>Questions &amp; Discussion</a:t>
            </a:r>
            <a:endParaRPr lang="en-US" sz="1600" dirty="0"/>
          </a:p>
        </p:txBody>
      </p:sp>
      <p:sp>
        <p:nvSpPr>
          <p:cNvPr id="21" name="Shape 19"/>
          <p:cNvSpPr/>
          <p:nvPr/>
        </p:nvSpPr>
        <p:spPr>
          <a:xfrm>
            <a:off x="3749040" y="2944368"/>
            <a:ext cx="1572768" cy="640080"/>
          </a:xfrm>
          <a:prstGeom prst="rect">
            <a:avLst/>
          </a:prstGeom>
          <a:solidFill>
            <a:srgbClr val="FFFFFF">
              <a:alpha val="18000"/>
            </a:srgbClr>
          </a:solidFill>
          <a:ln w="9525">
            <a:solidFill>
              <a:srgbClr val="FFFFFF">
                <a:alpha val="45000"/>
              </a:srgbClr>
            </a:solidFill>
            <a:prstDash val="solid"/>
          </a:ln>
        </p:spPr>
        <p:txBody>
          <a:bodyPr/>
          <a:lstStyle/>
          <a:p>
            <a:endParaRPr lang="en-US"/>
          </a:p>
        </p:txBody>
      </p:sp>
      <p:sp>
        <p:nvSpPr>
          <p:cNvPr id="22" name="Text 20"/>
          <p:cNvSpPr/>
          <p:nvPr/>
        </p:nvSpPr>
        <p:spPr>
          <a:xfrm>
            <a:off x="3749040" y="2980944"/>
            <a:ext cx="1572768" cy="201168"/>
          </a:xfrm>
          <a:prstGeom prst="rect">
            <a:avLst/>
          </a:prstGeom>
          <a:noFill/>
          <a:ln/>
        </p:spPr>
        <p:txBody>
          <a:bodyPr wrap="square" lIns="0" tIns="0" rIns="0" bIns="0" rtlCol="0" anchor="ctr"/>
          <a:lstStyle/>
          <a:p>
            <a:pPr marL="0" indent="0" algn="ctr">
              <a:buNone/>
            </a:pPr>
            <a:r>
              <a:rPr lang="en-US" sz="750" dirty="0">
                <a:solidFill>
                  <a:srgbClr val="FFFFFF">
                    <a:alpha val="70000"/>
                  </a:srgbClr>
                </a:solidFill>
              </a:rPr>
              <a:t>Best Model</a:t>
            </a:r>
            <a:endParaRPr lang="en-US" sz="750" dirty="0"/>
          </a:p>
        </p:txBody>
      </p:sp>
      <p:sp>
        <p:nvSpPr>
          <p:cNvPr id="23" name="Text 21"/>
          <p:cNvSpPr/>
          <p:nvPr/>
        </p:nvSpPr>
        <p:spPr>
          <a:xfrm>
            <a:off x="3749040" y="3182112"/>
            <a:ext cx="1572768" cy="347472"/>
          </a:xfrm>
          <a:prstGeom prst="rect">
            <a:avLst/>
          </a:prstGeom>
          <a:noFill/>
          <a:ln/>
        </p:spPr>
        <p:txBody>
          <a:bodyPr wrap="square" lIns="0" tIns="0" rIns="0" bIns="0" rtlCol="0" anchor="ctr"/>
          <a:lstStyle/>
          <a:p>
            <a:pPr marL="0" indent="0" algn="ctr">
              <a:buNone/>
            </a:pPr>
            <a:r>
              <a:rPr lang="en-US" sz="1100" b="1" dirty="0">
                <a:solidFill>
                  <a:srgbClr val="FFFFFF"/>
                </a:solidFill>
              </a:rPr>
              <a:t>XGBoost AI</a:t>
            </a:r>
            <a:endParaRPr lang="en-US" sz="1100" dirty="0"/>
          </a:p>
        </p:txBody>
      </p:sp>
      <p:sp>
        <p:nvSpPr>
          <p:cNvPr id="24" name="Shape 22"/>
          <p:cNvSpPr/>
          <p:nvPr/>
        </p:nvSpPr>
        <p:spPr>
          <a:xfrm>
            <a:off x="5468112" y="2944368"/>
            <a:ext cx="1572768" cy="640080"/>
          </a:xfrm>
          <a:prstGeom prst="rect">
            <a:avLst/>
          </a:prstGeom>
          <a:solidFill>
            <a:srgbClr val="FFFFFF">
              <a:alpha val="18000"/>
            </a:srgbClr>
          </a:solidFill>
          <a:ln w="9525">
            <a:solidFill>
              <a:srgbClr val="FFFFFF">
                <a:alpha val="45000"/>
              </a:srgbClr>
            </a:solidFill>
            <a:prstDash val="solid"/>
          </a:ln>
        </p:spPr>
        <p:txBody>
          <a:bodyPr/>
          <a:lstStyle/>
          <a:p>
            <a:endParaRPr lang="en-US"/>
          </a:p>
        </p:txBody>
      </p:sp>
      <p:sp>
        <p:nvSpPr>
          <p:cNvPr id="25" name="Text 23"/>
          <p:cNvSpPr/>
          <p:nvPr/>
        </p:nvSpPr>
        <p:spPr>
          <a:xfrm>
            <a:off x="5468112" y="2980944"/>
            <a:ext cx="1572768" cy="201168"/>
          </a:xfrm>
          <a:prstGeom prst="rect">
            <a:avLst/>
          </a:prstGeom>
          <a:noFill/>
          <a:ln/>
        </p:spPr>
        <p:txBody>
          <a:bodyPr wrap="square" lIns="0" tIns="0" rIns="0" bIns="0" rtlCol="0" anchor="ctr"/>
          <a:lstStyle/>
          <a:p>
            <a:pPr marL="0" indent="0" algn="ctr">
              <a:buNone/>
            </a:pPr>
            <a:r>
              <a:rPr lang="en-US" sz="750" dirty="0">
                <a:solidFill>
                  <a:srgbClr val="FFFFFF">
                    <a:alpha val="70000"/>
                  </a:srgbClr>
                </a:solidFill>
              </a:rPr>
              <a:t>Fraud Caught</a:t>
            </a:r>
            <a:endParaRPr lang="en-US" sz="750" dirty="0"/>
          </a:p>
        </p:txBody>
      </p:sp>
      <p:sp>
        <p:nvSpPr>
          <p:cNvPr id="26" name="Text 24"/>
          <p:cNvSpPr/>
          <p:nvPr/>
        </p:nvSpPr>
        <p:spPr>
          <a:xfrm>
            <a:off x="5468112" y="3182112"/>
            <a:ext cx="1572768" cy="347472"/>
          </a:xfrm>
          <a:prstGeom prst="rect">
            <a:avLst/>
          </a:prstGeom>
          <a:noFill/>
          <a:ln/>
        </p:spPr>
        <p:txBody>
          <a:bodyPr wrap="square" lIns="0" tIns="0" rIns="0" bIns="0" rtlCol="0" anchor="ctr"/>
          <a:lstStyle/>
          <a:p>
            <a:pPr marL="0" indent="0" algn="ctr">
              <a:buNone/>
            </a:pPr>
            <a:r>
              <a:rPr lang="en-US" sz="1100" b="1" dirty="0">
                <a:solidFill>
                  <a:srgbClr val="FFFFFF"/>
                </a:solidFill>
              </a:rPr>
              <a:t>~81%</a:t>
            </a:r>
            <a:endParaRPr lang="en-US" sz="1100" dirty="0"/>
          </a:p>
        </p:txBody>
      </p:sp>
      <p:sp>
        <p:nvSpPr>
          <p:cNvPr id="27" name="Shape 25"/>
          <p:cNvSpPr/>
          <p:nvPr/>
        </p:nvSpPr>
        <p:spPr>
          <a:xfrm>
            <a:off x="7187184" y="2944368"/>
            <a:ext cx="1572768" cy="640080"/>
          </a:xfrm>
          <a:prstGeom prst="rect">
            <a:avLst/>
          </a:prstGeom>
          <a:solidFill>
            <a:srgbClr val="FFFFFF">
              <a:alpha val="18000"/>
            </a:srgbClr>
          </a:solidFill>
          <a:ln w="9525">
            <a:solidFill>
              <a:srgbClr val="FFFFFF">
                <a:alpha val="45000"/>
              </a:srgbClr>
            </a:solidFill>
            <a:prstDash val="solid"/>
          </a:ln>
        </p:spPr>
        <p:txBody>
          <a:bodyPr/>
          <a:lstStyle/>
          <a:p>
            <a:endParaRPr lang="en-US"/>
          </a:p>
        </p:txBody>
      </p:sp>
      <p:sp>
        <p:nvSpPr>
          <p:cNvPr id="28" name="Text 26"/>
          <p:cNvSpPr/>
          <p:nvPr/>
        </p:nvSpPr>
        <p:spPr>
          <a:xfrm>
            <a:off x="7187184" y="2980944"/>
            <a:ext cx="1572768" cy="201168"/>
          </a:xfrm>
          <a:prstGeom prst="rect">
            <a:avLst/>
          </a:prstGeom>
          <a:noFill/>
          <a:ln/>
        </p:spPr>
        <p:txBody>
          <a:bodyPr wrap="square" lIns="0" tIns="0" rIns="0" bIns="0" rtlCol="0" anchor="ctr"/>
          <a:lstStyle/>
          <a:p>
            <a:pPr marL="0" indent="0" algn="ctr">
              <a:buNone/>
            </a:pPr>
            <a:r>
              <a:rPr lang="en-US" sz="750" dirty="0">
                <a:solidFill>
                  <a:srgbClr val="FFFFFF">
                    <a:alpha val="70000"/>
                  </a:srgbClr>
                </a:solidFill>
              </a:rPr>
              <a:t>ROI Uplift</a:t>
            </a:r>
            <a:endParaRPr lang="en-US" sz="750" dirty="0"/>
          </a:p>
        </p:txBody>
      </p:sp>
      <p:sp>
        <p:nvSpPr>
          <p:cNvPr id="29" name="Text 27"/>
          <p:cNvSpPr/>
          <p:nvPr/>
        </p:nvSpPr>
        <p:spPr>
          <a:xfrm>
            <a:off x="7187184" y="3182112"/>
            <a:ext cx="1572768" cy="347472"/>
          </a:xfrm>
          <a:prstGeom prst="rect">
            <a:avLst/>
          </a:prstGeom>
          <a:noFill/>
          <a:ln/>
        </p:spPr>
        <p:txBody>
          <a:bodyPr wrap="square" lIns="0" tIns="0" rIns="0" bIns="0" rtlCol="0" anchor="ctr"/>
          <a:lstStyle/>
          <a:p>
            <a:pPr marL="0" indent="0" algn="ctr">
              <a:buNone/>
            </a:pPr>
            <a:r>
              <a:rPr lang="en-US" sz="1100" b="1" dirty="0">
                <a:solidFill>
                  <a:srgbClr val="FFFFFF"/>
                </a:solidFill>
              </a:rPr>
              <a:t>+$100K/yr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c2475e8-c982-4b41-8e67-c00b0053488d}" enabled="1" method="Privileged" siteId="{a4ea1e77-fe75-4a27-9162-67cadf4cdfce}" contentBits="0" removed="0"/>
</clbl:labelList>
</file>

<file path=docProps/app.xml><?xml version="1.0" encoding="utf-8"?>
<Properties xmlns="http://schemas.openxmlformats.org/officeDocument/2006/extended-properties" xmlns:vt="http://schemas.openxmlformats.org/officeDocument/2006/docPropsVTypes">
  <TotalTime>1</TotalTime>
  <Words>1723</Words>
  <Application>Microsoft Macintosh PowerPoint</Application>
  <PresentationFormat>On-screen Show (16:9)</PresentationFormat>
  <Paragraphs>239</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 Executive Briefing</dc:title>
  <dc:subject>PptxGenJS Presentation</dc:subject>
  <dc:creator>Capstone</dc:creator>
  <cp:lastModifiedBy>John Paolo T. Cabrera</cp:lastModifiedBy>
  <cp:revision>2</cp:revision>
  <dcterms:created xsi:type="dcterms:W3CDTF">2026-04-03T08:32:36Z</dcterms:created>
  <dcterms:modified xsi:type="dcterms:W3CDTF">2026-04-03T08:36:11Z</dcterms:modified>
</cp:coreProperties>
</file>