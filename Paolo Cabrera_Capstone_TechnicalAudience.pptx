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8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1C9E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F5-154B-B683-1585C380F10D}"/>
              </c:ext>
            </c:extLst>
          </c:dPt>
          <c:dPt>
            <c:idx val="1"/>
            <c:invertIfNegative val="0"/>
            <c:bubble3D val="0"/>
            <c:spPr>
              <a:solidFill>
                <a:srgbClr val="2A9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F5-154B-B683-1585C380F10D}"/>
              </c:ext>
            </c:extLst>
          </c:dPt>
          <c:dPt>
            <c:idx val="2"/>
            <c:invertIfNegative val="0"/>
            <c:bubble3D val="0"/>
            <c:spPr>
              <a:solidFill>
                <a:srgbClr val="8B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F5-154B-B683-1585C380F10D}"/>
              </c:ext>
            </c:extLst>
          </c:dPt>
          <c:dPt>
            <c:idx val="3"/>
            <c:invertIfNegative val="0"/>
            <c:bubble3D val="0"/>
            <c:spPr>
              <a:solidFill>
                <a:srgbClr val="8B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F5-154B-B683-1585C380F1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 (tuned)</c:v>
                </c:pt>
                <c:pt idx="1">
                  <c:v>RF (tuned)</c:v>
                </c:pt>
                <c:pt idx="2">
                  <c:v>Logistic Reg.</c:v>
                </c:pt>
                <c:pt idx="3">
                  <c:v>Decision Tree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0.90100000000000002</c:v>
                </c:pt>
                <c:pt idx="1">
                  <c:v>0.88300000000000001</c:v>
                </c:pt>
                <c:pt idx="2">
                  <c:v>0.74099999999999999</c:v>
                </c:pt>
                <c:pt idx="3">
                  <c:v>0.48799999999999999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0F5-154B-B683-1585C380F1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A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48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9496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33872" y="365760"/>
            <a:ext cx="3108960" cy="20116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33872" y="2560320"/>
            <a:ext cx="3108960" cy="2194560"/>
          </a:xfrm>
          <a:prstGeom prst="rect">
            <a:avLst/>
          </a:prstGeom>
          <a:solidFill>
            <a:srgbClr val="0A1625"/>
          </a:solidFill>
          <a:ln w="12700">
            <a:solidFill>
              <a:srgbClr val="0A16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11480" y="2688336"/>
            <a:ext cx="438912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79806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</a:rPr>
              <a:t>Capstone Project  ·  Machine Learning Lifecycle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291840"/>
            <a:ext cx="1115568" cy="256032"/>
          </a:xfrm>
          <a:prstGeom prst="rect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Binary Classification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618488" y="3291840"/>
            <a:ext cx="1115568" cy="256032"/>
          </a:xfrm>
          <a:prstGeom prst="rect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18488" y="32918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Imbalanced Data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25496" y="3291840"/>
            <a:ext cx="1115568" cy="256032"/>
          </a:xfrm>
          <a:prstGeom prst="rect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25496" y="32918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XGBoost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32504" y="3291840"/>
            <a:ext cx="1115568" cy="256032"/>
          </a:xfrm>
          <a:prstGeom prst="rect">
            <a:avLst/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32504" y="32918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SHAP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470916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>
                    <a:alpha val="55000"/>
                  </a:srgbClr>
                </a:solidFill>
              </a:rPr>
              <a:t>Dataset: mlg-ulb/creditcardfraud  ·  Kaggle  ·  ULB Machine Learning Group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502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A9FC4"/>
                </a:solidFill>
              </a:rPr>
              <a:t>AT A GLANCE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8778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73368" y="8869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Problem &amp; Data Overview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0" y="1225296"/>
            <a:ext cx="2834640" cy="0"/>
          </a:xfrm>
          <a:prstGeom prst="line">
            <a:avLst/>
          </a:prstGeom>
          <a:noFill/>
          <a:ln w="9525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89320" y="142646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8932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73368" y="14356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EDA Key Findings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773936"/>
            <a:ext cx="2834640" cy="0"/>
          </a:xfrm>
          <a:prstGeom prst="line">
            <a:avLst/>
          </a:prstGeom>
          <a:noFill/>
          <a:ln w="9525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9320" y="197510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8932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73368" y="19842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2322576"/>
            <a:ext cx="2834640" cy="0"/>
          </a:xfrm>
          <a:prstGeom prst="line">
            <a:avLst/>
          </a:prstGeom>
          <a:noFill/>
          <a:ln w="9525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89320" y="252374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8932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73368" y="2532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Results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2871216"/>
            <a:ext cx="2834640" cy="0"/>
          </a:xfrm>
          <a:prstGeom prst="line">
            <a:avLst/>
          </a:prstGeom>
          <a:noFill/>
          <a:ln w="9525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89320" y="307238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893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73368" y="30815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Recommendations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3419856"/>
            <a:ext cx="2834640" cy="0"/>
          </a:xfrm>
          <a:prstGeom prst="line">
            <a:avLst/>
          </a:prstGeom>
          <a:noFill/>
          <a:ln w="9525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89320" y="3621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8932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73368" y="36301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Risks &amp; Considerations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3968496"/>
            <a:ext cx="2834640" cy="0"/>
          </a:xfrm>
          <a:prstGeom prst="line">
            <a:avLst/>
          </a:prstGeom>
          <a:noFill/>
          <a:ln w="9525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89320" y="416966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8932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73368" y="41788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</a:rPr>
              <a:t>Next Steps &amp; ROI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01  ·  PROBLEM &amp; DATA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Data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A9FC4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286000" cy="841248"/>
          </a:xfrm>
          <a:prstGeom prst="rect">
            <a:avLst/>
          </a:prstGeom>
          <a:solidFill>
            <a:srgbClr val="162A3D"/>
          </a:solidFill>
          <a:ln w="9525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4864" cy="84124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</a:rPr>
              <a:t>total transactions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2286000" cy="841248"/>
          </a:xfrm>
          <a:prstGeom prst="rect">
            <a:avLst/>
          </a:prstGeom>
          <a:solidFill>
            <a:srgbClr val="162A3D"/>
          </a:solidFill>
          <a:ln w="9525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54864" cy="84124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2532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</a:rPr>
              <a:t>fraud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2286000" cy="841248"/>
          </a:xfrm>
          <a:prstGeom prst="rect">
            <a:avLst/>
          </a:prstGeom>
          <a:solidFill>
            <a:srgbClr val="162A3D"/>
          </a:solidFill>
          <a:ln w="9525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54864" cy="84124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</a:rPr>
              <a:t>fraud cases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2286000" cy="841248"/>
          </a:xfrm>
          <a:prstGeom prst="rect">
            <a:avLst/>
          </a:prstGeom>
          <a:solidFill>
            <a:srgbClr val="162A3D"/>
          </a:solidFill>
          <a:ln w="9525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54864" cy="84124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507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4453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</a:rPr>
              <a:t>features (28 PCA + Time + Amount)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0360" y="777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A9FC4"/>
                </a:solidFill>
              </a:rPr>
              <a:t>BUSINESS FRAMING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80360" y="1097280"/>
            <a:ext cx="2834640" cy="117043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80360" y="1097280"/>
            <a:ext cx="2834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17520" y="1188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Objective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0" y="142646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Build an ML risk-scoring layer to complement rules-based fraud controls — outputs a probability per transaction, not just a hard flag.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80360" y="2395728"/>
            <a:ext cx="2834640" cy="117043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80360" y="2395728"/>
            <a:ext cx="2834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17520" y="2487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ML Task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17520" y="272491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Supervised binary classification. Target: Class (0 = Legitimate, 1 = Fraud). Output: calibrated fraud probability.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80360" y="3694176"/>
            <a:ext cx="2834640" cy="117043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80360" y="3694176"/>
            <a:ext cx="2834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17520" y="3785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Success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17520" y="402336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≥ 80% Recall · ≥ 10% Precision · PR-AUC must beat logistic baseline. Primary metric: PR-AUC (correct for imbalanced rare-event detection).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80760" y="777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A9FC4"/>
                </a:solidFill>
              </a:rPr>
              <a:t>DATASET SNAPSHOT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1097280"/>
            <a:ext cx="2834640" cy="117043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1097280"/>
            <a:ext cx="2834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1188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142646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Kaggle ULB Credit Card Fraud — European cardholders, Sept 2013 (2-day window). Well-known, fully labeled, structured.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2395728"/>
            <a:ext cx="2834640" cy="117043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0760" y="2395728"/>
            <a:ext cx="2834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17920" y="2487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272491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Time (elapsed sec), Amount, V1–V28 (PCA-anonymised components). Zero missing values. No categorical features.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80760" y="3694176"/>
            <a:ext cx="2834640" cy="117043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80760" y="3694176"/>
            <a:ext cx="2834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3785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Challenge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17920" y="402336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Severe class imbalance (577:1). Feature meanings hidden (PCA). Short/dated window limits generalisability to production environments.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02  ·  EDA 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3B8"/>
                </a:solidFill>
              </a:rPr>
              <a:t>Key statistical insights that inform modelling decisions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605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" y="1124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Severe Class Imbalance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577:1 legitimate-to-fraud ratio. Accuracy is meaningless — model ranking must use PR-AUC, F1, and Recall. Default classifiers will fail silently.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60520" cy="502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347472" cy="347472"/>
          </a:xfrm>
          <a:prstGeom prst="ellipse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0368" y="1124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5 Discriminative Features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42646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V14 (−6.85), V3 (−6.74), V17 (−6.47), V12 (−6.11), V10 (−5.46) — largest mean-difference (Fraud − Legit). Consistent across Pearson, ANOVA, Lasso &amp; RF.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304288"/>
            <a:ext cx="4160520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304288"/>
            <a:ext cx="4160520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44144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Amount is Right-Skewed &amp; Weak Alone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249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Skewness ≈ 16.98, median $22, max $25k. Heavy tail justifies Winsorisation + log transform. Amount class overlap is high — not a standalone separator.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304288"/>
            <a:ext cx="4160520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304288"/>
            <a:ext cx="4160520" cy="502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441448"/>
            <a:ext cx="347472" cy="34747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Temporal Signal Exists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7249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Time distribution differs between fraud and legitimate transactions. Fraud density is elevated in the Night (0–6 h) window despite low overall volume.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602736"/>
            <a:ext cx="4160520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6052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739896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968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Multicollinearity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Zero feature pairs exceed |r| &gt; 0.5. PCA pre-processing by dataset authors enforces near-orthogonality — dimensionality reduction adds little extra value.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602736"/>
            <a:ext cx="4160520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3602736"/>
            <a:ext cx="4160520" cy="502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00600" y="373989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0368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KDE Confirms Distribution Shifts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0233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Class-conditional KDE plots for V14, V3, V17, V12, V10, V16 show clear distributional displacement — fraud curves are consistently offset from legit curves.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03  ·  FEATURE ENGINEERING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3B8"/>
                </a:solidFill>
              </a:rPr>
              <a:t>Transformations applied to Amount &amp; Time only — V1–V28 are PCA-transformed by authors and left untouched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69080" cy="153619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64008" cy="15361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24712"/>
            <a:ext cx="457200" cy="237744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24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SCALE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05840" y="1106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362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A9FC4"/>
                </a:solidFill>
              </a:rPr>
              <a:t>StandardScaler &amp; MinMaxScaler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Amount_std / Time_std (zero mean, unit var) and Amount_mm / Time_mm ([0,1]).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V1–V28 left as-is — already zero-centred PCA components.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069080" cy="153619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64008" cy="15361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124712"/>
            <a:ext cx="45720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124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BIN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257800" y="1106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362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67E22"/>
                </a:solidFill>
              </a:rPr>
              <a:t>Amount brackets + Time-of-day periods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160020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Amount_bin: micro (&lt;$10) · low ($10–50) · medium ($50–200) · high (&gt;$200).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Time_period: Night · Morning · Afternoon · Evening (6-hour buckets).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4069080" cy="153619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64008" cy="15361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457200" cy="2377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7706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ENC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2752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008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44AD"/>
                </a:solidFill>
              </a:rPr>
              <a:t>Label · OneHot · Target encoding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Applied to Amount_bin. Target encoding captures fraud rate per bin (leakage risk — must fit on train only). OneHot adds AmtBin_* dummy columns.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651760"/>
            <a:ext cx="4069080" cy="1536192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2651760"/>
            <a:ext cx="64008" cy="15361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770632"/>
            <a:ext cx="45720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7706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DOM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257800" y="2752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008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7AE60"/>
                </a:solidFill>
              </a:rPr>
              <a:t>Ratios, aggregations &amp; flags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9160" y="324612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Log_Amount · Amount_to_mean_ratio · Amount_hour_zscore (z-score vs hour mean)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· Is_round_amount (fraud signal) · Is_high_value (top 5% flag).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261104"/>
            <a:ext cx="8503920" cy="630936"/>
          </a:xfrm>
          <a:prstGeom prst="rect">
            <a:avLst/>
          </a:prstGeom>
          <a:solidFill>
            <a:srgbClr val="112233"/>
          </a:solidFill>
          <a:ln w="9525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9FC4"/>
                </a:solidFill>
              </a:rPr>
              <a:t>FEATURE SELECTION  ·  4-Method Consensus Vote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0" y="4279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A3B8"/>
                </a:solidFill>
              </a:rPr>
              <a:t>Methods: Filter (ANOVA F-score)  ·  RFE  ·  Lasso L1  ·  Random Forest Importance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2920" y="4507992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9FC4"/>
                </a:solidFill>
              </a:rPr>
              <a:t>4/4 votes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65960" y="4507992"/>
            <a:ext cx="6675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EF4"/>
                </a:solidFill>
              </a:rPr>
              <a:t>V4, V10, V14, V16   — strongest consensus, selected by all methods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" y="4613148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9FC4"/>
                </a:solidFill>
              </a:rPr>
              <a:t>3/4 votes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965960" y="4613148"/>
            <a:ext cx="6675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EF4"/>
                </a:solidFill>
              </a:rPr>
              <a:t>V18, V9, V17, V12, V11, V7, V3   — near-consensus, robust fraud signal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4718304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9FC4"/>
                </a:solidFill>
              </a:rPr>
              <a:t>2/4 votes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965960" y="4718304"/>
            <a:ext cx="6675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EF4"/>
                </a:solidFill>
              </a:rPr>
              <a:t>Amount_to_mean_ratio, Amount_hour_zscore   — valuable in tree/wrapper methods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04  · 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3B8"/>
                </a:solidFill>
              </a:rPr>
              <a:t>Model performance translated to operational fraud-detection value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9FC4"/>
                </a:solidFill>
              </a:rPr>
              <a:t>MODEL LEADERBOARD  (sorted by PR-AUC)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4498848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0C040"/>
                          </a:solidFill>
                        </a:rPr>
                        <a:t>XGBoost (tuned) ★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0.979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DC98B"/>
                          </a:solidFill>
                        </a:rPr>
                        <a:t>0.901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~0.88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~0.81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RF (tuned)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0.945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0.883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~0.86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~0.79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Logistic Reg.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0.978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0.741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low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Decision Tree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0.902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0.488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low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low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27066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A3B8"/>
                </a:solidFill>
              </a:rPr>
              <a:t>5-fold stratified CV · PR-AUC is primary metric for imbalanced fraud data · tuning via GridSearch &amp; RandomizedSearch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2926080"/>
          <a:ext cx="466344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5257800" y="1005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9FC4"/>
                </a:solidFill>
              </a:rPr>
              <a:t>BUSINESS TRANSLATION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257800" y="1261872"/>
            <a:ext cx="3566160" cy="1115568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257800" y="1261872"/>
            <a:ext cx="3566160" cy="50292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94960" y="13533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D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90.1%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394960" y="1783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PR-AUC (XGBoost tuned)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949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</a:rPr>
              <a:t>Fraud risk ranking is highly reliable. Top-decile scoring captures the majority of actual fraud cases — enabling precision-targeted interventions.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257800" y="2514600"/>
            <a:ext cx="3566160" cy="1115568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257800" y="2514600"/>
            <a:ext cx="3566160" cy="502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394960" y="2606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~81%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394960" y="30358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Recall at default threshold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394960" y="3218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</a:rPr>
              <a:t>Roughly 4 in 5 real fraud cases are flagged. Threshold can be tuned lower to capture more, trading analyst workload for fewer missed frauds.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257800" y="3767328"/>
            <a:ext cx="3566160" cy="1115568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257800" y="3767328"/>
            <a:ext cx="356616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39496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577:1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5394960" y="42885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 imbalance handled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394960" y="4471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</a:rPr>
              <a:t>scale_pos_weight + PR-AUC optimisation overcomes extreme imbalance. Model is not fooled by the naive 'predict all-legitimate' baseline.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05  ·  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3B8"/>
                </a:solidFill>
              </a:rPr>
              <a:t>Actionable steps for the modelling team based on findings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87952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87952" cy="50292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124712"/>
            <a:ext cx="329184" cy="201168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1247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32104" y="1106424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 XGBoost (tuned) as the scoring engine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PR-AUC 0.901 outperforms all baselines. Wrap in a sklearn Pipeline with train-only scalers and TargetEncoder to eliminate the three confirmed leakage points before production.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4187952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4187952" cy="502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" y="2441448"/>
            <a:ext cx="329184" cy="20116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441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32104" y="242316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Threshold-tune to business cost function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34056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Default 0.5 threshold is arbitrary. Use PR curve + cost-matrix (cost of missed fraud vs. cost of false alarm) to pick the operating point. Recommend targeting ≥ 80% recall at FPR ≤ 0.5%.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4187952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4187952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3758184"/>
            <a:ext cx="329184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7581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32104" y="373989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Add SHAP-based monitoring to detect feature drift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050792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V14, V4, V10 carry the most model weight. Track their SHAP distributions in production; a significant shift signals dataset drift and triggers model retraining.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36592" y="1005840"/>
            <a:ext cx="4187952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36592" y="1005840"/>
            <a:ext cx="4187952" cy="50292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124712"/>
            <a:ext cx="329184" cy="201168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1247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48656" y="1106424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Fix data leakage before any production evaluation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55464" y="1417320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Scaler, TargetEncoder, and all 4 feature-selection methods were fit on the full dataset. Re-run the pipeline with fit-on-train-only discipline; reported metrics are likely optimistic.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2322576"/>
            <a:ext cx="4187952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36592" y="2322576"/>
            <a:ext cx="4187952" cy="502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2441448"/>
            <a:ext cx="329184" cy="20116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441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48656" y="242316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Apply SMOTE or undersampling to complement class_weight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55464" y="2734056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class_weight='balanced' reweights loss but doesn't diversify training examples. Combine with SMOTE-Tomek or random undersampling in a Pipeline to improve minority-class boundary learning.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36592" y="3639312"/>
            <a:ext cx="4187952" cy="11887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36592" y="3639312"/>
            <a:ext cx="4187952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3758184"/>
            <a:ext cx="329184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7581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248656" y="373989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Validate on a modern, longer dataset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55464" y="4050792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The ULB dataset covers only 2 days in 2013 with anonymised PCA features. Acquire a multi-month, feature-rich dataset to validate model generalisability before real-world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06  ·  RISKS &amp; CONSIDERATIONS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Considerations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3B8"/>
                </a:solidFill>
              </a:rPr>
              <a:t>Known failure modes, leakage, ethical constraints, and operational caveats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87952" cy="1188720"/>
          </a:xfrm>
          <a:prstGeom prst="rect">
            <a:avLst/>
          </a:prstGeom>
          <a:solidFill>
            <a:srgbClr val="162A3D"/>
          </a:solidFill>
          <a:ln w="9525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87952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124712"/>
            <a:ext cx="47548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12471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78408" y="110642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Leakage — 3 Confirmed Points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Scaler + TargetEncoder + all 4 feature-selection methods fit on full data before split. Reported metrics are inflated. Must wrap in Pipeline with train-only fitting.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4187952" cy="1188720"/>
          </a:xfrm>
          <a:prstGeom prst="rect">
            <a:avLst/>
          </a:prstGeom>
          <a:solidFill>
            <a:srgbClr val="162A3D"/>
          </a:solidFill>
          <a:ln w="9525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4187952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" y="2441448"/>
            <a:ext cx="47548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4414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MED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78408" y="242316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Threshold Fixed at 0.5 — Operationally Wrong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34056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Production systems require business-defined thresholds. At 0.5, recall and precision are unbalanced for the actual cost structure of fraud vs. false-alert handling.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4187952" cy="1188720"/>
          </a:xfrm>
          <a:prstGeom prst="rect">
            <a:avLst/>
          </a:prstGeom>
          <a:solidFill>
            <a:srgbClr val="162A3D"/>
          </a:solidFill>
          <a:ln w="9525">
            <a:solidFill>
              <a:srgbClr val="2A9FC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4187952" cy="502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3758184"/>
            <a:ext cx="475488" cy="20116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7581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LOW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78408" y="373989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Bias Auditing Not Possible — PCA Anonymisation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050792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All V1–V28 features are anonymised PCA components. Demographic fairness cannot be validated. The model may inadvertently encode protected-attribute proxies.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36592" y="1005840"/>
            <a:ext cx="4187952" cy="1188720"/>
          </a:xfrm>
          <a:prstGeom prst="rect">
            <a:avLst/>
          </a:prstGeom>
          <a:solidFill>
            <a:srgbClr val="162A3D"/>
          </a:solidFill>
          <a:ln w="9525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36592" y="1005840"/>
            <a:ext cx="4187952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124712"/>
            <a:ext cx="47548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12471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HIGH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94960" y="110642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SMOTE / Resampling Applied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55464" y="1417320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class_weight alone cannot compensate for 577:1 imbalance. The model has seen very few genuine fraud patterns — minority-class decision boundaries may be brittle.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2322576"/>
            <a:ext cx="4187952" cy="1188720"/>
          </a:xfrm>
          <a:prstGeom prst="rect">
            <a:avLst/>
          </a:prstGeom>
          <a:solidFill>
            <a:srgbClr val="162A3D"/>
          </a:solidFill>
          <a:ln w="9525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36592" y="2322576"/>
            <a:ext cx="4187952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2441448"/>
            <a:ext cx="47548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4414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94960" y="242316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Dataset Staleness &amp; Narrow Window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55464" y="2734056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Only 2 days of 2013 European transactions. Fraud patterns evolve rapidly. Model trained here will likely degrade quickly without continuous retraining on fresh data.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36592" y="3639312"/>
            <a:ext cx="4187952" cy="1188720"/>
          </a:xfrm>
          <a:prstGeom prst="rect">
            <a:avLst/>
          </a:prstGeom>
          <a:solidFill>
            <a:srgbClr val="162A3D"/>
          </a:solidFill>
          <a:ln w="9525">
            <a:solidFill>
              <a:srgbClr val="2A9FC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36592" y="3639312"/>
            <a:ext cx="4187952" cy="50292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3758184"/>
            <a:ext cx="475488" cy="20116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7581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LOW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94960" y="373989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PCA Feature Interpretability Gap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55464" y="4050792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</a:rPr>
              <a:t>SHAP values explain model behaviour in PCA-component space, not business-semantic space. Compliance teams cannot directly interpret why a specific transaction was flagged.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SLIDE 07  ·  NEXT STEPS &amp; ROI PROJECTION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ROI Projection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3B8"/>
                </a:solidFill>
              </a:rPr>
              <a:t>Phased delivery roadmap and illustrative value projection — assumes $500 avg fraud transaction, 284k tx/yr baseline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9FC4"/>
                </a:solidFill>
              </a:rPr>
              <a:t>DELIVERY ROADMAP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663440" cy="109728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64008" cy="1097280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" y="1353312"/>
            <a:ext cx="685800" cy="201168"/>
          </a:xfrm>
          <a:prstGeom prst="rect">
            <a:avLst/>
          </a:prstGeom>
          <a:solidFill>
            <a:srgbClr val="4DC98B"/>
          </a:solidFill>
          <a:ln w="12700">
            <a:solidFill>
              <a:srgbClr val="4DC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Phase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34440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A3B8"/>
                </a:solidFill>
              </a:rPr>
              <a:t>Weeks 1–3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06040" y="1353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Fix &amp; Harden the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60020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C98B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Wrap scaler + encoder + model in sklearn Pipeline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8470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C98B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Re-fit all feature selection strictly on X_train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939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C98B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Re-evaluate with leakage-free metrics to get true baseline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4663440" cy="109728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64008" cy="1097280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578608"/>
            <a:ext cx="685800" cy="201168"/>
          </a:xfrm>
          <a:prstGeom prst="rect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578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Phase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A3B8"/>
                </a:solidFill>
              </a:rPr>
              <a:t>Weeks 4–6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0604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Improve Minority-Class 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82549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FC4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Apply SMOTE-Tomek inside Pipeline cross-validation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07238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FC4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Tune decision threshold via cost-matrix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31927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FC4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Run permutation importance + SHAP stability checks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12464"/>
            <a:ext cx="4663440" cy="109728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712464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" y="3803904"/>
            <a:ext cx="68580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38039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Phase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34440" y="3803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A3B8"/>
                </a:solidFill>
              </a:rPr>
              <a:t>Weeks 7–10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06040" y="3803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Productionise &amp; Monitor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405079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Deploy scoring API with A/B test vs. rules-only system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29768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Track SHAP feature distributions for drift detection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54456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</a:rPr>
              <a:t>•  </a:t>
            </a:r>
            <a:r>
              <a:rPr lang="en-US" sz="850" dirty="0">
                <a:solidFill>
                  <a:srgbClr val="E8EEF4"/>
                </a:solidFill>
              </a:rPr>
              <a:t>Schedule monthly retraining cadence on fresh data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57800" y="1005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9FC4"/>
                </a:solidFill>
              </a:rPr>
              <a:t>ILLUSTRATIVE ROI PROJECTION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57800" y="1261872"/>
            <a:ext cx="3566160" cy="502920"/>
          </a:xfrm>
          <a:prstGeom prst="rect">
            <a:avLst/>
          </a:prstGeom>
          <a:solidFill>
            <a:srgbClr val="0D2136"/>
          </a:solidFill>
          <a:ln w="9525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76672" y="12984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3B8"/>
                </a:solidFill>
              </a:rPr>
              <a:t>Assumptions: 284,807 transactions/yr · 0.172% fraud rate (492 cases) · $500 avg fraud value · Current rules catch ~40% recall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801368"/>
          <a:ext cx="3566160" cy="12344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Fraud / yr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 Saved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Rules baseline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~40%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197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BA3B8"/>
                          </a:solidFill>
                        </a:rPr>
                        <a:t>$98,500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Logistic Reg.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~75%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369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$184,500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RF (tuned)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~79%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389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EEF4"/>
                          </a:solidFill>
                        </a:rPr>
                        <a:t>$194,500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0C040"/>
                          </a:solidFill>
                        </a:rPr>
                        <a:t>XGBoost (tuned) ★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DC98B"/>
                          </a:solidFill>
                        </a:rPr>
                        <a:t>~81%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DC98B"/>
                          </a:solidFill>
                        </a:rPr>
                        <a:t>398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DC98B"/>
                          </a:solidFill>
                        </a:rPr>
                        <a:t>$199,000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5257800" y="2834640"/>
            <a:ext cx="3566160" cy="548640"/>
          </a:xfrm>
          <a:prstGeom prst="rect">
            <a:avLst/>
          </a:prstGeom>
          <a:solidFill>
            <a:srgbClr val="0D2136"/>
          </a:solidFill>
          <a:ln w="12700">
            <a:solidFill>
              <a:srgbClr val="4DC9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394960" y="287121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C98B"/>
                </a:solidFill>
              </a:rPr>
              <a:t>+$100,500 / yr  </a:t>
            </a:r>
            <a:r>
              <a:rPr lang="en-US" sz="900" dirty="0">
                <a:solidFill>
                  <a:srgbClr val="E8EEF4"/>
                </a:solidFill>
              </a:rPr>
              <a:t>incremental value over rules-only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394960" y="3081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A3B8"/>
                </a:solidFill>
              </a:rPr>
              <a:t>(XGBoost tuned vs. baseline · illustrative · pre-FP operational cost deduction)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257800" y="3493008"/>
            <a:ext cx="1097280" cy="7315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25780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3.7×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525780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3B8"/>
                </a:solidFill>
              </a:rPr>
              <a:t>ROI over baseline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446520" y="3493008"/>
            <a:ext cx="1097280" cy="7315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44652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644652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3B8"/>
                </a:solidFill>
              </a:rPr>
              <a:t>Recall target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635240" y="3493008"/>
            <a:ext cx="1097280" cy="731520"/>
          </a:xfrm>
          <a:prstGeom prst="rect">
            <a:avLst/>
          </a:prstGeom>
          <a:solidFill>
            <a:srgbClr val="162A3D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63524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~$200k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763524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3B8"/>
                </a:solidFill>
              </a:rPr>
              <a:t>fraud value protected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A9FC4"/>
                </a:solidFill>
              </a:rPr>
              <a:t>KEY TAKEAWAYS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29184" cy="32918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601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</a:rPr>
              <a:t>XGBoost (tuned) is the top model — PR-AUC 0.901, ~81% recall on a 577:1 imbalanced dataset.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192024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</a:rPr>
              <a:t>Three data leakage points confirmed — metrics are optimistic until the pipeline is hardened.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329184" cy="329184"/>
          </a:xfrm>
          <a:prstGeom prst="ellipse">
            <a:avLst/>
          </a:prstGeom>
          <a:solidFill>
            <a:srgbClr val="2A9FC4"/>
          </a:solidFill>
          <a:ln w="12700">
            <a:solidFill>
              <a:srgbClr val="2A9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288036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</a:rPr>
              <a:t>+$100,500/yr incremental value over rules-only baseline at illustrative $500 avg fraud value.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329184" cy="32918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38404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</a:rPr>
              <a:t>Threshold tuning, SMOTE, and SHAP drift monitoring are the highest-leverage next actions.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2344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3749040" y="2340864"/>
            <a:ext cx="4663440" cy="0"/>
          </a:xfrm>
          <a:prstGeom prst="line">
            <a:avLst/>
          </a:prstGeom>
          <a:noFill/>
          <a:ln w="1524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245059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49040" y="2944368"/>
            <a:ext cx="1572768" cy="640080"/>
          </a:xfrm>
          <a:prstGeom prst="rect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29809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</a:rPr>
              <a:t>Model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49040" y="3182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(tuned)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68112" y="2944368"/>
            <a:ext cx="1572768" cy="640080"/>
          </a:xfrm>
          <a:prstGeom prst="rect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68112" y="29809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</a:rPr>
              <a:t>PR-AUC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68112" y="3182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87184" y="2944368"/>
            <a:ext cx="1572768" cy="640080"/>
          </a:xfrm>
          <a:prstGeom prst="rect">
            <a:avLst/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87184" y="29809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</a:rPr>
              <a:t>Dataset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87184" y="3182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ULB Kaggle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2475e8-c982-4b41-8e67-c00b0053488d}" enabled="1" method="Privileged" siteId="{a4ea1e77-fe75-4a27-9162-67cadf4cdfc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1727</Words>
  <Application>Microsoft Macintosh PowerPoint</Application>
  <PresentationFormat>On-screen Show (16:9)</PresentationFormat>
  <Paragraphs>259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– Capstone</dc:title>
  <dc:subject>PptxGenJS Presentation</dc:subject>
  <dc:creator>Capstone</dc:creator>
  <cp:lastModifiedBy>John Paolo T. Cabrera</cp:lastModifiedBy>
  <cp:revision>2</cp:revision>
  <dcterms:created xsi:type="dcterms:W3CDTF">2026-04-03T08:24:22Z</dcterms:created>
  <dcterms:modified xsi:type="dcterms:W3CDTF">2026-04-03T08:34:08Z</dcterms:modified>
</cp:coreProperties>
</file>